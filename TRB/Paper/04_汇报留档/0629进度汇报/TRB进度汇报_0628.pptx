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33272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  <a:ea typeface="Microsoft YaHei"/>
              </a:rPr>
              <a:t>连续动作空间下</a:t>
            </a:r>
          </a:p>
          <a:p>
            <a:pPr algn="l"/>
            <a:r>
              <a:rPr sz="4000" b="1" i="0">
                <a:solidFill>
                  <a:srgbClr val="FFFFFF"/>
                </a:solidFill>
                <a:latin typeface="Calibri"/>
                <a:ea typeface="Microsoft YaHei"/>
              </a:rPr>
              <a:t>可证明 COLREGs 合规的无人船避碰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3611880"/>
            <a:ext cx="103327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0" i="1">
                <a:solidFill>
                  <a:srgbClr val="CADCFC"/>
                </a:solidFill>
                <a:latin typeface="Calibri"/>
                <a:ea typeface="Microsoft YaHei"/>
              </a:rPr>
              <a:t>投影式安全盾 + 强化学习  ·  TRB 2027 投稿项目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4343400"/>
            <a:ext cx="8778240" cy="868680"/>
          </a:xfrm>
          <a:prstGeom prst="roundRect">
            <a:avLst/>
          </a:prstGeom>
          <a:solidFill>
            <a:srgbClr val="1C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4407408"/>
            <a:ext cx="841248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9DE0D0"/>
                </a:solidFill>
                <a:latin typeface="Calibri"/>
                <a:ea typeface="Microsoft YaHei"/>
              </a:rPr>
              <a:t>核心卖点：连续动作 ∩ 可证明合规 ∩ COLREGs —— 此前空白的三重交集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61264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90A4B8"/>
                </a:solidFill>
                <a:latin typeface="Calibri"/>
                <a:ea typeface="Microsoft YaHei"/>
              </a:rPr>
              <a:t>项目进度汇报  ·  2026-06-28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13293D"/>
                </a:solidFill>
                <a:latin typeface="Calibri"/>
                <a:ea typeface="Microsoft YaHei"/>
              </a:rPr>
              <a:t>研究背景与挑战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024128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  <a:ea typeface="Microsoft YaHei"/>
              </a:rPr>
              <a:t>为什么这件事此前没人做成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54480"/>
            <a:ext cx="5394960" cy="4480560"/>
          </a:xfrm>
          <a:prstGeom prst="roundRect">
            <a:avLst/>
          </a:prstGeom>
          <a:solidFill>
            <a:srgbClr val="EAF3F6"/>
          </a:solidFill>
          <a:ln>
            <a:noFill/>
          </a:ln>
          <a:effectLst/>
          <a:effectLst>
            <a:outerShdw blurRad="60000" dist="25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4937760" cy="4114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065A82"/>
                </a:solidFill>
                <a:latin typeface="Calibri"/>
                <a:ea typeface="Microsoft YaHei"/>
              </a:rPr>
              <a:t>海事避碰的两难</a:t>
            </a:r>
          </a:p>
          <a:p>
            <a:pPr algn="l"/>
            <a:r>
              <a:rPr sz="800" b="0" i="0">
                <a:solidFill>
                  <a:srgbClr val="1E293B"/>
                </a:solidFill>
                <a:latin typeface="Calibri"/>
                <a:ea typeface="Microsoft YaHei"/>
              </a:rPr>
              <a:t> </a:t>
            </a:r>
          </a:p>
          <a:p>
            <a:pPr algn="l"/>
            <a:r>
              <a:rPr sz="1400" b="0" i="0">
                <a:solidFill>
                  <a:srgbClr val="1E293B"/>
                </a:solidFill>
                <a:latin typeface="Calibri"/>
                <a:ea typeface="Microsoft YaHei"/>
              </a:rPr>
              <a:t>国际海上避碰规则（COLREGs）要求船舶在相遇时按规则</a:t>
            </a:r>
            <a:r>
              <a:rPr sz="1400" b="1" i="0">
                <a:solidFill>
                  <a:srgbClr val="C62828"/>
                </a:solidFill>
                <a:latin typeface="Calibri"/>
                <a:ea typeface="Microsoft YaHei"/>
              </a:rPr>
              <a:t>正确方向</a:t>
            </a:r>
            <a:r>
              <a:rPr sz="1400" b="0" i="0">
                <a:solidFill>
                  <a:srgbClr val="1E293B"/>
                </a:solidFill>
                <a:latin typeface="Calibri"/>
                <a:ea typeface="Microsoft YaHei"/>
              </a:rPr>
              <a:t>避让。把它落到强化学习避碰，此前只能二选一：</a:t>
            </a:r>
          </a:p>
          <a:p>
            <a:pPr algn="l"/>
            <a:r>
              <a:rPr sz="600" b="0" i="0">
                <a:solidFill>
                  <a:srgbClr val="1E293B"/>
                </a:solidFill>
                <a:latin typeface="Calibri"/>
                <a:ea typeface="Microsoft YaHei"/>
              </a:rPr>
              <a:t> </a:t>
            </a:r>
          </a:p>
          <a:p>
            <a:pPr algn="l"/>
            <a:r>
              <a:rPr sz="1500" b="1" i="0">
                <a:solidFill>
                  <a:srgbClr val="2A9D8F"/>
                </a:solidFill>
                <a:latin typeface="Calibri"/>
                <a:ea typeface="Microsoft YaHei"/>
              </a:rPr>
              <a:t>① </a:t>
            </a:r>
            <a:r>
              <a:rPr sz="1500" b="1" i="0">
                <a:solidFill>
                  <a:srgbClr val="1E293B"/>
                </a:solidFill>
                <a:latin typeface="Calibri"/>
                <a:ea typeface="Microsoft YaHei"/>
              </a:rPr>
              <a:t>牺牲连续控制</a:t>
            </a:r>
            <a:r>
              <a:rPr sz="1400" b="0" i="0">
                <a:solidFill>
                  <a:srgbClr val="1E293B"/>
                </a:solidFill>
                <a:latin typeface="Calibri"/>
                <a:ea typeface="Microsoft YaHei"/>
              </a:rPr>
              <a:t>：Krasowski 2024 用</a:t>
            </a:r>
            <a:r>
              <a:rPr sz="1400" b="1" i="0">
                <a:solidFill>
                  <a:srgbClr val="C62828"/>
                </a:solidFill>
                <a:latin typeface="Calibri"/>
                <a:ea typeface="Microsoft YaHei"/>
              </a:rPr>
              <a:t>离散</a:t>
            </a:r>
            <a:r>
              <a:rPr sz="1400" b="0" i="0">
                <a:solidFill>
                  <a:srgbClr val="1E293B"/>
                </a:solidFill>
                <a:latin typeface="Calibri"/>
                <a:ea typeface="Microsoft YaHei"/>
              </a:rPr>
              <a:t>动作 + 动作屏蔽换取合规保证</a:t>
            </a:r>
          </a:p>
          <a:p>
            <a:pPr algn="l"/>
            <a:r>
              <a:rPr sz="400" b="0" i="0">
                <a:solidFill>
                  <a:srgbClr val="1E293B"/>
                </a:solidFill>
                <a:latin typeface="Calibri"/>
                <a:ea typeface="Microsoft YaHei"/>
              </a:rPr>
              <a:t> </a:t>
            </a:r>
          </a:p>
          <a:p>
            <a:pPr algn="l"/>
            <a:r>
              <a:rPr sz="1500" b="1" i="0">
                <a:solidFill>
                  <a:srgbClr val="2A9D8F"/>
                </a:solidFill>
                <a:latin typeface="Calibri"/>
                <a:ea typeface="Microsoft YaHei"/>
              </a:rPr>
              <a:t>② </a:t>
            </a:r>
            <a:r>
              <a:rPr sz="1500" b="1" i="0">
                <a:solidFill>
                  <a:srgbClr val="1E293B"/>
                </a:solidFill>
                <a:latin typeface="Calibri"/>
                <a:ea typeface="Microsoft YaHei"/>
              </a:rPr>
              <a:t>牺牲合规保证</a:t>
            </a:r>
            <a:r>
              <a:rPr sz="1400" b="0" i="0">
                <a:solidFill>
                  <a:srgbClr val="1E293B"/>
                </a:solidFill>
                <a:latin typeface="Calibri"/>
                <a:ea typeface="Microsoft YaHei"/>
              </a:rPr>
              <a:t>：连续动作的工作全退回</a:t>
            </a:r>
            <a:r>
              <a:rPr sz="1400" b="1" i="0">
                <a:solidFill>
                  <a:srgbClr val="C62828"/>
                </a:solidFill>
                <a:latin typeface="Calibri"/>
                <a:ea typeface="Microsoft YaHei"/>
              </a:rPr>
              <a:t>软奖励</a:t>
            </a:r>
            <a:r>
              <a:rPr sz="1400" b="0" i="0">
                <a:solidFill>
                  <a:srgbClr val="1E293B"/>
                </a:solidFill>
                <a:latin typeface="Calibri"/>
                <a:ea typeface="Microsoft YaHei"/>
              </a:rPr>
              <a:t>，不再可证明合规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54480"/>
            <a:ext cx="5486400" cy="4480560"/>
          </a:xfrm>
          <a:prstGeom prst="roundRect">
            <a:avLst/>
          </a:prstGeom>
          <a:solidFill>
            <a:srgbClr val="13293D"/>
          </a:solidFill>
          <a:ln>
            <a:noFill/>
          </a:ln>
          <a:effectLst/>
          <a:effectLst>
            <a:outerShdw blurRad="60000" dist="25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9377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  <a:ea typeface="Microsoft YaHei"/>
              </a:rPr>
              <a:t>我们的贡献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514600"/>
            <a:ext cx="4983480" cy="3291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2A9D8F"/>
                </a:solidFill>
                <a:latin typeface="Calibri"/>
                <a:ea typeface="Microsoft YaHei"/>
              </a:rPr>
              <a:t>首次</a:t>
            </a:r>
            <a:r>
              <a:rPr sz="1400" b="0" i="0">
                <a:solidFill>
                  <a:srgbClr val="FFFFFF"/>
                </a:solidFill>
                <a:latin typeface="Calibri"/>
                <a:ea typeface="Microsoft YaHei"/>
              </a:rPr>
              <a:t>把</a:t>
            </a:r>
            <a:r>
              <a:rPr sz="1400" b="1" i="0">
                <a:solidFill>
                  <a:srgbClr val="FFFFFF"/>
                </a:solidFill>
                <a:latin typeface="Calibri"/>
                <a:ea typeface="Microsoft YaHei"/>
              </a:rPr>
              <a:t>投影式安全盾</a:t>
            </a:r>
            <a:r>
              <a:rPr sz="1400" b="0" i="0">
                <a:solidFill>
                  <a:srgbClr val="FFFFFF"/>
                </a:solidFill>
                <a:latin typeface="Calibri"/>
                <a:ea typeface="Microsoft YaHei"/>
              </a:rPr>
              <a:t>落到海事 COLREGs：</a:t>
            </a:r>
          </a:p>
          <a:p>
            <a:pPr algn="l"/>
            <a:r>
              <a:rPr sz="600" b="0" i="0">
                <a:solidFill>
                  <a:srgbClr val="FFFFFF"/>
                </a:solidFill>
                <a:latin typeface="Calibri"/>
                <a:ea typeface="Microsoft YaHei"/>
              </a:rPr>
              <a:t> 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Calibri"/>
                <a:ea typeface="Microsoft YaHei"/>
              </a:rPr>
              <a:t>• 强化学习输出</a:t>
            </a:r>
            <a:r>
              <a:rPr sz="1350" b="1" i="0">
                <a:solidFill>
                  <a:srgbClr val="2A9D8F"/>
                </a:solidFill>
                <a:latin typeface="Calibri"/>
                <a:ea typeface="Microsoft YaHei"/>
              </a:rPr>
              <a:t>连续</a:t>
            </a:r>
            <a:r>
              <a:rPr sz="1350" b="0" i="0">
                <a:solidFill>
                  <a:srgbClr val="CADCFC"/>
                </a:solidFill>
                <a:latin typeface="Calibri"/>
                <a:ea typeface="Microsoft YaHei"/>
              </a:rPr>
              <a:t>动作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Calibri"/>
                <a:ea typeface="Microsoft YaHei"/>
              </a:rPr>
              <a:t>• 投影到</a:t>
            </a:r>
            <a:r>
              <a:rPr sz="1350" b="1" i="0">
                <a:solidFill>
                  <a:srgbClr val="2A9D8F"/>
                </a:solidFill>
                <a:latin typeface="Calibri"/>
                <a:ea typeface="Microsoft YaHei"/>
              </a:rPr>
              <a:t>合规方向 + 无碰撞</a:t>
            </a:r>
            <a:r>
              <a:rPr sz="1350" b="0" i="0">
                <a:solidFill>
                  <a:srgbClr val="CADCFC"/>
                </a:solidFill>
                <a:latin typeface="Calibri"/>
                <a:ea typeface="Microsoft YaHei"/>
              </a:rPr>
              <a:t>的安全集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Calibri"/>
                <a:ea typeface="Microsoft YaHei"/>
              </a:rPr>
              <a:t>• 二次规划投影修正 →</a:t>
            </a:r>
            <a:r>
              <a:rPr sz="1350" b="1" i="0">
                <a:solidFill>
                  <a:srgbClr val="2A9D8F"/>
                </a:solidFill>
                <a:latin typeface="Calibri"/>
                <a:ea typeface="Microsoft YaHei"/>
              </a:rPr>
              <a:t>总是可执行的安全动作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  <a:ea typeface="Microsoft YaHei"/>
              </a:rPr>
              <a:t> </a:t>
            </a:r>
          </a:p>
          <a:p>
            <a:pPr algn="l"/>
            <a:r>
              <a:rPr sz="1400" b="1" i="0">
                <a:solidFill>
                  <a:srgbClr val="FFFFFF"/>
                </a:solidFill>
                <a:latin typeface="Calibri"/>
                <a:ea typeface="Microsoft YaHei"/>
              </a:rPr>
              <a:t>= 连续控制 与 可证明合规 </a:t>
            </a:r>
            <a:r>
              <a:rPr sz="1400" b="1" i="0">
                <a:solidFill>
                  <a:srgbClr val="E9A83A"/>
                </a:solidFill>
                <a:latin typeface="Calibri"/>
                <a:ea typeface="Microsoft YaHei"/>
              </a:rPr>
              <a:t>同时</a:t>
            </a:r>
            <a:r>
              <a:rPr sz="1400" b="1" i="0">
                <a:solidFill>
                  <a:srgbClr val="FFFFFF"/>
                </a:solidFill>
                <a:latin typeface="Calibri"/>
                <a:ea typeface="Microsoft YaHei"/>
              </a:rPr>
              <a:t>拥有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13293D"/>
                </a:solidFill>
                <a:latin typeface="Calibri"/>
                <a:ea typeface="Microsoft YaHei"/>
              </a:rPr>
              <a:t>核心方法：投影式安全盾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024128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  <a:ea typeface="Microsoft YaHei"/>
              </a:rPr>
              <a:t>观测 → 策略 → 盾投影 → 安全动作 → 环境</a:t>
            </a:r>
          </a:p>
        </p:txBody>
      </p:sp>
      <p:pic>
        <p:nvPicPr>
          <p:cNvPr id="4" name="Picture 3" descr="图0_方法架构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691640"/>
            <a:ext cx="11247120" cy="35746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89788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 i="0">
                <a:solidFill>
                  <a:srgbClr val="1E293B"/>
                </a:solidFill>
                <a:latin typeface="Calibri"/>
                <a:ea typeface="Microsoft YaHei"/>
              </a:rPr>
              <a:t>盾把策略的</a:t>
            </a:r>
            <a:r>
              <a:rPr sz="1400" b="1" i="0">
                <a:solidFill>
                  <a:srgbClr val="1E293B"/>
                </a:solidFill>
                <a:latin typeface="Calibri"/>
                <a:ea typeface="Microsoft YaHei"/>
              </a:rPr>
              <a:t>期望动作</a:t>
            </a:r>
            <a:r>
              <a:rPr sz="1400" b="0" i="0">
                <a:solidFill>
                  <a:srgbClr val="1E293B"/>
                </a:solidFill>
                <a:latin typeface="Calibri"/>
                <a:ea typeface="Microsoft YaHei"/>
              </a:rPr>
              <a:t>投影成</a:t>
            </a:r>
            <a:r>
              <a:rPr sz="1400" b="1" i="0">
                <a:solidFill>
                  <a:srgbClr val="2A9D8F"/>
                </a:solidFill>
                <a:latin typeface="Calibri"/>
                <a:ea typeface="Microsoft YaHei"/>
              </a:rPr>
              <a:t>总是满足 COLREGs 方向约束且无碰撞</a:t>
            </a:r>
            <a:r>
              <a:rPr sz="1400" b="0" i="0">
                <a:solidFill>
                  <a:srgbClr val="1E293B"/>
                </a:solidFill>
                <a:latin typeface="Calibri"/>
                <a:ea typeface="Microsoft YaHei"/>
              </a:rPr>
              <a:t>的安全动作；合规由</a:t>
            </a:r>
            <a:r>
              <a:rPr sz="1400" b="1" i="0">
                <a:solidFill>
                  <a:srgbClr val="1E293B"/>
                </a:solidFill>
                <a:latin typeface="Calibri"/>
                <a:ea typeface="Microsoft YaHei"/>
              </a:rPr>
              <a:t>构造</a:t>
            </a:r>
            <a:r>
              <a:rPr sz="1400" b="0" i="0">
                <a:solidFill>
                  <a:srgbClr val="1E293B"/>
                </a:solidFill>
                <a:latin typeface="Calibri"/>
                <a:ea typeface="Microsoft YaHei"/>
              </a:rPr>
              <a:t>保证、不依赖奖励学到。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13293D"/>
                </a:solidFill>
                <a:latin typeface="Calibri"/>
                <a:ea typeface="Microsoft YaHei"/>
              </a:rPr>
              <a:t>实验设置与评估口径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024128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  <a:ea typeface="Microsoft YaHei"/>
              </a:rPr>
              <a:t>四方同口径对比 · 唯一有意差异 = 是否带盾 / 动作空间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00200"/>
            <a:ext cx="3611880" cy="4297680"/>
          </a:xfrm>
          <a:prstGeom prst="roundRect">
            <a:avLst/>
          </a:prstGeom>
          <a:solidFill>
            <a:srgbClr val="EAF3F6"/>
          </a:solidFill>
          <a:ln>
            <a:noFill/>
          </a:ln>
          <a:effectLst/>
          <a:effectLst>
            <a:outerShdw blurRad="60000" dist="25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828800"/>
            <a:ext cx="31546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065A82"/>
                </a:solidFill>
                <a:latin typeface="Calibri"/>
                <a:ea typeface="Microsoft YaHei"/>
              </a:rPr>
              <a:t>数据与环境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514600"/>
            <a:ext cx="3154680" cy="3200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50" b="0" i="0">
                <a:solidFill>
                  <a:srgbClr val="1E293B"/>
                </a:solidFill>
                <a:latin typeface="Calibri"/>
                <a:ea typeface="Microsoft YaHei"/>
              </a:rPr>
              <a:t>• CommonOcean 海事仿真</a:t>
            </a:r>
          </a:p>
          <a:p>
            <a:pPr algn="l"/>
            <a:r>
              <a:rPr sz="1350" b="0" i="0">
                <a:solidFill>
                  <a:srgbClr val="1E293B"/>
                </a:solidFill>
                <a:latin typeface="Calibri"/>
                <a:ea typeface="Microsoft YaHei"/>
              </a:rPr>
              <a:t>• 录制 AIS 真实船舶场景</a:t>
            </a:r>
          </a:p>
          <a:p>
            <a:pPr algn="l"/>
            <a:r>
              <a:rPr sz="1350" b="0" i="0">
                <a:solidFill>
                  <a:srgbClr val="1E293B"/>
                </a:solidFill>
                <a:latin typeface="Calibri"/>
                <a:ea typeface="Microsoft YaHei"/>
              </a:rPr>
              <a:t>• 单他船相遇态势（对遇/交叉/追越）</a:t>
            </a:r>
          </a:p>
          <a:p>
            <a:pPr algn="l"/>
            <a:r>
              <a:rPr sz="1350" b="0" i="0">
                <a:solidFill>
                  <a:srgbClr val="1E293B"/>
                </a:solidFill>
                <a:latin typeface="Calibri"/>
                <a:ea typeface="Microsoft YaHei"/>
              </a:rPr>
              <a:t>• 评估在 held-out 测试集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600200"/>
            <a:ext cx="3611880" cy="4297680"/>
          </a:xfrm>
          <a:prstGeom prst="roundRect">
            <a:avLst/>
          </a:prstGeom>
          <a:solidFill>
            <a:srgbClr val="EAF3F6"/>
          </a:solidFill>
          <a:ln>
            <a:noFill/>
          </a:ln>
          <a:effectLst/>
          <a:effectLst>
            <a:outerShdw blurRad="60000" dist="25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26864" y="1828800"/>
            <a:ext cx="31546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065A82"/>
                </a:solidFill>
                <a:latin typeface="Calibri"/>
                <a:ea typeface="Microsoft YaHei"/>
              </a:rPr>
              <a:t>四方对比臂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26864" y="2514600"/>
            <a:ext cx="3154680" cy="3200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50" b="0" i="0">
                <a:solidFill>
                  <a:srgbClr val="1E293B"/>
                </a:solidFill>
                <a:latin typeface="Calibri"/>
                <a:ea typeface="Microsoft YaHei"/>
              </a:rPr>
              <a:t>• Base（无盾·无规则奖励）</a:t>
            </a:r>
          </a:p>
          <a:p>
            <a:pPr algn="l"/>
            <a:r>
              <a:rPr sz="1350" b="0" i="0">
                <a:solidFill>
                  <a:srgbClr val="1E293B"/>
                </a:solidFill>
                <a:latin typeface="Calibri"/>
                <a:ea typeface="Microsoft YaHei"/>
              </a:rPr>
              <a:t>• Rule-reward（无盾·软奖励）</a:t>
            </a:r>
          </a:p>
          <a:p>
            <a:pPr algn="l"/>
            <a:r>
              <a:rPr sz="1350" b="0" i="0">
                <a:solidFill>
                  <a:srgbClr val="1E293B"/>
                </a:solidFill>
                <a:latin typeface="Calibri"/>
                <a:ea typeface="Microsoft YaHei"/>
              </a:rPr>
              <a:t>• Discrete-safe（离散+盾·基线）</a:t>
            </a:r>
          </a:p>
          <a:p>
            <a:pPr algn="l"/>
            <a:r>
              <a:rPr sz="1350" b="0" i="0">
                <a:solidFill>
                  <a:srgbClr val="1E293B"/>
                </a:solidFill>
                <a:latin typeface="Calibri"/>
                <a:ea typeface="Microsoft YaHei"/>
              </a:rPr>
              <a:t>• Continuous-safe（连续+盾·本文）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38744" y="1600200"/>
            <a:ext cx="3611880" cy="4297680"/>
          </a:xfrm>
          <a:prstGeom prst="roundRect">
            <a:avLst/>
          </a:prstGeom>
          <a:solidFill>
            <a:srgbClr val="EAF3F6"/>
          </a:solidFill>
          <a:ln>
            <a:noFill/>
          </a:ln>
          <a:effectLst/>
          <a:effectLst>
            <a:outerShdw blurRad="60000" dist="25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94776" y="1828800"/>
            <a:ext cx="31546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065A82"/>
                </a:solidFill>
                <a:latin typeface="Calibri"/>
                <a:ea typeface="Microsoft YaHei"/>
              </a:rPr>
              <a:t>评估指标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94776" y="2514600"/>
            <a:ext cx="3154680" cy="3200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50" b="0" i="0">
                <a:solidFill>
                  <a:srgbClr val="1E293B"/>
                </a:solidFill>
                <a:latin typeface="Calibri"/>
                <a:ea typeface="Microsoft YaHei"/>
              </a:rPr>
              <a:t>• 到达率（硬指标）</a:t>
            </a:r>
          </a:p>
          <a:p>
            <a:pPr algn="l"/>
            <a:r>
              <a:rPr sz="1350" b="0" i="0">
                <a:solidFill>
                  <a:srgbClr val="1E293B"/>
                </a:solidFill>
                <a:latin typeface="Calibri"/>
                <a:ea typeface="Microsoft YaHei"/>
              </a:rPr>
              <a:t>• 碰撞率 / COLREGs 违规</a:t>
            </a:r>
          </a:p>
          <a:p>
            <a:pPr algn="l"/>
            <a:r>
              <a:rPr sz="1350" b="0" i="0">
                <a:solidFill>
                  <a:srgbClr val="1E293B"/>
                </a:solidFill>
                <a:latin typeface="Calibri"/>
                <a:ea typeface="Microsoft YaHei"/>
              </a:rPr>
              <a:t>• 控制平滑度（jerk）</a:t>
            </a:r>
          </a:p>
          <a:p>
            <a:pPr algn="l"/>
            <a:r>
              <a:rPr sz="1350" b="0" i="0">
                <a:solidFill>
                  <a:srgbClr val="1E293B"/>
                </a:solidFill>
                <a:latin typeface="Calibri"/>
                <a:ea typeface="Microsoft YaHei"/>
              </a:rPr>
              <a:t>• 多种子 IQM + 失败率（不挑种子）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  <a:ea typeface="Microsoft YaHei"/>
              </a:rPr>
              <a:t>四方共享 同环境/场景/归一化/折扣因子；离散基线按 </a:t>
            </a:r>
            <a:r>
              <a:rPr sz="1250" b="1" i="0">
                <a:solidFill>
                  <a:srgbClr val="64748B"/>
                </a:solidFill>
                <a:latin typeface="Calibri"/>
                <a:ea typeface="Microsoft YaHei"/>
              </a:rPr>
              <a:t>标准方法</a:t>
            </a:r>
            <a:r>
              <a:rPr sz="1250" b="0" i="0">
                <a:solidFill>
                  <a:srgbClr val="64748B"/>
                </a:solidFill>
                <a:latin typeface="Calibri"/>
                <a:ea typeface="Microsoft YaHei"/>
              </a:rPr>
              <a:t> 跑（不加我们的训练配方=不给对手开挂）。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13293D"/>
                </a:solidFill>
                <a:latin typeface="Calibri"/>
                <a:ea typeface="Microsoft YaHei"/>
              </a:rPr>
              <a:t>结果 ①：安全性与到达率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024128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  <a:ea typeface="Microsoft YaHei"/>
              </a:rPr>
              <a:t>连续臂零碰撞、可证明方向合规、零塌缩</a:t>
            </a:r>
          </a:p>
        </p:txBody>
      </p:sp>
      <p:pic>
        <p:nvPicPr>
          <p:cNvPr id="4" name="Picture 3" descr="图1_到达率分布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00200"/>
            <a:ext cx="7040880" cy="402185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72400" y="1691640"/>
            <a:ext cx="3886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A"/>
            </a:solidFill>
          </a:ln>
          <a:effectLst/>
          <a:effectLst>
            <a:outerShdw blurRad="60000" dist="25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0" y="1801368"/>
            <a:ext cx="347472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100" b="1" i="0">
                <a:solidFill>
                  <a:srgbClr val="2C7A2C"/>
                </a:solidFill>
                <a:latin typeface="Calibri"/>
                <a:ea typeface="Microsoft YaHei"/>
              </a:rPr>
              <a:t>零碰撞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9288" y="2258568"/>
            <a:ext cx="34747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  <a:ea typeface="Microsoft YaHei"/>
              </a:rPr>
              <a:t>盾构造保证·全种子 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770632"/>
            <a:ext cx="3886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A"/>
            </a:solidFill>
          </a:ln>
          <a:effectLst/>
          <a:effectLst>
            <a:outerShdw blurRad="60000" dist="25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2880360"/>
            <a:ext cx="347472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100" b="1" i="0">
                <a:solidFill>
                  <a:srgbClr val="2A9D8F"/>
                </a:solidFill>
                <a:latin typeface="Calibri"/>
                <a:ea typeface="Microsoft YaHei"/>
              </a:rPr>
              <a:t>可证明方向合规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19288" y="3337560"/>
            <a:ext cx="34747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  <a:ea typeface="Microsoft YaHei"/>
              </a:rPr>
              <a:t>COLREGs 方向约束 by design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3849624"/>
            <a:ext cx="3886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A"/>
            </a:solidFill>
          </a:ln>
          <a:effectLst/>
          <a:effectLst>
            <a:outerShdw blurRad="60000" dist="25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3959352"/>
            <a:ext cx="347472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100" b="1" i="0">
                <a:solidFill>
                  <a:srgbClr val="065A82"/>
                </a:solidFill>
                <a:latin typeface="Calibri"/>
                <a:ea typeface="Microsoft YaHei"/>
              </a:rPr>
              <a:t>IQM 75.7%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4416552"/>
            <a:ext cx="34747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  <a:ea typeface="Microsoft YaHei"/>
              </a:rPr>
              <a:t>连续臂到达率·零塌缩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4928616"/>
            <a:ext cx="3886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A"/>
            </a:solidFill>
          </a:ln>
          <a:effectLst/>
          <a:effectLst>
            <a:outerShdw blurRad="60000" dist="25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5038344"/>
            <a:ext cx="347472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100" b="1" i="0">
                <a:solidFill>
                  <a:srgbClr val="E9A83A"/>
                </a:solidFill>
                <a:latin typeface="Calibri"/>
                <a:ea typeface="Microsoft YaHei"/>
              </a:rPr>
              <a:t>差一口气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9288" y="5495544"/>
            <a:ext cx="34747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  <a:ea typeface="Microsoft YaHei"/>
              </a:rPr>
              <a:t>及格线~78-86·正攻坚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13293D"/>
                </a:solidFill>
                <a:latin typeface="Calibri"/>
                <a:ea typeface="Microsoft YaHei"/>
              </a:rPr>
              <a:t>结果 ②：避碰轨迹示例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024128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  <a:ea typeface="Microsoft YaHei"/>
              </a:rPr>
              <a:t>健康种子直奔泊位 · 塌缩种子满场打转（RL 种子脆弱）</a:t>
            </a:r>
          </a:p>
        </p:txBody>
      </p:sp>
      <p:pic>
        <p:nvPicPr>
          <p:cNvPr id="4" name="Picture 3" descr="图4_轨迹对比总览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297" y="1554480"/>
            <a:ext cx="6789101" cy="2331720"/>
          </a:xfrm>
          <a:prstGeom prst="rect">
            <a:avLst/>
          </a:prstGeom>
        </p:spPr>
      </p:pic>
      <p:pic>
        <p:nvPicPr>
          <p:cNvPr id="5" name="Picture 4" descr="图5_健康vs塌缩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0258" y="4069080"/>
            <a:ext cx="4891177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13293D"/>
                </a:solidFill>
                <a:latin typeface="Calibri"/>
                <a:ea typeface="Microsoft YaHei"/>
              </a:rPr>
              <a:t>诊断驱动的改进历程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024128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  <a:ea typeface="Microsoft YaHei"/>
              </a:rPr>
              <a:t>每一步都用数据钉死机制、再设计修法（不拍脑袋）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645920"/>
            <a:ext cx="2468880" cy="566928"/>
          </a:xfrm>
          <a:prstGeom prst="rect">
            <a:avLst/>
          </a:prstGeom>
          <a:solidFill>
            <a:srgbClr val="13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233172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Microsoft YaHei"/>
              </a:rPr>
              <a:t>修法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2971800" y="1645920"/>
            <a:ext cx="3200400" cy="566928"/>
          </a:xfrm>
          <a:prstGeom prst="rect">
            <a:avLst/>
          </a:prstGeom>
          <a:solidFill>
            <a:srgbClr val="13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1645920"/>
            <a:ext cx="306324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Microsoft YaHei"/>
              </a:rPr>
              <a:t>针对问题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645920"/>
            <a:ext cx="3931920" cy="566928"/>
          </a:xfrm>
          <a:prstGeom prst="rect">
            <a:avLst/>
          </a:prstGeom>
          <a:solidFill>
            <a:srgbClr val="13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645920"/>
            <a:ext cx="3794759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Microsoft YaHei"/>
              </a:rPr>
              <a:t>结果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04120" y="1645920"/>
            <a:ext cx="1828800" cy="566928"/>
          </a:xfrm>
          <a:prstGeom prst="rect">
            <a:avLst/>
          </a:prstGeom>
          <a:solidFill>
            <a:srgbClr val="13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95560" y="1645920"/>
            <a:ext cx="169164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Microsoft YaHei"/>
              </a:rPr>
              <a:t>状态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212848"/>
            <a:ext cx="2468880" cy="786384"/>
          </a:xfrm>
          <a:prstGeom prst="rect">
            <a:avLst/>
          </a:prstGeom>
          <a:solidFill>
            <a:srgbClr val="EAF3F6"/>
          </a:solidFill>
          <a:ln w="12700">
            <a:solidFill>
              <a:srgbClr val="DD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2212848"/>
            <a:ext cx="228600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  <a:ea typeface="Microsoft YaHei"/>
              </a:rPr>
              <a:t>进门势 well_B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1800" y="2212848"/>
            <a:ext cx="3200400" cy="786384"/>
          </a:xfrm>
          <a:prstGeom prst="rect">
            <a:avLst/>
          </a:prstGeom>
          <a:solidFill>
            <a:srgbClr val="EAF3F6"/>
          </a:solidFill>
          <a:ln w="12700">
            <a:solidFill>
              <a:srgbClr val="DD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81528" y="2212848"/>
            <a:ext cx="301752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  <a:ea typeface="Microsoft YaHei"/>
              </a:rPr>
              <a:t>种子塌缩 / 弱进门信号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2212848"/>
            <a:ext cx="3931920" cy="786384"/>
          </a:xfrm>
          <a:prstGeom prst="rect">
            <a:avLst/>
          </a:prstGeom>
          <a:solidFill>
            <a:srgbClr val="EAF3F6"/>
          </a:solidFill>
          <a:ln w="12700">
            <a:solidFill>
              <a:srgbClr val="DD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1928" y="2212848"/>
            <a:ext cx="3749039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0" i="0">
                <a:solidFill>
                  <a:srgbClr val="1E293B"/>
                </a:solidFill>
                <a:latin typeface="Calibri"/>
                <a:ea typeface="Microsoft YaHei"/>
              </a:rPr>
              <a:t>IQM 51.8 → 75.7 · 消除塌缩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104120" y="2212848"/>
            <a:ext cx="1828800" cy="786384"/>
          </a:xfrm>
          <a:prstGeom prst="rect">
            <a:avLst/>
          </a:prstGeom>
          <a:solidFill>
            <a:srgbClr val="EAF3F6"/>
          </a:solidFill>
          <a:ln w="12700">
            <a:solidFill>
              <a:srgbClr val="DD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13848" y="2212848"/>
            <a:ext cx="164592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 i="0">
                <a:solidFill>
                  <a:srgbClr val="2C7A2C"/>
                </a:solidFill>
                <a:latin typeface="Calibri"/>
                <a:ea typeface="Microsoft YaHei"/>
              </a:rPr>
              <a:t>✓ 已采纳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999232"/>
            <a:ext cx="24688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99232"/>
            <a:ext cx="228600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  <a:ea typeface="Microsoft YaHei"/>
              </a:rPr>
              <a:t>动作混叠惩罚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71800" y="2999232"/>
            <a:ext cx="32004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81528" y="2999232"/>
            <a:ext cx="301752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  <a:ea typeface="Microsoft YaHei"/>
              </a:rPr>
              <a:t>盾塑偏航迹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2999232"/>
            <a:ext cx="39319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81928" y="2999232"/>
            <a:ext cx="3749039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0" i="0">
                <a:solidFill>
                  <a:srgbClr val="1E293B"/>
                </a:solidFill>
                <a:latin typeface="Calibri"/>
                <a:ea typeface="Microsoft YaHei"/>
              </a:rPr>
              <a:t>w=2/6 都过保守、崩种子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04120" y="2999232"/>
            <a:ext cx="1828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13848" y="2999232"/>
            <a:ext cx="164592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 i="0">
                <a:solidFill>
                  <a:srgbClr val="C62828"/>
                </a:solidFill>
                <a:latin typeface="Calibri"/>
                <a:ea typeface="Microsoft YaHei"/>
              </a:rPr>
              <a:t>✗ 负结果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785615"/>
            <a:ext cx="2468880" cy="786384"/>
          </a:xfrm>
          <a:prstGeom prst="rect">
            <a:avLst/>
          </a:prstGeom>
          <a:solidFill>
            <a:srgbClr val="EAF3F6"/>
          </a:solidFill>
          <a:ln w="12700">
            <a:solidFill>
              <a:srgbClr val="DD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" y="3785615"/>
            <a:ext cx="228600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  <a:ea typeface="Microsoft YaHei"/>
              </a:rPr>
              <a:t>治抖 + 退火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71800" y="3785615"/>
            <a:ext cx="3200400" cy="786384"/>
          </a:xfrm>
          <a:prstGeom prst="rect">
            <a:avLst/>
          </a:prstGeom>
          <a:solidFill>
            <a:srgbClr val="EAF3F6"/>
          </a:solidFill>
          <a:ln w="12700">
            <a:solidFill>
              <a:srgbClr val="DD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81528" y="3785615"/>
            <a:ext cx="301752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  <a:ea typeface="Microsoft YaHei"/>
              </a:rPr>
              <a:t>bang-bang 抖动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3785615"/>
            <a:ext cx="3931920" cy="786384"/>
          </a:xfrm>
          <a:prstGeom prst="rect">
            <a:avLst/>
          </a:prstGeom>
          <a:solidFill>
            <a:srgbClr val="EAF3F6"/>
          </a:solidFill>
          <a:ln w="12700">
            <a:solidFill>
              <a:srgbClr val="DD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81928" y="3785615"/>
            <a:ext cx="3749039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0" i="0">
                <a:solidFill>
                  <a:srgbClr val="1E293B"/>
                </a:solidFill>
                <a:latin typeface="Calibri"/>
                <a:ea typeface="Microsoft YaHei"/>
              </a:rPr>
              <a:t>平滑真信号 · 但到达率零增益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104120" y="3785615"/>
            <a:ext cx="1828800" cy="786384"/>
          </a:xfrm>
          <a:prstGeom prst="rect">
            <a:avLst/>
          </a:prstGeom>
          <a:solidFill>
            <a:srgbClr val="EAF3F6"/>
          </a:solidFill>
          <a:ln w="12700">
            <a:solidFill>
              <a:srgbClr val="DD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13848" y="3785615"/>
            <a:ext cx="164592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 i="0">
                <a:solidFill>
                  <a:srgbClr val="1C7293"/>
                </a:solidFill>
                <a:latin typeface="Calibri"/>
                <a:ea typeface="Microsoft YaHei"/>
              </a:rPr>
              <a:t>△ 次级卖点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572000"/>
            <a:ext cx="24688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" y="4572000"/>
            <a:ext cx="228600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  <a:ea typeface="Microsoft YaHei"/>
              </a:rPr>
              <a:t>终端保速势 Φ_park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71800" y="4572000"/>
            <a:ext cx="32004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81528" y="4572000"/>
            <a:ext cx="301752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  <a:ea typeface="Microsoft YaHei"/>
              </a:rPr>
              <a:t>82% 近带刹停（新发现）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72200" y="4572000"/>
            <a:ext cx="39319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81928" y="4572000"/>
            <a:ext cx="3749039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0" i="0">
                <a:solidFill>
                  <a:srgbClr val="1E293B"/>
                </a:solidFill>
                <a:latin typeface="Calibri"/>
                <a:ea typeface="Microsoft YaHei"/>
              </a:rPr>
              <a:t>走范式实现完成、2-agent 复核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104120" y="4572000"/>
            <a:ext cx="1828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13848" y="4572000"/>
            <a:ext cx="164592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 i="0">
                <a:solidFill>
                  <a:srgbClr val="E9A83A"/>
                </a:solidFill>
                <a:latin typeface="Calibri"/>
                <a:ea typeface="Microsoft YaHei"/>
              </a:rPr>
              <a:t>⧖ 待机制小验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13293D"/>
                </a:solidFill>
                <a:latin typeface="Calibri"/>
                <a:ea typeface="Microsoft YaHei"/>
              </a:rPr>
              <a:t>当前瓶颈 ①：终端横向精度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024128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  <a:ea typeface="Microsoft YaHei"/>
              </a:rPr>
              <a:t>82% 失败 = 开到泊位边、横向差一口气、过早减速停带外</a:t>
            </a:r>
          </a:p>
        </p:txBody>
      </p:sp>
      <p:pic>
        <p:nvPicPr>
          <p:cNvPr id="4" name="Picture 3" descr="图3_终端失败机制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923" y="1645920"/>
            <a:ext cx="9327847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62356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  <a:ea typeface="Microsoft YaHei"/>
              </a:rPr>
              <a:t>机制钉死：</a:t>
            </a:r>
            <a:r>
              <a:rPr sz="1400" b="0" i="0">
                <a:solidFill>
                  <a:srgbClr val="1E293B"/>
                </a:solidFill>
                <a:latin typeface="Calibri"/>
                <a:ea typeface="Microsoft YaHei"/>
              </a:rPr>
              <a:t>船纵向已开到泊位正前方，但终端横向修正时</a:t>
            </a:r>
            <a:r>
              <a:rPr sz="1400" b="1" i="0">
                <a:solidFill>
                  <a:srgbClr val="C62828"/>
                </a:solidFill>
                <a:latin typeface="Calibri"/>
                <a:ea typeface="Microsoft YaHei"/>
              </a:rPr>
              <a:t>过早减速到 1.6 m/s</a:t>
            </a:r>
            <a:r>
              <a:rPr sz="1400" b="0" i="0">
                <a:solidFill>
                  <a:srgbClr val="1E293B"/>
                </a:solidFill>
                <a:latin typeface="Calibri"/>
                <a:ea typeface="Microsoft YaHei"/>
              </a:rPr>
              <a:t>、失去机动力，卡在带外 ~13m 停死。</a:t>
            </a:r>
          </a:p>
          <a:p>
            <a:pPr algn="l"/>
            <a:r>
              <a:rPr sz="1350" b="0" i="0">
                <a:solidFill>
                  <a:srgbClr val="1E293B"/>
                </a:solidFill>
                <a:latin typeface="Calibri"/>
                <a:ea typeface="Microsoft YaHei"/>
              </a:rPr>
              <a:t>→ 修法 </a:t>
            </a:r>
            <a:r>
              <a:rPr sz="1350" b="1" i="0">
                <a:solidFill>
                  <a:srgbClr val="2A9D8F"/>
                </a:solidFill>
                <a:latin typeface="Calibri"/>
                <a:ea typeface="Microsoft YaHei"/>
              </a:rPr>
              <a:t>Φ_park 终端保速势</a:t>
            </a:r>
            <a:r>
              <a:rPr sz="1350" b="0" i="0">
                <a:solidFill>
                  <a:srgbClr val="1E293B"/>
                </a:solidFill>
                <a:latin typeface="Calibri"/>
                <a:ea typeface="Microsoft YaHei"/>
              </a:rPr>
              <a:t>（已实现·待机制小验）：近目标奖励保住机动速度、把横偏修进带；到达判据不要求停 → 保速不碍到达。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13293D"/>
                </a:solidFill>
                <a:latin typeface="Calibri"/>
                <a:ea typeface="Microsoft YaHei"/>
              </a:rPr>
              <a:t>当前瓶颈 ②：控制平滑度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024128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  <a:ea typeface="Microsoft YaHei"/>
              </a:rPr>
              <a:t>诚实：连续轨迹现在比离散更抖 —— 这是连续臂的卖点、必须补上</a:t>
            </a:r>
          </a:p>
        </p:txBody>
      </p:sp>
      <p:pic>
        <p:nvPicPr>
          <p:cNvPr id="4" name="Picture 3" descr="图2_平滑度对比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1691640"/>
            <a:ext cx="5669280" cy="374029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040880" y="1920240"/>
            <a:ext cx="4617720" cy="3657600"/>
          </a:xfrm>
          <a:prstGeom prst="roundRect">
            <a:avLst/>
          </a:prstGeom>
          <a:solidFill>
            <a:srgbClr val="EAF3F6"/>
          </a:solidFill>
          <a:ln>
            <a:noFill/>
          </a:ln>
          <a:effectLst/>
          <a:effectLst>
            <a:outerShdw blurRad="60000" dist="25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2148840"/>
            <a:ext cx="4114800" cy="3291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065A82"/>
                </a:solidFill>
                <a:latin typeface="Calibri"/>
                <a:ea typeface="Microsoft YaHei"/>
              </a:rPr>
              <a:t>怎么看这张图</a:t>
            </a:r>
          </a:p>
          <a:p>
            <a:pPr algn="l"/>
            <a:r>
              <a:rPr sz="600" b="0" i="0">
                <a:solidFill>
                  <a:srgbClr val="1E293B"/>
                </a:solidFill>
                <a:latin typeface="Calibri"/>
                <a:ea typeface="Microsoft YaHei"/>
              </a:rPr>
              <a:t> </a:t>
            </a:r>
          </a:p>
          <a:p>
            <a:pPr algn="l"/>
            <a:r>
              <a:rPr sz="1350" b="0" i="0">
                <a:solidFill>
                  <a:srgbClr val="1E293B"/>
                </a:solidFill>
                <a:latin typeface="Calibri"/>
                <a:ea typeface="Microsoft YaHei"/>
              </a:rPr>
              <a:t>• 连续臂治抖后 jerk = </a:t>
            </a:r>
            <a:r>
              <a:rPr sz="1350" b="1" i="0">
                <a:solidFill>
                  <a:srgbClr val="C62828"/>
                </a:solidFill>
                <a:latin typeface="Calibri"/>
                <a:ea typeface="Microsoft YaHei"/>
              </a:rPr>
              <a:t>1.34</a:t>
            </a:r>
          </a:p>
          <a:p>
            <a:pPr algn="l"/>
            <a:r>
              <a:rPr sz="1350" b="0" i="0">
                <a:solidFill>
                  <a:srgbClr val="1E293B"/>
                </a:solidFill>
                <a:latin typeface="Calibri"/>
                <a:ea typeface="Microsoft YaHei"/>
              </a:rPr>
              <a:t>• 离散基线 jerk = </a:t>
            </a:r>
            <a:r>
              <a:rPr sz="1350" b="1" i="0">
                <a:solidFill>
                  <a:srgbClr val="2A9D8F"/>
                </a:solidFill>
                <a:latin typeface="Calibri"/>
                <a:ea typeface="Microsoft YaHei"/>
              </a:rPr>
              <a:t>0.87</a:t>
            </a:r>
          </a:p>
          <a:p>
            <a:pPr algn="l"/>
            <a:r>
              <a:rPr sz="1350" b="0" i="0">
                <a:solidFill>
                  <a:srgbClr val="1E293B"/>
                </a:solidFill>
                <a:latin typeface="Calibri"/>
                <a:ea typeface="Microsoft YaHei"/>
              </a:rPr>
              <a:t>• 连续仍比离散抖 </a:t>
            </a:r>
            <a:r>
              <a:rPr sz="1350" b="1" i="0">
                <a:solidFill>
                  <a:srgbClr val="C62828"/>
                </a:solidFill>
                <a:latin typeface="Calibri"/>
                <a:ea typeface="Microsoft YaHei"/>
              </a:rPr>
              <a:t>54%</a:t>
            </a:r>
          </a:p>
          <a:p>
            <a:pPr algn="l"/>
            <a:r>
              <a:rPr sz="800" b="0" i="0">
                <a:solidFill>
                  <a:srgbClr val="1E293B"/>
                </a:solidFill>
                <a:latin typeface="Calibri"/>
                <a:ea typeface="Microsoft YaHei"/>
              </a:rPr>
              <a:t> </a:t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  <a:ea typeface="Microsoft YaHei"/>
              </a:rPr>
              <a:t>"连续更平滑" 是我们的卖点之一，</a:t>
            </a:r>
            <a:r>
              <a:rPr sz="1300" b="1" i="0">
                <a:solidFill>
                  <a:srgbClr val="C62828"/>
                </a:solidFill>
                <a:latin typeface="Calibri"/>
                <a:ea typeface="Microsoft YaHei"/>
              </a:rPr>
              <a:t>但现在反而更差</a:t>
            </a:r>
            <a:r>
              <a:rPr sz="1300" b="0" i="0">
                <a:solidFill>
                  <a:srgbClr val="1E293B"/>
                </a:solidFill>
                <a:latin typeface="Calibri"/>
                <a:ea typeface="Microsoft YaHei"/>
              </a:rPr>
              <a:t>。</a:t>
            </a:r>
          </a:p>
          <a:p>
            <a:pPr algn="l"/>
            <a:r>
              <a:rPr sz="400" b="0" i="0">
                <a:solidFill>
                  <a:srgbClr val="1E293B"/>
                </a:solidFill>
                <a:latin typeface="Calibri"/>
                <a:ea typeface="Microsoft YaHei"/>
              </a:rPr>
              <a:t> </a:t>
            </a:r>
          </a:p>
          <a:p>
            <a:pPr algn="l"/>
            <a:r>
              <a:rPr sz="1300" b="1" i="0">
                <a:solidFill>
                  <a:srgbClr val="1E293B"/>
                </a:solidFill>
                <a:latin typeface="Calibri"/>
                <a:ea typeface="Microsoft YaHei"/>
              </a:rPr>
              <a:t>目标：</a:t>
            </a:r>
            <a:r>
              <a:rPr sz="1300" b="1" i="0">
                <a:solidFill>
                  <a:srgbClr val="E9A83A"/>
                </a:solidFill>
                <a:latin typeface="Calibri"/>
                <a:ea typeface="Microsoft YaHei"/>
              </a:rPr>
              <a:t>不求超越、至少打平离散</a:t>
            </a:r>
            <a:r>
              <a:rPr sz="1300" b="0" i="0">
                <a:solidFill>
                  <a:srgbClr val="1E293B"/>
                </a:solidFill>
                <a:latin typeface="Calibri"/>
                <a:ea typeface="Microsoft YaHei"/>
              </a:rPr>
              <a:t>（jerk 降到 ~0.87）才有说法。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13293D"/>
                </a:solidFill>
                <a:latin typeface="Calibri"/>
                <a:ea typeface="Microsoft YaHei"/>
              </a:rPr>
              <a:t>诚实边界与局限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024128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  <a:ea typeface="Microsoft YaHei"/>
              </a:rPr>
              <a:t>进度汇报不化妆 —— 把没做到的也讲清楚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11155680" cy="1371600"/>
          </a:xfrm>
          <a:prstGeom prst="roundRect">
            <a:avLst/>
          </a:prstGeom>
          <a:solidFill>
            <a:srgbClr val="EAF3F6"/>
          </a:solidFill>
          <a:ln>
            <a:noFill/>
          </a:ln>
          <a:effectLst/>
          <a:effectLst>
            <a:outerShdw blurRad="60000" dist="25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148840"/>
            <a:ext cx="457200" cy="457200"/>
          </a:xfrm>
          <a:prstGeom prst="ellipse">
            <a:avLst/>
          </a:prstGeom>
          <a:solidFill>
            <a:srgbClr val="E9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1856232"/>
            <a:ext cx="996696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1" i="0">
                <a:solidFill>
                  <a:srgbClr val="065A82"/>
                </a:solidFill>
                <a:latin typeface="Calibri"/>
                <a:ea typeface="Microsoft YaHei"/>
              </a:rPr>
              <a:t>种子脆弱是 RL 内禀难题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7048" y="2350008"/>
            <a:ext cx="9966960" cy="594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  <a:ea typeface="Microsoft YaHei"/>
              </a:rPr>
              <a:t>好种子已到 90%、差种子拖低聚合；连续与离散都有此问题。报 IQM/CI/失败率，绝不挑种子。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209544"/>
            <a:ext cx="11155680" cy="1371600"/>
          </a:xfrm>
          <a:prstGeom prst="roundRect">
            <a:avLst/>
          </a:prstGeom>
          <a:solidFill>
            <a:srgbClr val="EAF3F6"/>
          </a:solidFill>
          <a:ln>
            <a:noFill/>
          </a:ln>
          <a:effectLst/>
          <a:effectLst>
            <a:outerShdw blurRad="60000" dist="25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3666744"/>
            <a:ext cx="457200" cy="45720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3374136"/>
            <a:ext cx="996696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1" i="0">
                <a:solidFill>
                  <a:srgbClr val="065A82"/>
                </a:solidFill>
                <a:latin typeface="Calibri"/>
                <a:ea typeface="Microsoft YaHei"/>
              </a:rPr>
              <a:t>稳定 90+ 是 stretch、非保证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3867911"/>
            <a:ext cx="9966960" cy="594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  <a:ea typeface="Microsoft YaHei"/>
              </a:rPr>
              <a:t>目标=追平可比带盾安全臂 ~78-86；冲 90+ 需新方法且不保证。承诺=尽全力+不化妆。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727448"/>
            <a:ext cx="11155680" cy="1371600"/>
          </a:xfrm>
          <a:prstGeom prst="roundRect">
            <a:avLst/>
          </a:prstGeom>
          <a:solidFill>
            <a:srgbClr val="EAF3F6"/>
          </a:solidFill>
          <a:ln>
            <a:noFill/>
          </a:ln>
          <a:effectLst/>
          <a:effectLst>
            <a:outerShdw blurRad="60000" dist="25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5184648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4892040"/>
            <a:ext cx="996696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1" i="0">
                <a:solidFill>
                  <a:srgbClr val="065A82"/>
                </a:solidFill>
                <a:latin typeface="Calibri"/>
                <a:ea typeface="Microsoft YaHei"/>
              </a:rPr>
              <a:t>当前为档位 A（经验性合规）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5385816"/>
            <a:ext cx="9966960" cy="594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  <a:ea typeface="Microsoft YaHei"/>
              </a:rPr>
              <a:t>方向合规可证明、碰撞经验性为零；严格"可证明零碰撞"留待 Phase 4 不变集（provably 开关）。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13293D"/>
                </a:solidFill>
                <a:latin typeface="Calibri"/>
                <a:ea typeface="Microsoft YaHei"/>
              </a:rPr>
              <a:t>下一步计划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024128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  <a:ea typeface="Microsoft YaHei"/>
              </a:rPr>
              <a:t>近期攻坚 → 中期定稿 → 投稿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37360"/>
            <a:ext cx="658368" cy="658368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658368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  <a:ea typeface="Microsoft YaHe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08760" y="1719072"/>
            <a:ext cx="10149840" cy="713232"/>
          </a:xfrm>
          <a:prstGeom prst="roundRect">
            <a:avLst/>
          </a:prstGeom>
          <a:solidFill>
            <a:srgbClr val="EA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83080" y="1764792"/>
            <a:ext cx="36576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  <a:ea typeface="Microsoft YaHei"/>
              </a:rPr>
              <a:t>终端保速势机制小验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764792"/>
            <a:ext cx="60350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  <a:ea typeface="Microsoft YaHei"/>
              </a:rPr>
              <a:t>扫 park_w，验能否把横偏修进带、提到达不破种子（待烧）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697480"/>
            <a:ext cx="658368" cy="65836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658368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08760" y="2679192"/>
            <a:ext cx="10149840" cy="713232"/>
          </a:xfrm>
          <a:prstGeom prst="roundRect">
            <a:avLst/>
          </a:prstGeom>
          <a:solidFill>
            <a:srgbClr val="EA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83080" y="2724912"/>
            <a:ext cx="36576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  <a:ea typeface="Microsoft YaHei"/>
              </a:rPr>
              <a:t>升多种子 + 平滑优化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724912"/>
            <a:ext cx="60350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  <a:ea typeface="Microsoft YaHei"/>
              </a:rPr>
              <a:t>≥8 种子做 IQM/CI；把连续 jerk 降到追平离散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657600"/>
            <a:ext cx="658368" cy="65836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657600"/>
            <a:ext cx="658368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08760" y="3639312"/>
            <a:ext cx="10149840" cy="713232"/>
          </a:xfrm>
          <a:prstGeom prst="roundRect">
            <a:avLst/>
          </a:prstGeom>
          <a:solidFill>
            <a:srgbClr val="EA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83080" y="3685032"/>
            <a:ext cx="36576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  <a:ea typeface="Microsoft YaHei"/>
              </a:rPr>
              <a:t>四方钱图（核心实验）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685032"/>
            <a:ext cx="60350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  <a:ea typeface="Microsoft YaHei"/>
              </a:rPr>
              <a:t>200→2000 场景同口径四方对比，定连续 vs 离散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617720"/>
            <a:ext cx="658368" cy="658368"/>
          </a:xfrm>
          <a:prstGeom prst="ellipse">
            <a:avLst/>
          </a:prstGeom>
          <a:solidFill>
            <a:srgbClr val="13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617720"/>
            <a:ext cx="658368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08760" y="4599432"/>
            <a:ext cx="10149840" cy="713232"/>
          </a:xfrm>
          <a:prstGeom prst="roundRect">
            <a:avLst/>
          </a:prstGeom>
          <a:solidFill>
            <a:srgbClr val="EA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83080" y="4645152"/>
            <a:ext cx="36576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  <a:ea typeface="Microsoft YaHei"/>
              </a:rPr>
              <a:t>Phase 4：provably 开关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4645152"/>
            <a:ext cx="60350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  <a:ea typeface="Microsoft YaHei"/>
              </a:rPr>
              <a:t>不变集终端约束 → 标题能否用 "provably"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  <a:ea typeface="Microsoft YaHei"/>
              </a:rPr>
              <a:t>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3566160" cy="4023360"/>
          </a:xfrm>
          <a:prstGeom prst="roundRect">
            <a:avLst/>
          </a:prstGeom>
          <a:solidFill>
            <a:srgbClr val="1C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01168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2A9D8F"/>
                </a:solidFill>
                <a:latin typeface="Calibri"/>
                <a:ea typeface="Microsoft YaHei"/>
              </a:rPr>
              <a:t>已建成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697480"/>
            <a:ext cx="3108960" cy="2926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  <a:ea typeface="Microsoft YaHei"/>
              </a:rPr>
              <a:t>• 投影式安全盾完整落地</a:t>
            </a:r>
          </a:p>
          <a:p>
            <a:pPr algn="l"/>
            <a:r>
              <a:rPr sz="1350" b="0" i="0">
                <a:solidFill>
                  <a:srgbClr val="FFFFFF"/>
                </a:solidFill>
                <a:latin typeface="Calibri"/>
                <a:ea typeface="Microsoft YaHei"/>
              </a:rPr>
              <a:t>• 零碰撞 + 可证明方向合规</a:t>
            </a:r>
          </a:p>
          <a:p>
            <a:pPr algn="l"/>
            <a:r>
              <a:rPr sz="1350" b="0" i="0">
                <a:solidFill>
                  <a:srgbClr val="FFFFFF"/>
                </a:solidFill>
                <a:latin typeface="Calibri"/>
                <a:ea typeface="Microsoft YaHei"/>
              </a:rPr>
              <a:t>• 连续臂 IQM 75.7、零塌缩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1783080"/>
            <a:ext cx="3566160" cy="4023360"/>
          </a:xfrm>
          <a:prstGeom prst="roundRect">
            <a:avLst/>
          </a:prstGeom>
          <a:solidFill>
            <a:srgbClr val="1C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1999" y="201168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E9A83A"/>
                </a:solidFill>
                <a:latin typeface="Calibri"/>
                <a:ea typeface="Microsoft YaHei"/>
              </a:rPr>
              <a:t>正攻坚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1999" y="2697480"/>
            <a:ext cx="3108960" cy="2926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  <a:ea typeface="Microsoft YaHei"/>
              </a:rPr>
              <a:t>• 终端横向精度（82%失败）</a:t>
            </a:r>
          </a:p>
          <a:p>
            <a:pPr algn="l"/>
            <a:r>
              <a:rPr sz="1350" b="0" i="0">
                <a:solidFill>
                  <a:srgbClr val="FFFFFF"/>
                </a:solidFill>
                <a:latin typeface="Calibri"/>
                <a:ea typeface="Microsoft YaHei"/>
              </a:rPr>
              <a:t>• 控制平滑度追平离散</a:t>
            </a:r>
          </a:p>
          <a:p>
            <a:pPr algn="l"/>
            <a:r>
              <a:rPr sz="1350" b="0" i="0">
                <a:solidFill>
                  <a:srgbClr val="FFFFFF"/>
                </a:solidFill>
                <a:latin typeface="Calibri"/>
                <a:ea typeface="Microsoft YaHei"/>
              </a:rPr>
              <a:t>• 救脆弱种子冲稳定 90+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1783080"/>
            <a:ext cx="3566160" cy="4023360"/>
          </a:xfrm>
          <a:prstGeom prst="roundRect">
            <a:avLst/>
          </a:prstGeom>
          <a:solidFill>
            <a:srgbClr val="1C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01168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CADCFC"/>
                </a:solidFill>
                <a:latin typeface="Calibri"/>
                <a:ea typeface="Microsoft YaHei"/>
              </a:rPr>
              <a:t>待推进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697480"/>
            <a:ext cx="3108960" cy="2926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  <a:ea typeface="Microsoft YaHei"/>
              </a:rPr>
              <a:t>• 四方钱图（核心对比）</a:t>
            </a:r>
          </a:p>
          <a:p>
            <a:pPr algn="l"/>
            <a:r>
              <a:rPr sz="1350" b="0" i="0">
                <a:solidFill>
                  <a:srgbClr val="FFFFFF"/>
                </a:solidFill>
                <a:latin typeface="Calibri"/>
                <a:ea typeface="Microsoft YaHei"/>
              </a:rPr>
              <a:t>• Phase 4 provably 开关</a:t>
            </a:r>
          </a:p>
          <a:p>
            <a:pPr algn="l"/>
            <a:r>
              <a:rPr sz="1350" b="0" i="0">
                <a:solidFill>
                  <a:srgbClr val="FFFFFF"/>
                </a:solidFill>
                <a:latin typeface="Calibri"/>
                <a:ea typeface="Microsoft YaHei"/>
              </a:rPr>
              <a:t>• 多种子统计 + 写作投稿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08076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 i="1">
                <a:solidFill>
                  <a:srgbClr val="E9A83A"/>
                </a:solidFill>
                <a:latin typeface="Calibri"/>
                <a:ea typeface="Microsoft YaHei"/>
              </a:rPr>
              <a:t>贡献框在盾（连续可证明合规）· 到达率是硬指标全力冲 · 不化妆没及格的数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