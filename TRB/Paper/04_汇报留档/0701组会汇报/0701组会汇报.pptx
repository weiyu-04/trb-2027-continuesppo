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70" r:id="rId2"/>
    <p:sldId id="272" r:id="rId3"/>
    <p:sldId id="273" r:id="rId4"/>
    <p:sldId id="274" r:id="rId5"/>
    <p:sldId id="275" r:id="rId6"/>
    <p:sldId id="276" r:id="rId7"/>
    <p:sldId id="277" r:id="rId8"/>
    <p:sldId id="278" r:id="rId9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、目录" id="{00F5772C-C3CC-A44C-9812-10C147135550}">
          <p14:sldIdLst>
            <p14:sldId id="270"/>
          </p14:sldIdLst>
        </p14:section>
        <p14:section name="内容" id="{0137C8C7-5B08-A143-8C61-6FF4154ADC65}">
          <p14:sldIdLst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>
        <p15:guide id="1" pos="304" userDrawn="1">
          <p15:clr>
            <a:srgbClr val="A4A3A4"/>
          </p15:clr>
        </p15:guide>
        <p15:guide id="2" pos="7368" userDrawn="1">
          <p15:clr>
            <a:srgbClr val="A4A3A4"/>
          </p15:clr>
        </p15:guide>
        <p15:guide id="3" orient="horz" pos="472" userDrawn="1">
          <p15:clr>
            <a:srgbClr val="A4A3A4"/>
          </p15:clr>
        </p15:guide>
        <p15:guide id="4" orient="horz" pos="41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099"/>
    <a:srgbClr val="316EE2"/>
    <a:srgbClr val="00419C"/>
    <a:srgbClr val="005AD1"/>
    <a:srgbClr val="6756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23" autoAdjust="0"/>
    <p:restoredTop sz="94660"/>
  </p:normalViewPr>
  <p:slideViewPr>
    <p:cSldViewPr snapToGrid="0" showGuides="1">
      <p:cViewPr>
        <p:scale>
          <a:sx n="99" d="100"/>
          <a:sy n="99" d="100"/>
        </p:scale>
        <p:origin x="1600" y="568"/>
      </p:cViewPr>
      <p:guideLst>
        <p:guide pos="304"/>
        <p:guide pos="7368"/>
        <p:guide orient="horz" pos="472"/>
        <p:guide orient="horz" pos="415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992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4A70368-671A-4086-B8B3-6934850F6B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4D63C52-005D-912F-11F3-B4F936513D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E4670B-917A-7145-B851-25CCBCBAC868}" type="datetimeFigureOut">
              <a:rPr kumimoji="1" lang="zh-CN" altLang="en-US" smtClean="0"/>
              <a:t>2025/11/18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595BF02-E2E7-8FA2-DDCD-E078876D86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069744D-3EF8-37E2-A9A3-9BA39E0732C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3393E4-C259-1140-9ED1-ADCAFD4DDC7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138226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FF7382-B1F7-4D68-995D-F8373CE65DC0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886D82-40B8-4175-AE33-CCD3B53A52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637185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包含 建筑物&#10;&#10;自动生成的说明">
            <a:extLst>
              <a:ext uri="{FF2B5EF4-FFF2-40B4-BE49-F238E27FC236}">
                <a16:creationId xmlns:a16="http://schemas.microsoft.com/office/drawing/2014/main" id="{4EEDF3CE-2B83-300A-A4F5-46349E0815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20000"/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1958"/>
          <a:stretch/>
        </p:blipFill>
        <p:spPr>
          <a:xfrm>
            <a:off x="0" y="3078446"/>
            <a:ext cx="12192000" cy="3498284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5BFF1677-1CD6-CCCF-819D-9B6CC4381142}"/>
              </a:ext>
            </a:extLst>
          </p:cNvPr>
          <p:cNvSpPr/>
          <p:nvPr userDrawn="1"/>
        </p:nvSpPr>
        <p:spPr>
          <a:xfrm>
            <a:off x="3" y="6597198"/>
            <a:ext cx="12191983" cy="266722"/>
          </a:xfrm>
          <a:prstGeom prst="rect">
            <a:avLst/>
          </a:prstGeom>
          <a:gradFill>
            <a:gsLst>
              <a:gs pos="0">
                <a:srgbClr val="004099"/>
              </a:gs>
              <a:gs pos="100000">
                <a:srgbClr val="316EE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pic>
        <p:nvPicPr>
          <p:cNvPr id="14" name="图片占位符 24" descr="图片包含 户外, 树, 建筑物, 天空&#10;&#10;自动生成的说明">
            <a:extLst>
              <a:ext uri="{FF2B5EF4-FFF2-40B4-BE49-F238E27FC236}">
                <a16:creationId xmlns:a16="http://schemas.microsoft.com/office/drawing/2014/main" id="{0EB172C8-57B0-B108-36B5-EDD6A1B53D5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9" b="29999"/>
          <a:stretch>
            <a:fillRect/>
          </a:stretch>
        </p:blipFill>
        <p:spPr>
          <a:xfrm>
            <a:off x="7" y="0"/>
            <a:ext cx="12191979" cy="318895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623E37C-18BB-8BA8-CA61-E6442561F783}"/>
              </a:ext>
            </a:extLst>
          </p:cNvPr>
          <p:cNvSpPr/>
          <p:nvPr userDrawn="1"/>
        </p:nvSpPr>
        <p:spPr>
          <a:xfrm>
            <a:off x="8" y="6244"/>
            <a:ext cx="12191979" cy="3188952"/>
          </a:xfrm>
          <a:prstGeom prst="rect">
            <a:avLst/>
          </a:prstGeom>
          <a:gradFill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50000"/>
                </a:schemeClr>
              </a:gs>
            </a:gsLst>
            <a:lin ang="5400000" scaled="1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B531F3C-28D1-4439-BE4A-3ECF0C12776D}"/>
              </a:ext>
            </a:extLst>
          </p:cNvPr>
          <p:cNvSpPr/>
          <p:nvPr userDrawn="1"/>
        </p:nvSpPr>
        <p:spPr>
          <a:xfrm>
            <a:off x="9" y="0"/>
            <a:ext cx="12191979" cy="3198561"/>
          </a:xfrm>
          <a:prstGeom prst="rect">
            <a:avLst/>
          </a:prstGeom>
          <a:gradFill>
            <a:gsLst>
              <a:gs pos="0">
                <a:srgbClr val="004099"/>
              </a:gs>
              <a:gs pos="100000">
                <a:srgbClr val="005AD1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" name="图片 11" descr="文本&#10;&#10;中度可信度描述已自动生成">
            <a:extLst>
              <a:ext uri="{FF2B5EF4-FFF2-40B4-BE49-F238E27FC236}">
                <a16:creationId xmlns:a16="http://schemas.microsoft.com/office/drawing/2014/main" id="{3D5BB200-268A-35E8-6744-237DF90CE90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035" t="18076" b="14155"/>
          <a:stretch>
            <a:fillRect/>
          </a:stretch>
        </p:blipFill>
        <p:spPr>
          <a:xfrm>
            <a:off x="4123928" y="1776098"/>
            <a:ext cx="3944143" cy="1255890"/>
          </a:xfrm>
          <a:prstGeom prst="rect">
            <a:avLst/>
          </a:prstGeom>
        </p:spPr>
      </p:pic>
      <p:pic>
        <p:nvPicPr>
          <p:cNvPr id="10" name="图片 9" descr="文本&#10;&#10;中度可信度描述已自动生成">
            <a:extLst>
              <a:ext uri="{FF2B5EF4-FFF2-40B4-BE49-F238E27FC236}">
                <a16:creationId xmlns:a16="http://schemas.microsoft.com/office/drawing/2014/main" id="{B772B265-1A8C-FE55-1E67-FB31264977E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64" t="9248" r="68050" b="6274"/>
          <a:stretch>
            <a:fillRect/>
          </a:stretch>
        </p:blipFill>
        <p:spPr>
          <a:xfrm>
            <a:off x="5243346" y="281270"/>
            <a:ext cx="1656528" cy="1565556"/>
          </a:xfrm>
          <a:prstGeom prst="rect">
            <a:avLst/>
          </a:prstGeom>
        </p:spPr>
      </p:pic>
      <p:sp>
        <p:nvSpPr>
          <p:cNvPr id="42" name="文本框 41">
            <a:extLst>
              <a:ext uri="{FF2B5EF4-FFF2-40B4-BE49-F238E27FC236}">
                <a16:creationId xmlns:a16="http://schemas.microsoft.com/office/drawing/2014/main" id="{069F0987-EF5D-67CC-CA3C-829DBD6E4D71}"/>
              </a:ext>
            </a:extLst>
          </p:cNvPr>
          <p:cNvSpPr txBox="1"/>
          <p:nvPr userDrawn="1"/>
        </p:nvSpPr>
        <p:spPr>
          <a:xfrm>
            <a:off x="1696209" y="3429000"/>
            <a:ext cx="88239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 rtl="0"/>
            <a:r>
              <a:rPr lang="en-US" altLang="zh-CN" sz="2800" b="1" i="0" u="none" strike="noStrike" kern="1200" baseline="0" dirty="0">
                <a:solidFill>
                  <a:srgbClr val="004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2025-2026</a:t>
            </a:r>
            <a:r>
              <a:rPr lang="zh-CN" altLang="en-US" sz="2800" b="1" i="0" u="none" strike="noStrike" kern="1200" baseline="0" dirty="0">
                <a:solidFill>
                  <a:srgbClr val="004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学年船舶海洋与建筑工程学院 </a:t>
            </a:r>
            <a:r>
              <a:rPr lang="en-US" altLang="zh-CN" sz="2800" b="1" i="0" u="none" strike="noStrike" kern="1200" baseline="0" dirty="0">
                <a:solidFill>
                  <a:srgbClr val="004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</a:p>
        </p:txBody>
      </p:sp>
      <p:sp>
        <p:nvSpPr>
          <p:cNvPr id="44" name="文本占位符 8">
            <a:extLst>
              <a:ext uri="{FF2B5EF4-FFF2-40B4-BE49-F238E27FC236}">
                <a16:creationId xmlns:a16="http://schemas.microsoft.com/office/drawing/2014/main" id="{40B2FDF1-EEF1-FA6C-1819-F1F92A38141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932250" y="5748161"/>
            <a:ext cx="1977154" cy="523221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2"/>
              </a:gs>
              <a:gs pos="35000">
                <a:srgbClr val="00419C"/>
              </a:gs>
            </a:gsLst>
            <a:lin ang="0" scaled="1"/>
          </a:gradFill>
        </p:spPr>
        <p:txBody>
          <a:bodyPr vert="horz" wrap="square" lIns="91440" tIns="45720" rIns="91440" bIns="45720" rtlCol="0" anchor="ctr" anchorCtr="0">
            <a:noAutofit/>
          </a:bodyPr>
          <a:lstStyle>
            <a:lvl1pPr>
              <a:defRPr lang="zh-CN" altLang="en-US" sz="1600" dirty="0">
                <a:solidFill>
                  <a:schemeClr val="bg1"/>
                </a:solidFill>
                <a:latin typeface="+mn-ea"/>
              </a:defRPr>
            </a:lvl1pPr>
          </a:lstStyle>
          <a:p>
            <a:pPr lvl="0" algn="ctr">
              <a:buNone/>
            </a:pPr>
            <a:r>
              <a:rPr lang="en-US" altLang="zh-CN" b="1" dirty="0">
                <a:latin typeface="+mj-ea"/>
                <a:ea typeface="+mj-ea"/>
              </a:rPr>
              <a:t>25</a:t>
            </a:r>
            <a:r>
              <a:rPr lang="zh-CN" altLang="en-US" b="1" dirty="0">
                <a:latin typeface="+mj-ea"/>
                <a:ea typeface="+mj-ea"/>
              </a:rPr>
              <a:t>级硕士 唐伟昱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436AF32F-05B8-3DF7-737C-CF6F9A063566}"/>
              </a:ext>
            </a:extLst>
          </p:cNvPr>
          <p:cNvSpPr txBox="1"/>
          <p:nvPr userDrawn="1"/>
        </p:nvSpPr>
        <p:spPr>
          <a:xfrm>
            <a:off x="4468798" y="5192546"/>
            <a:ext cx="3254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/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+mj-ea"/>
                <a:ea typeface="+mj-ea"/>
              </a:rPr>
              <a:t>交通运输工程系 交通运输专业</a:t>
            </a:r>
            <a:endParaRPr lang="zh-CN" altLang="zh-CN" dirty="0">
              <a:solidFill>
                <a:prstClr val="black">
                  <a:lumMod val="85000"/>
                  <a:lumOff val="15000"/>
                </a:prstClr>
              </a:solidFill>
              <a:latin typeface="+mj-ea"/>
              <a:ea typeface="+mj-ea"/>
            </a:endParaRPr>
          </a:p>
        </p:txBody>
      </p:sp>
      <p:cxnSp>
        <p:nvCxnSpPr>
          <p:cNvPr id="46" name="直接连接符 11">
            <a:extLst>
              <a:ext uri="{FF2B5EF4-FFF2-40B4-BE49-F238E27FC236}">
                <a16:creationId xmlns:a16="http://schemas.microsoft.com/office/drawing/2014/main" id="{87734839-EBD0-2082-6AAD-4EC633E4A63C}"/>
              </a:ext>
            </a:extLst>
          </p:cNvPr>
          <p:cNvCxnSpPr/>
          <p:nvPr userDrawn="1"/>
        </p:nvCxnSpPr>
        <p:spPr>
          <a:xfrm>
            <a:off x="4666126" y="5087196"/>
            <a:ext cx="2841086" cy="0"/>
          </a:xfrm>
          <a:prstGeom prst="line">
            <a:avLst/>
          </a:prstGeom>
          <a:ln w="19050">
            <a:solidFill>
              <a:srgbClr val="005A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占位符 8">
            <a:extLst>
              <a:ext uri="{FF2B5EF4-FFF2-40B4-BE49-F238E27FC236}">
                <a16:creationId xmlns:a16="http://schemas.microsoft.com/office/drawing/2014/main" id="{D3310176-1BC8-FD4E-7DD9-AFD4A5A8C93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19853" y="5746739"/>
            <a:ext cx="1977154" cy="523221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2"/>
              </a:gs>
              <a:gs pos="35000">
                <a:srgbClr val="00419C"/>
              </a:gs>
            </a:gsLst>
            <a:lin ang="0" scaled="1"/>
          </a:gradFill>
        </p:spPr>
        <p:txBody>
          <a:bodyPr vert="horz" wrap="square" lIns="91440" tIns="45720" rIns="91440" bIns="45720" rtlCol="0" anchor="ctr" anchorCtr="0">
            <a:noAutofit/>
          </a:bodyPr>
          <a:lstStyle>
            <a:lvl1pPr>
              <a:defRPr lang="zh-CN" altLang="en-US" sz="1600" dirty="0">
                <a:solidFill>
                  <a:schemeClr val="bg1"/>
                </a:solidFill>
                <a:latin typeface="+mn-ea"/>
              </a:defRPr>
            </a:lvl1pPr>
          </a:lstStyle>
          <a:p>
            <a:pPr lvl="0" algn="ctr">
              <a:buNone/>
            </a:pPr>
            <a:r>
              <a:rPr lang="zh-CN" altLang="en-US" b="1" dirty="0">
                <a:latin typeface="+mj-ea"/>
                <a:ea typeface="+mj-ea"/>
              </a:rPr>
              <a:t>培养导师 薛杰</a:t>
            </a:r>
          </a:p>
        </p:txBody>
      </p:sp>
    </p:spTree>
    <p:extLst>
      <p:ext uri="{BB962C8B-B14F-4D97-AF65-F5344CB8AC3E}">
        <p14:creationId xmlns:p14="http://schemas.microsoft.com/office/powerpoint/2010/main" val="3262353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073E3F5-E44C-F731-0E52-918C01CC02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378" y="1305"/>
            <a:ext cx="12216372" cy="685669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A60821C-ECA1-A816-4331-C47398990117}"/>
              </a:ext>
            </a:extLst>
          </p:cNvPr>
          <p:cNvSpPr/>
          <p:nvPr userDrawn="1"/>
        </p:nvSpPr>
        <p:spPr>
          <a:xfrm>
            <a:off x="-24384" y="0"/>
            <a:ext cx="12216372" cy="6857999"/>
          </a:xfrm>
          <a:prstGeom prst="rect">
            <a:avLst/>
          </a:prstGeom>
          <a:solidFill>
            <a:schemeClr val="bg1">
              <a:alpha val="65000"/>
            </a:schemeClr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139C77F-7D90-A40C-A349-F62329C9896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345597" y="289127"/>
            <a:ext cx="2846403" cy="450233"/>
            <a:chOff x="768" y="1292"/>
            <a:chExt cx="5241" cy="829"/>
          </a:xfrm>
          <a:solidFill>
            <a:schemeClr val="accent1"/>
          </a:solidFill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96B0480-2074-4EEB-5101-1B134A1FD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7" y="1292"/>
              <a:ext cx="1742" cy="829"/>
            </a:xfrm>
            <a:custGeom>
              <a:avLst/>
              <a:gdLst>
                <a:gd name="T0" fmla="*/ 1742 w 1742"/>
                <a:gd name="T1" fmla="*/ 829 h 829"/>
                <a:gd name="T2" fmla="*/ 851 w 1742"/>
                <a:gd name="T3" fmla="*/ 829 h 829"/>
                <a:gd name="T4" fmla="*/ 851 w 1742"/>
                <a:gd name="T5" fmla="*/ 9 h 829"/>
                <a:gd name="T6" fmla="*/ 751 w 1742"/>
                <a:gd name="T7" fmla="*/ 9 h 829"/>
                <a:gd name="T8" fmla="*/ 751 w 1742"/>
                <a:gd name="T9" fmla="*/ 24 h 829"/>
                <a:gd name="T10" fmla="*/ 724 w 1742"/>
                <a:gd name="T11" fmla="*/ 24 h 829"/>
                <a:gd name="T12" fmla="*/ 724 w 1742"/>
                <a:gd name="T13" fmla="*/ 9 h 829"/>
                <a:gd name="T14" fmla="*/ 258 w 1742"/>
                <a:gd name="T15" fmla="*/ 9 h 829"/>
                <a:gd name="T16" fmla="*/ 258 w 1742"/>
                <a:gd name="T17" fmla="*/ 24 h 829"/>
                <a:gd name="T18" fmla="*/ 231 w 1742"/>
                <a:gd name="T19" fmla="*/ 24 h 829"/>
                <a:gd name="T20" fmla="*/ 231 w 1742"/>
                <a:gd name="T21" fmla="*/ 9 h 829"/>
                <a:gd name="T22" fmla="*/ 132 w 1742"/>
                <a:gd name="T23" fmla="*/ 9 h 829"/>
                <a:gd name="T24" fmla="*/ 132 w 1742"/>
                <a:gd name="T25" fmla="*/ 829 h 829"/>
                <a:gd name="T26" fmla="*/ 0 w 1742"/>
                <a:gd name="T27" fmla="*/ 829 h 829"/>
                <a:gd name="T28" fmla="*/ 0 w 1742"/>
                <a:gd name="T29" fmla="*/ 820 h 829"/>
                <a:gd name="T30" fmla="*/ 123 w 1742"/>
                <a:gd name="T31" fmla="*/ 820 h 829"/>
                <a:gd name="T32" fmla="*/ 123 w 1742"/>
                <a:gd name="T33" fmla="*/ 0 h 829"/>
                <a:gd name="T34" fmla="*/ 239 w 1742"/>
                <a:gd name="T35" fmla="*/ 0 h 829"/>
                <a:gd name="T36" fmla="*/ 239 w 1742"/>
                <a:gd name="T37" fmla="*/ 14 h 829"/>
                <a:gd name="T38" fmla="*/ 250 w 1742"/>
                <a:gd name="T39" fmla="*/ 14 h 829"/>
                <a:gd name="T40" fmla="*/ 250 w 1742"/>
                <a:gd name="T41" fmla="*/ 0 h 829"/>
                <a:gd name="T42" fmla="*/ 732 w 1742"/>
                <a:gd name="T43" fmla="*/ 0 h 829"/>
                <a:gd name="T44" fmla="*/ 732 w 1742"/>
                <a:gd name="T45" fmla="*/ 14 h 829"/>
                <a:gd name="T46" fmla="*/ 743 w 1742"/>
                <a:gd name="T47" fmla="*/ 14 h 829"/>
                <a:gd name="T48" fmla="*/ 743 w 1742"/>
                <a:gd name="T49" fmla="*/ 0 h 829"/>
                <a:gd name="T50" fmla="*/ 861 w 1742"/>
                <a:gd name="T51" fmla="*/ 0 h 829"/>
                <a:gd name="T52" fmla="*/ 861 w 1742"/>
                <a:gd name="T53" fmla="*/ 820 h 829"/>
                <a:gd name="T54" fmla="*/ 1742 w 1742"/>
                <a:gd name="T55" fmla="*/ 820 h 829"/>
                <a:gd name="T56" fmla="*/ 1742 w 1742"/>
                <a:gd name="T57" fmla="*/ 829 h 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42" h="829">
                  <a:moveTo>
                    <a:pt x="1742" y="829"/>
                  </a:moveTo>
                  <a:lnTo>
                    <a:pt x="851" y="829"/>
                  </a:lnTo>
                  <a:lnTo>
                    <a:pt x="851" y="9"/>
                  </a:lnTo>
                  <a:lnTo>
                    <a:pt x="751" y="9"/>
                  </a:lnTo>
                  <a:lnTo>
                    <a:pt x="751" y="24"/>
                  </a:lnTo>
                  <a:lnTo>
                    <a:pt x="724" y="24"/>
                  </a:lnTo>
                  <a:lnTo>
                    <a:pt x="724" y="9"/>
                  </a:lnTo>
                  <a:lnTo>
                    <a:pt x="258" y="9"/>
                  </a:lnTo>
                  <a:lnTo>
                    <a:pt x="258" y="24"/>
                  </a:lnTo>
                  <a:lnTo>
                    <a:pt x="231" y="24"/>
                  </a:lnTo>
                  <a:lnTo>
                    <a:pt x="231" y="9"/>
                  </a:lnTo>
                  <a:lnTo>
                    <a:pt x="132" y="9"/>
                  </a:lnTo>
                  <a:lnTo>
                    <a:pt x="132" y="829"/>
                  </a:lnTo>
                  <a:lnTo>
                    <a:pt x="0" y="829"/>
                  </a:lnTo>
                  <a:lnTo>
                    <a:pt x="0" y="820"/>
                  </a:lnTo>
                  <a:lnTo>
                    <a:pt x="123" y="820"/>
                  </a:lnTo>
                  <a:lnTo>
                    <a:pt x="123" y="0"/>
                  </a:lnTo>
                  <a:lnTo>
                    <a:pt x="239" y="0"/>
                  </a:lnTo>
                  <a:lnTo>
                    <a:pt x="239" y="14"/>
                  </a:lnTo>
                  <a:lnTo>
                    <a:pt x="250" y="14"/>
                  </a:lnTo>
                  <a:lnTo>
                    <a:pt x="250" y="0"/>
                  </a:lnTo>
                  <a:lnTo>
                    <a:pt x="732" y="0"/>
                  </a:lnTo>
                  <a:lnTo>
                    <a:pt x="732" y="14"/>
                  </a:lnTo>
                  <a:lnTo>
                    <a:pt x="743" y="14"/>
                  </a:lnTo>
                  <a:lnTo>
                    <a:pt x="743" y="0"/>
                  </a:lnTo>
                  <a:lnTo>
                    <a:pt x="861" y="0"/>
                  </a:lnTo>
                  <a:lnTo>
                    <a:pt x="861" y="820"/>
                  </a:lnTo>
                  <a:lnTo>
                    <a:pt x="1742" y="820"/>
                  </a:lnTo>
                  <a:lnTo>
                    <a:pt x="1742" y="8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2F5CA54-EC83-1598-21D0-3DADEA950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7" y="1471"/>
              <a:ext cx="482" cy="646"/>
            </a:xfrm>
            <a:custGeom>
              <a:avLst/>
              <a:gdLst>
                <a:gd name="T0" fmla="*/ 482 w 482"/>
                <a:gd name="T1" fmla="*/ 646 h 646"/>
                <a:gd name="T2" fmla="*/ 474 w 482"/>
                <a:gd name="T3" fmla="*/ 646 h 646"/>
                <a:gd name="T4" fmla="*/ 474 w 482"/>
                <a:gd name="T5" fmla="*/ 112 h 646"/>
                <a:gd name="T6" fmla="*/ 433 w 482"/>
                <a:gd name="T7" fmla="*/ 112 h 646"/>
                <a:gd name="T8" fmla="*/ 433 w 482"/>
                <a:gd name="T9" fmla="*/ 79 h 646"/>
                <a:gd name="T10" fmla="*/ 364 w 482"/>
                <a:gd name="T11" fmla="*/ 38 h 646"/>
                <a:gd name="T12" fmla="*/ 320 w 482"/>
                <a:gd name="T13" fmla="*/ 38 h 646"/>
                <a:gd name="T14" fmla="*/ 320 w 482"/>
                <a:gd name="T15" fmla="*/ 9 h 646"/>
                <a:gd name="T16" fmla="*/ 164 w 482"/>
                <a:gd name="T17" fmla="*/ 9 h 646"/>
                <a:gd name="T18" fmla="*/ 164 w 482"/>
                <a:gd name="T19" fmla="*/ 38 h 646"/>
                <a:gd name="T20" fmla="*/ 120 w 482"/>
                <a:gd name="T21" fmla="*/ 38 h 646"/>
                <a:gd name="T22" fmla="*/ 49 w 482"/>
                <a:gd name="T23" fmla="*/ 79 h 646"/>
                <a:gd name="T24" fmla="*/ 49 w 482"/>
                <a:gd name="T25" fmla="*/ 112 h 646"/>
                <a:gd name="T26" fmla="*/ 8 w 482"/>
                <a:gd name="T27" fmla="*/ 112 h 646"/>
                <a:gd name="T28" fmla="*/ 8 w 482"/>
                <a:gd name="T29" fmla="*/ 646 h 646"/>
                <a:gd name="T30" fmla="*/ 0 w 482"/>
                <a:gd name="T31" fmla="*/ 646 h 646"/>
                <a:gd name="T32" fmla="*/ 0 w 482"/>
                <a:gd name="T33" fmla="*/ 102 h 646"/>
                <a:gd name="T34" fmla="*/ 41 w 482"/>
                <a:gd name="T35" fmla="*/ 102 h 646"/>
                <a:gd name="T36" fmla="*/ 41 w 482"/>
                <a:gd name="T37" fmla="*/ 74 h 646"/>
                <a:gd name="T38" fmla="*/ 116 w 482"/>
                <a:gd name="T39" fmla="*/ 29 h 646"/>
                <a:gd name="T40" fmla="*/ 154 w 482"/>
                <a:gd name="T41" fmla="*/ 29 h 646"/>
                <a:gd name="T42" fmla="*/ 154 w 482"/>
                <a:gd name="T43" fmla="*/ 0 h 646"/>
                <a:gd name="T44" fmla="*/ 328 w 482"/>
                <a:gd name="T45" fmla="*/ 0 h 646"/>
                <a:gd name="T46" fmla="*/ 328 w 482"/>
                <a:gd name="T47" fmla="*/ 29 h 646"/>
                <a:gd name="T48" fmla="*/ 366 w 482"/>
                <a:gd name="T49" fmla="*/ 29 h 646"/>
                <a:gd name="T50" fmla="*/ 441 w 482"/>
                <a:gd name="T51" fmla="*/ 74 h 646"/>
                <a:gd name="T52" fmla="*/ 441 w 482"/>
                <a:gd name="T53" fmla="*/ 102 h 646"/>
                <a:gd name="T54" fmla="*/ 482 w 482"/>
                <a:gd name="T55" fmla="*/ 102 h 646"/>
                <a:gd name="T56" fmla="*/ 482 w 482"/>
                <a:gd name="T57" fmla="*/ 646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82" h="646">
                  <a:moveTo>
                    <a:pt x="482" y="646"/>
                  </a:moveTo>
                  <a:lnTo>
                    <a:pt x="474" y="646"/>
                  </a:lnTo>
                  <a:lnTo>
                    <a:pt x="474" y="112"/>
                  </a:lnTo>
                  <a:lnTo>
                    <a:pt x="433" y="112"/>
                  </a:lnTo>
                  <a:lnTo>
                    <a:pt x="433" y="79"/>
                  </a:lnTo>
                  <a:lnTo>
                    <a:pt x="364" y="38"/>
                  </a:lnTo>
                  <a:lnTo>
                    <a:pt x="320" y="38"/>
                  </a:lnTo>
                  <a:lnTo>
                    <a:pt x="320" y="9"/>
                  </a:lnTo>
                  <a:lnTo>
                    <a:pt x="164" y="9"/>
                  </a:lnTo>
                  <a:lnTo>
                    <a:pt x="164" y="38"/>
                  </a:lnTo>
                  <a:lnTo>
                    <a:pt x="120" y="38"/>
                  </a:lnTo>
                  <a:lnTo>
                    <a:pt x="49" y="79"/>
                  </a:lnTo>
                  <a:lnTo>
                    <a:pt x="49" y="112"/>
                  </a:lnTo>
                  <a:lnTo>
                    <a:pt x="8" y="112"/>
                  </a:lnTo>
                  <a:lnTo>
                    <a:pt x="8" y="646"/>
                  </a:lnTo>
                  <a:lnTo>
                    <a:pt x="0" y="646"/>
                  </a:lnTo>
                  <a:lnTo>
                    <a:pt x="0" y="102"/>
                  </a:lnTo>
                  <a:lnTo>
                    <a:pt x="41" y="102"/>
                  </a:lnTo>
                  <a:lnTo>
                    <a:pt x="41" y="74"/>
                  </a:lnTo>
                  <a:lnTo>
                    <a:pt x="116" y="29"/>
                  </a:lnTo>
                  <a:lnTo>
                    <a:pt x="154" y="29"/>
                  </a:lnTo>
                  <a:lnTo>
                    <a:pt x="154" y="0"/>
                  </a:lnTo>
                  <a:lnTo>
                    <a:pt x="328" y="0"/>
                  </a:lnTo>
                  <a:lnTo>
                    <a:pt x="328" y="29"/>
                  </a:lnTo>
                  <a:lnTo>
                    <a:pt x="366" y="29"/>
                  </a:lnTo>
                  <a:lnTo>
                    <a:pt x="441" y="74"/>
                  </a:lnTo>
                  <a:lnTo>
                    <a:pt x="441" y="102"/>
                  </a:lnTo>
                  <a:lnTo>
                    <a:pt x="482" y="102"/>
                  </a:lnTo>
                  <a:lnTo>
                    <a:pt x="482" y="64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81387C-07D5-E7E1-7A4B-5A981501B7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8" y="1614"/>
              <a:ext cx="2016" cy="507"/>
            </a:xfrm>
            <a:custGeom>
              <a:avLst/>
              <a:gdLst>
                <a:gd name="T0" fmla="*/ 1125 w 1178"/>
                <a:gd name="T1" fmla="*/ 294 h 294"/>
                <a:gd name="T2" fmla="*/ 1072 w 1178"/>
                <a:gd name="T3" fmla="*/ 231 h 294"/>
                <a:gd name="T4" fmla="*/ 959 w 1178"/>
                <a:gd name="T5" fmla="*/ 111 h 294"/>
                <a:gd name="T6" fmla="*/ 710 w 1178"/>
                <a:gd name="T7" fmla="*/ 53 h 294"/>
                <a:gd name="T8" fmla="*/ 647 w 1178"/>
                <a:gd name="T9" fmla="*/ 53 h 294"/>
                <a:gd name="T10" fmla="*/ 397 w 1178"/>
                <a:gd name="T11" fmla="*/ 111 h 294"/>
                <a:gd name="T12" fmla="*/ 284 w 1178"/>
                <a:gd name="T13" fmla="*/ 231 h 294"/>
                <a:gd name="T14" fmla="*/ 232 w 1178"/>
                <a:gd name="T15" fmla="*/ 294 h 294"/>
                <a:gd name="T16" fmla="*/ 0 w 1178"/>
                <a:gd name="T17" fmla="*/ 289 h 294"/>
                <a:gd name="T18" fmla="*/ 280 w 1178"/>
                <a:gd name="T19" fmla="*/ 227 h 294"/>
                <a:gd name="T20" fmla="*/ 394 w 1178"/>
                <a:gd name="T21" fmla="*/ 107 h 294"/>
                <a:gd name="T22" fmla="*/ 652 w 1178"/>
                <a:gd name="T23" fmla="*/ 51 h 294"/>
                <a:gd name="T24" fmla="*/ 705 w 1178"/>
                <a:gd name="T25" fmla="*/ 51 h 294"/>
                <a:gd name="T26" fmla="*/ 963 w 1178"/>
                <a:gd name="T27" fmla="*/ 107 h 294"/>
                <a:gd name="T28" fmla="*/ 1076 w 1178"/>
                <a:gd name="T29" fmla="*/ 227 h 294"/>
                <a:gd name="T30" fmla="*/ 1178 w 1178"/>
                <a:gd name="T31" fmla="*/ 289 h 294"/>
                <a:gd name="T32" fmla="*/ 1079 w 1178"/>
                <a:gd name="T33" fmla="*/ 294 h 294"/>
                <a:gd name="T34" fmla="*/ 1077 w 1178"/>
                <a:gd name="T35" fmla="*/ 293 h 294"/>
                <a:gd name="T36" fmla="*/ 1014 w 1178"/>
                <a:gd name="T37" fmla="*/ 214 h 294"/>
                <a:gd name="T38" fmla="*/ 838 w 1178"/>
                <a:gd name="T39" fmla="*/ 54 h 294"/>
                <a:gd name="T40" fmla="*/ 715 w 1178"/>
                <a:gd name="T41" fmla="*/ 94 h 294"/>
                <a:gd name="T42" fmla="*/ 690 w 1178"/>
                <a:gd name="T43" fmla="*/ 292 h 294"/>
                <a:gd name="T44" fmla="*/ 685 w 1178"/>
                <a:gd name="T45" fmla="*/ 283 h 294"/>
                <a:gd name="T46" fmla="*/ 760 w 1178"/>
                <a:gd name="T47" fmla="*/ 34 h 294"/>
                <a:gd name="T48" fmla="*/ 1000 w 1178"/>
                <a:gd name="T49" fmla="*/ 190 h 294"/>
                <a:gd name="T50" fmla="*/ 1057 w 1178"/>
                <a:gd name="T51" fmla="*/ 257 h 294"/>
                <a:gd name="T52" fmla="*/ 1081 w 1178"/>
                <a:gd name="T53" fmla="*/ 294 h 294"/>
                <a:gd name="T54" fmla="*/ 277 w 1178"/>
                <a:gd name="T55" fmla="*/ 294 h 294"/>
                <a:gd name="T56" fmla="*/ 300 w 1178"/>
                <a:gd name="T57" fmla="*/ 257 h 294"/>
                <a:gd name="T58" fmla="*/ 356 w 1178"/>
                <a:gd name="T59" fmla="*/ 190 h 294"/>
                <a:gd name="T60" fmla="*/ 597 w 1178"/>
                <a:gd name="T61" fmla="*/ 34 h 294"/>
                <a:gd name="T62" fmla="*/ 672 w 1178"/>
                <a:gd name="T63" fmla="*/ 283 h 294"/>
                <a:gd name="T64" fmla="*/ 666 w 1178"/>
                <a:gd name="T65" fmla="*/ 292 h 294"/>
                <a:gd name="T66" fmla="*/ 641 w 1178"/>
                <a:gd name="T67" fmla="*/ 94 h 294"/>
                <a:gd name="T68" fmla="*/ 519 w 1178"/>
                <a:gd name="T69" fmla="*/ 54 h 294"/>
                <a:gd name="T70" fmla="*/ 342 w 1178"/>
                <a:gd name="T71" fmla="*/ 214 h 294"/>
                <a:gd name="T72" fmla="*/ 280 w 1178"/>
                <a:gd name="T73" fmla="*/ 293 h 294"/>
                <a:gd name="T74" fmla="*/ 277 w 1178"/>
                <a:gd name="T75" fmla="*/ 292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78" h="294">
                  <a:moveTo>
                    <a:pt x="1178" y="294"/>
                  </a:moveTo>
                  <a:cubicBezTo>
                    <a:pt x="1125" y="294"/>
                    <a:pt x="1125" y="294"/>
                    <a:pt x="1125" y="294"/>
                  </a:cubicBezTo>
                  <a:cubicBezTo>
                    <a:pt x="1124" y="293"/>
                    <a:pt x="1124" y="293"/>
                    <a:pt x="1124" y="293"/>
                  </a:cubicBezTo>
                  <a:cubicBezTo>
                    <a:pt x="1124" y="293"/>
                    <a:pt x="1082" y="242"/>
                    <a:pt x="1072" y="231"/>
                  </a:cubicBezTo>
                  <a:cubicBezTo>
                    <a:pt x="1068" y="226"/>
                    <a:pt x="1068" y="226"/>
                    <a:pt x="1068" y="226"/>
                  </a:cubicBezTo>
                  <a:cubicBezTo>
                    <a:pt x="1034" y="186"/>
                    <a:pt x="1000" y="145"/>
                    <a:pt x="959" y="111"/>
                  </a:cubicBezTo>
                  <a:cubicBezTo>
                    <a:pt x="918" y="76"/>
                    <a:pt x="877" y="43"/>
                    <a:pt x="833" y="28"/>
                  </a:cubicBezTo>
                  <a:cubicBezTo>
                    <a:pt x="769" y="6"/>
                    <a:pt x="728" y="14"/>
                    <a:pt x="710" y="53"/>
                  </a:cubicBezTo>
                  <a:cubicBezTo>
                    <a:pt x="705" y="63"/>
                    <a:pt x="683" y="64"/>
                    <a:pt x="678" y="64"/>
                  </a:cubicBezTo>
                  <a:cubicBezTo>
                    <a:pt x="674" y="64"/>
                    <a:pt x="652" y="63"/>
                    <a:pt x="647" y="53"/>
                  </a:cubicBezTo>
                  <a:cubicBezTo>
                    <a:pt x="629" y="14"/>
                    <a:pt x="587" y="6"/>
                    <a:pt x="524" y="28"/>
                  </a:cubicBezTo>
                  <a:cubicBezTo>
                    <a:pt x="479" y="43"/>
                    <a:pt x="439" y="76"/>
                    <a:pt x="397" y="111"/>
                  </a:cubicBezTo>
                  <a:cubicBezTo>
                    <a:pt x="357" y="145"/>
                    <a:pt x="322" y="186"/>
                    <a:pt x="289" y="226"/>
                  </a:cubicBezTo>
                  <a:cubicBezTo>
                    <a:pt x="284" y="231"/>
                    <a:pt x="284" y="231"/>
                    <a:pt x="284" y="231"/>
                  </a:cubicBezTo>
                  <a:cubicBezTo>
                    <a:pt x="275" y="242"/>
                    <a:pt x="233" y="293"/>
                    <a:pt x="232" y="293"/>
                  </a:cubicBezTo>
                  <a:cubicBezTo>
                    <a:pt x="232" y="294"/>
                    <a:pt x="232" y="294"/>
                    <a:pt x="232" y="294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29" y="289"/>
                    <a:pt x="229" y="289"/>
                    <a:pt x="229" y="289"/>
                  </a:cubicBezTo>
                  <a:cubicBezTo>
                    <a:pt x="235" y="282"/>
                    <a:pt x="271" y="238"/>
                    <a:pt x="280" y="227"/>
                  </a:cubicBezTo>
                  <a:cubicBezTo>
                    <a:pt x="285" y="222"/>
                    <a:pt x="285" y="222"/>
                    <a:pt x="285" y="222"/>
                  </a:cubicBezTo>
                  <a:cubicBezTo>
                    <a:pt x="318" y="183"/>
                    <a:pt x="353" y="141"/>
                    <a:pt x="394" y="107"/>
                  </a:cubicBezTo>
                  <a:cubicBezTo>
                    <a:pt x="436" y="72"/>
                    <a:pt x="477" y="39"/>
                    <a:pt x="522" y="23"/>
                  </a:cubicBezTo>
                  <a:cubicBezTo>
                    <a:pt x="589" y="0"/>
                    <a:pt x="632" y="9"/>
                    <a:pt x="652" y="51"/>
                  </a:cubicBezTo>
                  <a:cubicBezTo>
                    <a:pt x="654" y="56"/>
                    <a:pt x="667" y="58"/>
                    <a:pt x="678" y="58"/>
                  </a:cubicBezTo>
                  <a:cubicBezTo>
                    <a:pt x="690" y="58"/>
                    <a:pt x="703" y="56"/>
                    <a:pt x="705" y="51"/>
                  </a:cubicBezTo>
                  <a:cubicBezTo>
                    <a:pt x="724" y="9"/>
                    <a:pt x="768" y="0"/>
                    <a:pt x="834" y="23"/>
                  </a:cubicBezTo>
                  <a:cubicBezTo>
                    <a:pt x="880" y="39"/>
                    <a:pt x="921" y="72"/>
                    <a:pt x="963" y="107"/>
                  </a:cubicBezTo>
                  <a:cubicBezTo>
                    <a:pt x="1003" y="141"/>
                    <a:pt x="1038" y="183"/>
                    <a:pt x="1072" y="222"/>
                  </a:cubicBezTo>
                  <a:cubicBezTo>
                    <a:pt x="1076" y="227"/>
                    <a:pt x="1076" y="227"/>
                    <a:pt x="1076" y="227"/>
                  </a:cubicBezTo>
                  <a:cubicBezTo>
                    <a:pt x="1085" y="238"/>
                    <a:pt x="1122" y="282"/>
                    <a:pt x="1128" y="289"/>
                  </a:cubicBezTo>
                  <a:cubicBezTo>
                    <a:pt x="1178" y="289"/>
                    <a:pt x="1178" y="289"/>
                    <a:pt x="1178" y="289"/>
                  </a:cubicBezTo>
                  <a:lnTo>
                    <a:pt x="1178" y="294"/>
                  </a:lnTo>
                  <a:close/>
                  <a:moveTo>
                    <a:pt x="1079" y="294"/>
                  </a:moveTo>
                  <a:cubicBezTo>
                    <a:pt x="1079" y="292"/>
                    <a:pt x="1079" y="292"/>
                    <a:pt x="1079" y="292"/>
                  </a:cubicBezTo>
                  <a:cubicBezTo>
                    <a:pt x="1077" y="293"/>
                    <a:pt x="1077" y="293"/>
                    <a:pt x="1077" y="293"/>
                  </a:cubicBezTo>
                  <a:cubicBezTo>
                    <a:pt x="1076" y="290"/>
                    <a:pt x="1055" y="263"/>
                    <a:pt x="1053" y="260"/>
                  </a:cubicBezTo>
                  <a:cubicBezTo>
                    <a:pt x="1039" y="243"/>
                    <a:pt x="1026" y="228"/>
                    <a:pt x="1014" y="214"/>
                  </a:cubicBezTo>
                  <a:cubicBezTo>
                    <a:pt x="1008" y="208"/>
                    <a:pt x="1002" y="201"/>
                    <a:pt x="996" y="194"/>
                  </a:cubicBezTo>
                  <a:cubicBezTo>
                    <a:pt x="950" y="140"/>
                    <a:pt x="902" y="84"/>
                    <a:pt x="838" y="54"/>
                  </a:cubicBezTo>
                  <a:cubicBezTo>
                    <a:pt x="814" y="44"/>
                    <a:pt x="786" y="33"/>
                    <a:pt x="761" y="40"/>
                  </a:cubicBezTo>
                  <a:cubicBezTo>
                    <a:pt x="736" y="46"/>
                    <a:pt x="723" y="73"/>
                    <a:pt x="715" y="94"/>
                  </a:cubicBezTo>
                  <a:cubicBezTo>
                    <a:pt x="695" y="156"/>
                    <a:pt x="693" y="218"/>
                    <a:pt x="690" y="283"/>
                  </a:cubicBezTo>
                  <a:cubicBezTo>
                    <a:pt x="690" y="292"/>
                    <a:pt x="690" y="292"/>
                    <a:pt x="690" y="292"/>
                  </a:cubicBezTo>
                  <a:cubicBezTo>
                    <a:pt x="685" y="291"/>
                    <a:pt x="685" y="291"/>
                    <a:pt x="685" y="291"/>
                  </a:cubicBezTo>
                  <a:cubicBezTo>
                    <a:pt x="685" y="283"/>
                    <a:pt x="685" y="283"/>
                    <a:pt x="685" y="283"/>
                  </a:cubicBezTo>
                  <a:cubicBezTo>
                    <a:pt x="687" y="217"/>
                    <a:pt x="689" y="155"/>
                    <a:pt x="710" y="92"/>
                  </a:cubicBezTo>
                  <a:cubicBezTo>
                    <a:pt x="718" y="70"/>
                    <a:pt x="733" y="42"/>
                    <a:pt x="760" y="34"/>
                  </a:cubicBezTo>
                  <a:cubicBezTo>
                    <a:pt x="787" y="28"/>
                    <a:pt x="815" y="38"/>
                    <a:pt x="840" y="50"/>
                  </a:cubicBezTo>
                  <a:cubicBezTo>
                    <a:pt x="905" y="80"/>
                    <a:pt x="954" y="136"/>
                    <a:pt x="1000" y="190"/>
                  </a:cubicBezTo>
                  <a:cubicBezTo>
                    <a:pt x="1006" y="197"/>
                    <a:pt x="1012" y="204"/>
                    <a:pt x="1018" y="211"/>
                  </a:cubicBezTo>
                  <a:cubicBezTo>
                    <a:pt x="1030" y="225"/>
                    <a:pt x="1043" y="240"/>
                    <a:pt x="1057" y="257"/>
                  </a:cubicBezTo>
                  <a:cubicBezTo>
                    <a:pt x="1069" y="272"/>
                    <a:pt x="1083" y="290"/>
                    <a:pt x="1082" y="293"/>
                  </a:cubicBezTo>
                  <a:cubicBezTo>
                    <a:pt x="1081" y="294"/>
                    <a:pt x="1081" y="294"/>
                    <a:pt x="1081" y="294"/>
                  </a:cubicBezTo>
                  <a:lnTo>
                    <a:pt x="1079" y="294"/>
                  </a:lnTo>
                  <a:close/>
                  <a:moveTo>
                    <a:pt x="277" y="294"/>
                  </a:moveTo>
                  <a:cubicBezTo>
                    <a:pt x="275" y="293"/>
                    <a:pt x="275" y="293"/>
                    <a:pt x="275" y="293"/>
                  </a:cubicBezTo>
                  <a:cubicBezTo>
                    <a:pt x="274" y="290"/>
                    <a:pt x="292" y="267"/>
                    <a:pt x="300" y="257"/>
                  </a:cubicBezTo>
                  <a:cubicBezTo>
                    <a:pt x="314" y="240"/>
                    <a:pt x="326" y="225"/>
                    <a:pt x="338" y="211"/>
                  </a:cubicBezTo>
                  <a:cubicBezTo>
                    <a:pt x="344" y="204"/>
                    <a:pt x="350" y="197"/>
                    <a:pt x="356" y="190"/>
                  </a:cubicBezTo>
                  <a:cubicBezTo>
                    <a:pt x="403" y="136"/>
                    <a:pt x="451" y="80"/>
                    <a:pt x="517" y="50"/>
                  </a:cubicBezTo>
                  <a:cubicBezTo>
                    <a:pt x="541" y="38"/>
                    <a:pt x="570" y="28"/>
                    <a:pt x="597" y="34"/>
                  </a:cubicBezTo>
                  <a:cubicBezTo>
                    <a:pt x="624" y="42"/>
                    <a:pt x="639" y="70"/>
                    <a:pt x="646" y="92"/>
                  </a:cubicBezTo>
                  <a:cubicBezTo>
                    <a:pt x="667" y="155"/>
                    <a:pt x="669" y="217"/>
                    <a:pt x="672" y="283"/>
                  </a:cubicBezTo>
                  <a:cubicBezTo>
                    <a:pt x="672" y="291"/>
                    <a:pt x="672" y="291"/>
                    <a:pt x="672" y="291"/>
                  </a:cubicBezTo>
                  <a:cubicBezTo>
                    <a:pt x="666" y="292"/>
                    <a:pt x="666" y="292"/>
                    <a:pt x="666" y="292"/>
                  </a:cubicBezTo>
                  <a:cubicBezTo>
                    <a:pt x="666" y="283"/>
                    <a:pt x="666" y="283"/>
                    <a:pt x="666" y="283"/>
                  </a:cubicBezTo>
                  <a:cubicBezTo>
                    <a:pt x="664" y="218"/>
                    <a:pt x="662" y="156"/>
                    <a:pt x="641" y="94"/>
                  </a:cubicBezTo>
                  <a:cubicBezTo>
                    <a:pt x="634" y="73"/>
                    <a:pt x="620" y="46"/>
                    <a:pt x="595" y="40"/>
                  </a:cubicBezTo>
                  <a:cubicBezTo>
                    <a:pt x="570" y="33"/>
                    <a:pt x="543" y="44"/>
                    <a:pt x="519" y="54"/>
                  </a:cubicBezTo>
                  <a:cubicBezTo>
                    <a:pt x="455" y="84"/>
                    <a:pt x="407" y="140"/>
                    <a:pt x="360" y="194"/>
                  </a:cubicBezTo>
                  <a:cubicBezTo>
                    <a:pt x="354" y="201"/>
                    <a:pt x="348" y="208"/>
                    <a:pt x="342" y="214"/>
                  </a:cubicBezTo>
                  <a:cubicBezTo>
                    <a:pt x="330" y="228"/>
                    <a:pt x="318" y="243"/>
                    <a:pt x="304" y="260"/>
                  </a:cubicBezTo>
                  <a:cubicBezTo>
                    <a:pt x="302" y="263"/>
                    <a:pt x="281" y="290"/>
                    <a:pt x="280" y="293"/>
                  </a:cubicBezTo>
                  <a:cubicBezTo>
                    <a:pt x="278" y="291"/>
                    <a:pt x="278" y="291"/>
                    <a:pt x="278" y="291"/>
                  </a:cubicBezTo>
                  <a:cubicBezTo>
                    <a:pt x="277" y="292"/>
                    <a:pt x="277" y="292"/>
                    <a:pt x="277" y="292"/>
                  </a:cubicBezTo>
                  <a:lnTo>
                    <a:pt x="277" y="294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07C9F47-7049-27B9-0001-B63DAB1C61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1893"/>
              <a:ext cx="1027" cy="228"/>
            </a:xfrm>
            <a:custGeom>
              <a:avLst/>
              <a:gdLst>
                <a:gd name="T0" fmla="*/ 1027 w 1027"/>
                <a:gd name="T1" fmla="*/ 228 h 228"/>
                <a:gd name="T2" fmla="*/ 879 w 1027"/>
                <a:gd name="T3" fmla="*/ 228 h 228"/>
                <a:gd name="T4" fmla="*/ 879 w 1027"/>
                <a:gd name="T5" fmla="*/ 11 h 228"/>
                <a:gd name="T6" fmla="*/ 67 w 1027"/>
                <a:gd name="T7" fmla="*/ 11 h 228"/>
                <a:gd name="T8" fmla="*/ 67 w 1027"/>
                <a:gd name="T9" fmla="*/ 228 h 228"/>
                <a:gd name="T10" fmla="*/ 0 w 1027"/>
                <a:gd name="T11" fmla="*/ 228 h 228"/>
                <a:gd name="T12" fmla="*/ 0 w 1027"/>
                <a:gd name="T13" fmla="*/ 219 h 228"/>
                <a:gd name="T14" fmla="*/ 57 w 1027"/>
                <a:gd name="T15" fmla="*/ 219 h 228"/>
                <a:gd name="T16" fmla="*/ 57 w 1027"/>
                <a:gd name="T17" fmla="*/ 0 h 228"/>
                <a:gd name="T18" fmla="*/ 887 w 1027"/>
                <a:gd name="T19" fmla="*/ 0 h 228"/>
                <a:gd name="T20" fmla="*/ 887 w 1027"/>
                <a:gd name="T21" fmla="*/ 219 h 228"/>
                <a:gd name="T22" fmla="*/ 1027 w 1027"/>
                <a:gd name="T23" fmla="*/ 219 h 228"/>
                <a:gd name="T24" fmla="*/ 1027 w 1027"/>
                <a:gd name="T25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7" h="228">
                  <a:moveTo>
                    <a:pt x="1027" y="228"/>
                  </a:moveTo>
                  <a:lnTo>
                    <a:pt x="879" y="228"/>
                  </a:lnTo>
                  <a:lnTo>
                    <a:pt x="879" y="11"/>
                  </a:lnTo>
                  <a:lnTo>
                    <a:pt x="67" y="11"/>
                  </a:lnTo>
                  <a:lnTo>
                    <a:pt x="67" y="228"/>
                  </a:lnTo>
                  <a:lnTo>
                    <a:pt x="0" y="228"/>
                  </a:lnTo>
                  <a:lnTo>
                    <a:pt x="0" y="219"/>
                  </a:lnTo>
                  <a:lnTo>
                    <a:pt x="57" y="219"/>
                  </a:lnTo>
                  <a:lnTo>
                    <a:pt x="57" y="0"/>
                  </a:lnTo>
                  <a:lnTo>
                    <a:pt x="887" y="0"/>
                  </a:lnTo>
                  <a:lnTo>
                    <a:pt x="887" y="219"/>
                  </a:lnTo>
                  <a:lnTo>
                    <a:pt x="1027" y="219"/>
                  </a:lnTo>
                  <a:lnTo>
                    <a:pt x="1027" y="22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620804C-E8C1-F91F-A888-B730A57A83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9" y="1948"/>
              <a:ext cx="183" cy="169"/>
            </a:xfrm>
            <a:custGeom>
              <a:avLst/>
              <a:gdLst>
                <a:gd name="T0" fmla="*/ 5 w 107"/>
                <a:gd name="T1" fmla="*/ 98 h 98"/>
                <a:gd name="T2" fmla="*/ 0 w 107"/>
                <a:gd name="T3" fmla="*/ 98 h 98"/>
                <a:gd name="T4" fmla="*/ 0 w 107"/>
                <a:gd name="T5" fmla="*/ 13 h 98"/>
                <a:gd name="T6" fmla="*/ 6 w 107"/>
                <a:gd name="T7" fmla="*/ 7 h 98"/>
                <a:gd name="T8" fmla="*/ 11 w 107"/>
                <a:gd name="T9" fmla="*/ 6 h 98"/>
                <a:gd name="T10" fmla="*/ 19 w 107"/>
                <a:gd name="T11" fmla="*/ 4 h 98"/>
                <a:gd name="T12" fmla="*/ 28 w 107"/>
                <a:gd name="T13" fmla="*/ 0 h 98"/>
                <a:gd name="T14" fmla="*/ 29 w 107"/>
                <a:gd name="T15" fmla="*/ 0 h 98"/>
                <a:gd name="T16" fmla="*/ 59 w 107"/>
                <a:gd name="T17" fmla="*/ 0 h 98"/>
                <a:gd name="T18" fmla="*/ 78 w 107"/>
                <a:gd name="T19" fmla="*/ 0 h 98"/>
                <a:gd name="T20" fmla="*/ 86 w 107"/>
                <a:gd name="T21" fmla="*/ 4 h 98"/>
                <a:gd name="T22" fmla="*/ 91 w 107"/>
                <a:gd name="T23" fmla="*/ 5 h 98"/>
                <a:gd name="T24" fmla="*/ 94 w 107"/>
                <a:gd name="T25" fmla="*/ 5 h 98"/>
                <a:gd name="T26" fmla="*/ 94 w 107"/>
                <a:gd name="T27" fmla="*/ 6 h 98"/>
                <a:gd name="T28" fmla="*/ 107 w 107"/>
                <a:gd name="T29" fmla="*/ 20 h 98"/>
                <a:gd name="T30" fmla="*/ 107 w 107"/>
                <a:gd name="T31" fmla="*/ 74 h 98"/>
                <a:gd name="T32" fmla="*/ 107 w 107"/>
                <a:gd name="T33" fmla="*/ 97 h 98"/>
                <a:gd name="T34" fmla="*/ 102 w 107"/>
                <a:gd name="T35" fmla="*/ 97 h 98"/>
                <a:gd name="T36" fmla="*/ 101 w 107"/>
                <a:gd name="T37" fmla="*/ 74 h 98"/>
                <a:gd name="T38" fmla="*/ 101 w 107"/>
                <a:gd name="T39" fmla="*/ 20 h 98"/>
                <a:gd name="T40" fmla="*/ 94 w 107"/>
                <a:gd name="T41" fmla="*/ 11 h 98"/>
                <a:gd name="T42" fmla="*/ 93 w 107"/>
                <a:gd name="T43" fmla="*/ 11 h 98"/>
                <a:gd name="T44" fmla="*/ 91 w 107"/>
                <a:gd name="T45" fmla="*/ 11 h 98"/>
                <a:gd name="T46" fmla="*/ 82 w 107"/>
                <a:gd name="T47" fmla="*/ 7 h 98"/>
                <a:gd name="T48" fmla="*/ 78 w 107"/>
                <a:gd name="T49" fmla="*/ 6 h 98"/>
                <a:gd name="T50" fmla="*/ 59 w 107"/>
                <a:gd name="T51" fmla="*/ 6 h 98"/>
                <a:gd name="T52" fmla="*/ 29 w 107"/>
                <a:gd name="T53" fmla="*/ 6 h 98"/>
                <a:gd name="T54" fmla="*/ 27 w 107"/>
                <a:gd name="T55" fmla="*/ 6 h 98"/>
                <a:gd name="T56" fmla="*/ 24 w 107"/>
                <a:gd name="T57" fmla="*/ 7 h 98"/>
                <a:gd name="T58" fmla="*/ 20 w 107"/>
                <a:gd name="T59" fmla="*/ 10 h 98"/>
                <a:gd name="T60" fmla="*/ 13 w 107"/>
                <a:gd name="T61" fmla="*/ 11 h 98"/>
                <a:gd name="T62" fmla="*/ 6 w 107"/>
                <a:gd name="T63" fmla="*/ 12 h 98"/>
                <a:gd name="T64" fmla="*/ 5 w 107"/>
                <a:gd name="T65" fmla="*/ 12 h 98"/>
                <a:gd name="T66" fmla="*/ 5 w 107"/>
                <a:gd name="T67" fmla="*/ 13 h 98"/>
                <a:gd name="T68" fmla="*/ 5 w 107"/>
                <a:gd name="T69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7" h="98">
                  <a:moveTo>
                    <a:pt x="5" y="98"/>
                  </a:moveTo>
                  <a:cubicBezTo>
                    <a:pt x="0" y="98"/>
                    <a:pt x="0" y="98"/>
                    <a:pt x="0" y="98"/>
                  </a:cubicBezTo>
                  <a:cubicBezTo>
                    <a:pt x="0" y="65"/>
                    <a:pt x="0" y="46"/>
                    <a:pt x="0" y="13"/>
                  </a:cubicBezTo>
                  <a:cubicBezTo>
                    <a:pt x="0" y="11"/>
                    <a:pt x="1" y="7"/>
                    <a:pt x="6" y="7"/>
                  </a:cubicBezTo>
                  <a:cubicBezTo>
                    <a:pt x="8" y="6"/>
                    <a:pt x="10" y="6"/>
                    <a:pt x="11" y="6"/>
                  </a:cubicBezTo>
                  <a:cubicBezTo>
                    <a:pt x="14" y="5"/>
                    <a:pt x="16" y="4"/>
                    <a:pt x="19" y="4"/>
                  </a:cubicBezTo>
                  <a:cubicBezTo>
                    <a:pt x="21" y="0"/>
                    <a:pt x="25" y="0"/>
                    <a:pt x="28" y="0"/>
                  </a:cubicBezTo>
                  <a:cubicBezTo>
                    <a:pt x="28" y="0"/>
                    <a:pt x="29" y="0"/>
                    <a:pt x="29" y="0"/>
                  </a:cubicBezTo>
                  <a:cubicBezTo>
                    <a:pt x="39" y="0"/>
                    <a:pt x="49" y="0"/>
                    <a:pt x="59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4" y="1"/>
                    <a:pt x="86" y="4"/>
                  </a:cubicBezTo>
                  <a:cubicBezTo>
                    <a:pt x="87" y="5"/>
                    <a:pt x="89" y="5"/>
                    <a:pt x="91" y="5"/>
                  </a:cubicBezTo>
                  <a:cubicBezTo>
                    <a:pt x="92" y="5"/>
                    <a:pt x="93" y="5"/>
                    <a:pt x="94" y="5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106" y="7"/>
                    <a:pt x="107" y="8"/>
                    <a:pt x="107" y="20"/>
                  </a:cubicBezTo>
                  <a:cubicBezTo>
                    <a:pt x="107" y="74"/>
                    <a:pt x="107" y="74"/>
                    <a:pt x="107" y="74"/>
                  </a:cubicBezTo>
                  <a:cubicBezTo>
                    <a:pt x="107" y="81"/>
                    <a:pt x="107" y="86"/>
                    <a:pt x="107" y="97"/>
                  </a:cubicBezTo>
                  <a:cubicBezTo>
                    <a:pt x="102" y="97"/>
                    <a:pt x="102" y="97"/>
                    <a:pt x="102" y="97"/>
                  </a:cubicBezTo>
                  <a:cubicBezTo>
                    <a:pt x="101" y="86"/>
                    <a:pt x="101" y="81"/>
                    <a:pt x="101" y="74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2"/>
                    <a:pt x="101" y="12"/>
                    <a:pt x="94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2" y="11"/>
                    <a:pt x="92" y="11"/>
                    <a:pt x="91" y="11"/>
                  </a:cubicBezTo>
                  <a:cubicBezTo>
                    <a:pt x="88" y="10"/>
                    <a:pt x="84" y="10"/>
                    <a:pt x="82" y="7"/>
                  </a:cubicBezTo>
                  <a:cubicBezTo>
                    <a:pt x="81" y="6"/>
                    <a:pt x="80" y="6"/>
                    <a:pt x="78" y="6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49" y="6"/>
                    <a:pt x="39" y="6"/>
                    <a:pt x="29" y="6"/>
                  </a:cubicBezTo>
                  <a:cubicBezTo>
                    <a:pt x="28" y="6"/>
                    <a:pt x="28" y="6"/>
                    <a:pt x="27" y="6"/>
                  </a:cubicBezTo>
                  <a:cubicBezTo>
                    <a:pt x="24" y="5"/>
                    <a:pt x="24" y="5"/>
                    <a:pt x="24" y="7"/>
                  </a:cubicBezTo>
                  <a:cubicBezTo>
                    <a:pt x="24" y="8"/>
                    <a:pt x="23" y="10"/>
                    <a:pt x="20" y="10"/>
                  </a:cubicBezTo>
                  <a:cubicBezTo>
                    <a:pt x="17" y="10"/>
                    <a:pt x="15" y="10"/>
                    <a:pt x="13" y="11"/>
                  </a:cubicBezTo>
                  <a:cubicBezTo>
                    <a:pt x="11" y="11"/>
                    <a:pt x="9" y="12"/>
                    <a:pt x="6" y="12"/>
                  </a:cubicBezTo>
                  <a:cubicBezTo>
                    <a:pt x="6" y="12"/>
                    <a:pt x="5" y="12"/>
                    <a:pt x="5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5" y="46"/>
                    <a:pt x="5" y="65"/>
                    <a:pt x="5" y="98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E660067-2107-2932-3684-2B2EBC2D6E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47" y="1656"/>
              <a:ext cx="1226" cy="229"/>
            </a:xfrm>
            <a:custGeom>
              <a:avLst/>
              <a:gdLst>
                <a:gd name="T0" fmla="*/ 67 w 716"/>
                <a:gd name="T1" fmla="*/ 112 h 133"/>
                <a:gd name="T2" fmla="*/ 49 w 716"/>
                <a:gd name="T3" fmla="*/ 101 h 133"/>
                <a:gd name="T4" fmla="*/ 30 w 716"/>
                <a:gd name="T5" fmla="*/ 86 h 133"/>
                <a:gd name="T6" fmla="*/ 11 w 716"/>
                <a:gd name="T7" fmla="*/ 53 h 133"/>
                <a:gd name="T8" fmla="*/ 25 w 716"/>
                <a:gd name="T9" fmla="*/ 52 h 133"/>
                <a:gd name="T10" fmla="*/ 36 w 716"/>
                <a:gd name="T11" fmla="*/ 52 h 133"/>
                <a:gd name="T12" fmla="*/ 45 w 716"/>
                <a:gd name="T13" fmla="*/ 52 h 133"/>
                <a:gd name="T14" fmla="*/ 55 w 716"/>
                <a:gd name="T15" fmla="*/ 54 h 133"/>
                <a:gd name="T16" fmla="*/ 72 w 716"/>
                <a:gd name="T17" fmla="*/ 60 h 133"/>
                <a:gd name="T18" fmla="*/ 73 w 716"/>
                <a:gd name="T19" fmla="*/ 56 h 133"/>
                <a:gd name="T20" fmla="*/ 93 w 716"/>
                <a:gd name="T21" fmla="*/ 56 h 133"/>
                <a:gd name="T22" fmla="*/ 127 w 716"/>
                <a:gd name="T23" fmla="*/ 62 h 133"/>
                <a:gd name="T24" fmla="*/ 150 w 716"/>
                <a:gd name="T25" fmla="*/ 62 h 133"/>
                <a:gd name="T26" fmla="*/ 173 w 716"/>
                <a:gd name="T27" fmla="*/ 48 h 133"/>
                <a:gd name="T28" fmla="*/ 178 w 716"/>
                <a:gd name="T29" fmla="*/ 19 h 133"/>
                <a:gd name="T30" fmla="*/ 190 w 716"/>
                <a:gd name="T31" fmla="*/ 11 h 133"/>
                <a:gd name="T32" fmla="*/ 207 w 716"/>
                <a:gd name="T33" fmla="*/ 2 h 133"/>
                <a:gd name="T34" fmla="*/ 211 w 716"/>
                <a:gd name="T35" fmla="*/ 23 h 133"/>
                <a:gd name="T36" fmla="*/ 496 w 716"/>
                <a:gd name="T37" fmla="*/ 27 h 133"/>
                <a:gd name="T38" fmla="*/ 516 w 716"/>
                <a:gd name="T39" fmla="*/ 8 h 133"/>
                <a:gd name="T40" fmla="*/ 530 w 716"/>
                <a:gd name="T41" fmla="*/ 10 h 133"/>
                <a:gd name="T42" fmla="*/ 536 w 716"/>
                <a:gd name="T43" fmla="*/ 28 h 133"/>
                <a:gd name="T44" fmla="*/ 561 w 716"/>
                <a:gd name="T45" fmla="*/ 62 h 133"/>
                <a:gd name="T46" fmla="*/ 612 w 716"/>
                <a:gd name="T47" fmla="*/ 56 h 133"/>
                <a:gd name="T48" fmla="*/ 622 w 716"/>
                <a:gd name="T49" fmla="*/ 64 h 133"/>
                <a:gd name="T50" fmla="*/ 635 w 716"/>
                <a:gd name="T51" fmla="*/ 59 h 133"/>
                <a:gd name="T52" fmla="*/ 649 w 716"/>
                <a:gd name="T53" fmla="*/ 63 h 133"/>
                <a:gd name="T54" fmla="*/ 662 w 716"/>
                <a:gd name="T55" fmla="*/ 61 h 133"/>
                <a:gd name="T56" fmla="*/ 678 w 716"/>
                <a:gd name="T57" fmla="*/ 56 h 133"/>
                <a:gd name="T58" fmla="*/ 691 w 716"/>
                <a:gd name="T59" fmla="*/ 54 h 133"/>
                <a:gd name="T60" fmla="*/ 702 w 716"/>
                <a:gd name="T61" fmla="*/ 52 h 133"/>
                <a:gd name="T62" fmla="*/ 714 w 716"/>
                <a:gd name="T63" fmla="*/ 60 h 133"/>
                <a:gd name="T64" fmla="*/ 684 w 716"/>
                <a:gd name="T65" fmla="*/ 90 h 133"/>
                <a:gd name="T66" fmla="*/ 653 w 716"/>
                <a:gd name="T67" fmla="*/ 108 h 133"/>
                <a:gd name="T68" fmla="*/ 601 w 716"/>
                <a:gd name="T69" fmla="*/ 133 h 133"/>
                <a:gd name="T70" fmla="*/ 599 w 716"/>
                <a:gd name="T71" fmla="*/ 128 h 133"/>
                <a:gd name="T72" fmla="*/ 652 w 716"/>
                <a:gd name="T73" fmla="*/ 103 h 133"/>
                <a:gd name="T74" fmla="*/ 691 w 716"/>
                <a:gd name="T75" fmla="*/ 78 h 133"/>
                <a:gd name="T76" fmla="*/ 701 w 716"/>
                <a:gd name="T77" fmla="*/ 58 h 133"/>
                <a:gd name="T78" fmla="*/ 683 w 716"/>
                <a:gd name="T79" fmla="*/ 57 h 133"/>
                <a:gd name="T80" fmla="*/ 657 w 716"/>
                <a:gd name="T81" fmla="*/ 64 h 133"/>
                <a:gd name="T82" fmla="*/ 637 w 716"/>
                <a:gd name="T83" fmla="*/ 70 h 133"/>
                <a:gd name="T84" fmla="*/ 616 w 716"/>
                <a:gd name="T85" fmla="*/ 63 h 133"/>
                <a:gd name="T86" fmla="*/ 606 w 716"/>
                <a:gd name="T87" fmla="*/ 66 h 133"/>
                <a:gd name="T88" fmla="*/ 562 w 716"/>
                <a:gd name="T89" fmla="*/ 67 h 133"/>
                <a:gd name="T90" fmla="*/ 530 w 716"/>
                <a:gd name="T91" fmla="*/ 26 h 133"/>
                <a:gd name="T92" fmla="*/ 518 w 716"/>
                <a:gd name="T93" fmla="*/ 15 h 133"/>
                <a:gd name="T94" fmla="*/ 508 w 716"/>
                <a:gd name="T95" fmla="*/ 21 h 133"/>
                <a:gd name="T96" fmla="*/ 220 w 716"/>
                <a:gd name="T97" fmla="*/ 32 h 133"/>
                <a:gd name="T98" fmla="*/ 206 w 716"/>
                <a:gd name="T99" fmla="*/ 15 h 133"/>
                <a:gd name="T100" fmla="*/ 193 w 716"/>
                <a:gd name="T101" fmla="*/ 16 h 133"/>
                <a:gd name="T102" fmla="*/ 182 w 716"/>
                <a:gd name="T103" fmla="*/ 30 h 133"/>
                <a:gd name="T104" fmla="*/ 152 w 716"/>
                <a:gd name="T105" fmla="*/ 67 h 133"/>
                <a:gd name="T106" fmla="*/ 108 w 716"/>
                <a:gd name="T107" fmla="*/ 66 h 133"/>
                <a:gd name="T108" fmla="*/ 96 w 716"/>
                <a:gd name="T109" fmla="*/ 60 h 133"/>
                <a:gd name="T110" fmla="*/ 80 w 716"/>
                <a:gd name="T111" fmla="*/ 68 h 133"/>
                <a:gd name="T112" fmla="*/ 56 w 716"/>
                <a:gd name="T113" fmla="*/ 64 h 133"/>
                <a:gd name="T114" fmla="*/ 33 w 716"/>
                <a:gd name="T115" fmla="*/ 57 h 133"/>
                <a:gd name="T116" fmla="*/ 19 w 716"/>
                <a:gd name="T117" fmla="*/ 54 h 133"/>
                <a:gd name="T118" fmla="*/ 6 w 716"/>
                <a:gd name="T119" fmla="*/ 67 h 133"/>
                <a:gd name="T120" fmla="*/ 37 w 716"/>
                <a:gd name="T121" fmla="*/ 86 h 133"/>
                <a:gd name="T122" fmla="*/ 56 w 716"/>
                <a:gd name="T123" fmla="*/ 9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16" h="133">
                  <a:moveTo>
                    <a:pt x="113" y="133"/>
                  </a:moveTo>
                  <a:cubicBezTo>
                    <a:pt x="112" y="133"/>
                    <a:pt x="112" y="133"/>
                    <a:pt x="112" y="133"/>
                  </a:cubicBezTo>
                  <a:cubicBezTo>
                    <a:pt x="103" y="130"/>
                    <a:pt x="94" y="126"/>
                    <a:pt x="85" y="122"/>
                  </a:cubicBezTo>
                  <a:cubicBezTo>
                    <a:pt x="83" y="121"/>
                    <a:pt x="81" y="120"/>
                    <a:pt x="80" y="119"/>
                  </a:cubicBezTo>
                  <a:cubicBezTo>
                    <a:pt x="76" y="117"/>
                    <a:pt x="73" y="115"/>
                    <a:pt x="69" y="114"/>
                  </a:cubicBezTo>
                  <a:cubicBezTo>
                    <a:pt x="67" y="114"/>
                    <a:pt x="67" y="114"/>
                    <a:pt x="67" y="114"/>
                  </a:cubicBezTo>
                  <a:cubicBezTo>
                    <a:pt x="67" y="112"/>
                    <a:pt x="67" y="112"/>
                    <a:pt x="67" y="112"/>
                  </a:cubicBezTo>
                  <a:cubicBezTo>
                    <a:pt x="67" y="112"/>
                    <a:pt x="67" y="112"/>
                    <a:pt x="65" y="111"/>
                  </a:cubicBezTo>
                  <a:cubicBezTo>
                    <a:pt x="64" y="111"/>
                    <a:pt x="62" y="110"/>
                    <a:pt x="60" y="108"/>
                  </a:cubicBezTo>
                  <a:cubicBezTo>
                    <a:pt x="60" y="108"/>
                    <a:pt x="60" y="108"/>
                    <a:pt x="60" y="108"/>
                  </a:cubicBezTo>
                  <a:cubicBezTo>
                    <a:pt x="57" y="108"/>
                    <a:pt x="55" y="107"/>
                    <a:pt x="55" y="104"/>
                  </a:cubicBezTo>
                  <a:cubicBezTo>
                    <a:pt x="54" y="104"/>
                    <a:pt x="54" y="104"/>
                    <a:pt x="54" y="104"/>
                  </a:cubicBezTo>
                  <a:cubicBezTo>
                    <a:pt x="52" y="103"/>
                    <a:pt x="52" y="103"/>
                    <a:pt x="52" y="103"/>
                  </a:cubicBezTo>
                  <a:cubicBezTo>
                    <a:pt x="52" y="102"/>
                    <a:pt x="51" y="102"/>
                    <a:pt x="49" y="101"/>
                  </a:cubicBezTo>
                  <a:cubicBezTo>
                    <a:pt x="47" y="100"/>
                    <a:pt x="44" y="99"/>
                    <a:pt x="43" y="96"/>
                  </a:cubicBezTo>
                  <a:cubicBezTo>
                    <a:pt x="43" y="96"/>
                    <a:pt x="42" y="96"/>
                    <a:pt x="42" y="96"/>
                  </a:cubicBezTo>
                  <a:cubicBezTo>
                    <a:pt x="39" y="96"/>
                    <a:pt x="38" y="93"/>
                    <a:pt x="37" y="92"/>
                  </a:cubicBezTo>
                  <a:cubicBezTo>
                    <a:pt x="37" y="92"/>
                    <a:pt x="37" y="91"/>
                    <a:pt x="37" y="91"/>
                  </a:cubicBezTo>
                  <a:cubicBezTo>
                    <a:pt x="37" y="91"/>
                    <a:pt x="37" y="91"/>
                    <a:pt x="37" y="91"/>
                  </a:cubicBezTo>
                  <a:cubicBezTo>
                    <a:pt x="35" y="91"/>
                    <a:pt x="33" y="91"/>
                    <a:pt x="31" y="89"/>
                  </a:cubicBezTo>
                  <a:cubicBezTo>
                    <a:pt x="31" y="88"/>
                    <a:pt x="30" y="87"/>
                    <a:pt x="30" y="86"/>
                  </a:cubicBezTo>
                  <a:cubicBezTo>
                    <a:pt x="25" y="84"/>
                    <a:pt x="21" y="82"/>
                    <a:pt x="16" y="80"/>
                  </a:cubicBezTo>
                  <a:cubicBezTo>
                    <a:pt x="13" y="78"/>
                    <a:pt x="10" y="76"/>
                    <a:pt x="7" y="75"/>
                  </a:cubicBezTo>
                  <a:cubicBezTo>
                    <a:pt x="4" y="74"/>
                    <a:pt x="2" y="71"/>
                    <a:pt x="1" y="68"/>
                  </a:cubicBezTo>
                  <a:cubicBezTo>
                    <a:pt x="0" y="67"/>
                    <a:pt x="0" y="65"/>
                    <a:pt x="1" y="63"/>
                  </a:cubicBezTo>
                  <a:cubicBezTo>
                    <a:pt x="2" y="62"/>
                    <a:pt x="3" y="61"/>
                    <a:pt x="6" y="62"/>
                  </a:cubicBezTo>
                  <a:cubicBezTo>
                    <a:pt x="5" y="59"/>
                    <a:pt x="7" y="57"/>
                    <a:pt x="8" y="56"/>
                  </a:cubicBezTo>
                  <a:cubicBezTo>
                    <a:pt x="9" y="55"/>
                    <a:pt x="10" y="54"/>
                    <a:pt x="11" y="53"/>
                  </a:cubicBezTo>
                  <a:cubicBezTo>
                    <a:pt x="13" y="52"/>
                    <a:pt x="14" y="52"/>
                    <a:pt x="13" y="51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7"/>
                    <a:pt x="17" y="47"/>
                  </a:cubicBezTo>
                  <a:cubicBezTo>
                    <a:pt x="18" y="47"/>
                    <a:pt x="21" y="47"/>
                    <a:pt x="22" y="49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3" y="49"/>
                    <a:pt x="25" y="50"/>
                    <a:pt x="25" y="52"/>
                  </a:cubicBezTo>
                  <a:cubicBezTo>
                    <a:pt x="26" y="53"/>
                    <a:pt x="25" y="53"/>
                    <a:pt x="25" y="54"/>
                  </a:cubicBezTo>
                  <a:cubicBezTo>
                    <a:pt x="26" y="54"/>
                    <a:pt x="26" y="54"/>
                    <a:pt x="27" y="54"/>
                  </a:cubicBezTo>
                  <a:cubicBezTo>
                    <a:pt x="27" y="54"/>
                    <a:pt x="28" y="54"/>
                    <a:pt x="28" y="54"/>
                  </a:cubicBezTo>
                  <a:cubicBezTo>
                    <a:pt x="28" y="54"/>
                    <a:pt x="28" y="53"/>
                    <a:pt x="28" y="52"/>
                  </a:cubicBezTo>
                  <a:cubicBezTo>
                    <a:pt x="28" y="50"/>
                    <a:pt x="29" y="49"/>
                    <a:pt x="30" y="49"/>
                  </a:cubicBezTo>
                  <a:cubicBezTo>
                    <a:pt x="32" y="48"/>
                    <a:pt x="34" y="48"/>
                    <a:pt x="35" y="50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37" y="53"/>
                    <a:pt x="38" y="55"/>
                    <a:pt x="39" y="57"/>
                  </a:cubicBezTo>
                  <a:cubicBezTo>
                    <a:pt x="39" y="58"/>
                    <a:pt x="39" y="58"/>
                    <a:pt x="39" y="58"/>
                  </a:cubicBezTo>
                  <a:cubicBezTo>
                    <a:pt x="40" y="58"/>
                    <a:pt x="41" y="58"/>
                    <a:pt x="41" y="58"/>
                  </a:cubicBezTo>
                  <a:cubicBezTo>
                    <a:pt x="41" y="58"/>
                    <a:pt x="41" y="57"/>
                    <a:pt x="41" y="56"/>
                  </a:cubicBezTo>
                  <a:cubicBezTo>
                    <a:pt x="41" y="55"/>
                    <a:pt x="41" y="54"/>
                    <a:pt x="42" y="53"/>
                  </a:cubicBezTo>
                  <a:cubicBezTo>
                    <a:pt x="42" y="52"/>
                    <a:pt x="43" y="52"/>
                    <a:pt x="45" y="52"/>
                  </a:cubicBezTo>
                  <a:cubicBezTo>
                    <a:pt x="45" y="52"/>
                    <a:pt x="45" y="52"/>
                    <a:pt x="45" y="52"/>
                  </a:cubicBezTo>
                  <a:cubicBezTo>
                    <a:pt x="47" y="52"/>
                    <a:pt x="49" y="53"/>
                    <a:pt x="49" y="55"/>
                  </a:cubicBezTo>
                  <a:cubicBezTo>
                    <a:pt x="50" y="57"/>
                    <a:pt x="50" y="58"/>
                    <a:pt x="51" y="60"/>
                  </a:cubicBezTo>
                  <a:cubicBezTo>
                    <a:pt x="51" y="60"/>
                    <a:pt x="51" y="60"/>
                    <a:pt x="51" y="60"/>
                  </a:cubicBezTo>
                  <a:cubicBezTo>
                    <a:pt x="51" y="60"/>
                    <a:pt x="51" y="59"/>
                    <a:pt x="52" y="59"/>
                  </a:cubicBezTo>
                  <a:cubicBezTo>
                    <a:pt x="52" y="58"/>
                    <a:pt x="52" y="57"/>
                    <a:pt x="52" y="56"/>
                  </a:cubicBezTo>
                  <a:cubicBezTo>
                    <a:pt x="53" y="55"/>
                    <a:pt x="53" y="55"/>
                    <a:pt x="55" y="54"/>
                  </a:cubicBezTo>
                  <a:cubicBezTo>
                    <a:pt x="55" y="54"/>
                    <a:pt x="55" y="54"/>
                    <a:pt x="55" y="54"/>
                  </a:cubicBezTo>
                  <a:cubicBezTo>
                    <a:pt x="58" y="54"/>
                    <a:pt x="59" y="56"/>
                    <a:pt x="59" y="57"/>
                  </a:cubicBezTo>
                  <a:cubicBezTo>
                    <a:pt x="61" y="58"/>
                    <a:pt x="61" y="60"/>
                    <a:pt x="62" y="61"/>
                  </a:cubicBezTo>
                  <a:cubicBezTo>
                    <a:pt x="63" y="63"/>
                    <a:pt x="63" y="63"/>
                    <a:pt x="64" y="63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3" y="59"/>
                    <a:pt x="66" y="57"/>
                    <a:pt x="67" y="57"/>
                  </a:cubicBezTo>
                  <a:cubicBezTo>
                    <a:pt x="67" y="57"/>
                    <a:pt x="68" y="57"/>
                    <a:pt x="68" y="57"/>
                  </a:cubicBezTo>
                  <a:cubicBezTo>
                    <a:pt x="69" y="57"/>
                    <a:pt x="71" y="57"/>
                    <a:pt x="72" y="60"/>
                  </a:cubicBezTo>
                  <a:cubicBezTo>
                    <a:pt x="72" y="60"/>
                    <a:pt x="72" y="60"/>
                    <a:pt x="72" y="60"/>
                  </a:cubicBezTo>
                  <a:cubicBezTo>
                    <a:pt x="72" y="60"/>
                    <a:pt x="72" y="61"/>
                    <a:pt x="73" y="61"/>
                  </a:cubicBezTo>
                  <a:cubicBezTo>
                    <a:pt x="74" y="63"/>
                    <a:pt x="75" y="64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6" y="64"/>
                    <a:pt x="76" y="63"/>
                    <a:pt x="75" y="62"/>
                  </a:cubicBezTo>
                  <a:cubicBezTo>
                    <a:pt x="73" y="56"/>
                    <a:pt x="73" y="56"/>
                    <a:pt x="73" y="56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82" y="59"/>
                    <a:pt x="83" y="61"/>
                    <a:pt x="85" y="63"/>
                  </a:cubicBezTo>
                  <a:cubicBezTo>
                    <a:pt x="85" y="63"/>
                    <a:pt x="86" y="64"/>
                    <a:pt x="86" y="64"/>
                  </a:cubicBezTo>
                  <a:cubicBezTo>
                    <a:pt x="87" y="65"/>
                    <a:pt x="90" y="66"/>
                    <a:pt x="92" y="66"/>
                  </a:cubicBezTo>
                  <a:cubicBezTo>
                    <a:pt x="92" y="66"/>
                    <a:pt x="92" y="65"/>
                    <a:pt x="91" y="65"/>
                  </a:cubicBezTo>
                  <a:cubicBezTo>
                    <a:pt x="91" y="64"/>
                    <a:pt x="91" y="63"/>
                    <a:pt x="91" y="61"/>
                  </a:cubicBezTo>
                  <a:cubicBezTo>
                    <a:pt x="90" y="59"/>
                    <a:pt x="91" y="57"/>
                    <a:pt x="93" y="56"/>
                  </a:cubicBezTo>
                  <a:cubicBezTo>
                    <a:pt x="94" y="55"/>
                    <a:pt x="94" y="55"/>
                    <a:pt x="94" y="55"/>
                  </a:cubicBezTo>
                  <a:cubicBezTo>
                    <a:pt x="95" y="54"/>
                    <a:pt x="96" y="54"/>
                    <a:pt x="97" y="54"/>
                  </a:cubicBezTo>
                  <a:cubicBezTo>
                    <a:pt x="99" y="54"/>
                    <a:pt x="100" y="55"/>
                    <a:pt x="101" y="57"/>
                  </a:cubicBezTo>
                  <a:cubicBezTo>
                    <a:pt x="101" y="57"/>
                    <a:pt x="101" y="57"/>
                    <a:pt x="101" y="57"/>
                  </a:cubicBezTo>
                  <a:cubicBezTo>
                    <a:pt x="104" y="55"/>
                    <a:pt x="107" y="55"/>
                    <a:pt x="108" y="57"/>
                  </a:cubicBezTo>
                  <a:cubicBezTo>
                    <a:pt x="109" y="58"/>
                    <a:pt x="109" y="59"/>
                    <a:pt x="109" y="61"/>
                  </a:cubicBezTo>
                  <a:cubicBezTo>
                    <a:pt x="115" y="61"/>
                    <a:pt x="121" y="62"/>
                    <a:pt x="127" y="62"/>
                  </a:cubicBezTo>
                  <a:cubicBezTo>
                    <a:pt x="136" y="63"/>
                    <a:pt x="136" y="63"/>
                    <a:pt x="136" y="63"/>
                  </a:cubicBezTo>
                  <a:cubicBezTo>
                    <a:pt x="138" y="63"/>
                    <a:pt x="138" y="62"/>
                    <a:pt x="138" y="62"/>
                  </a:cubicBezTo>
                  <a:cubicBezTo>
                    <a:pt x="139" y="60"/>
                    <a:pt x="141" y="59"/>
                    <a:pt x="141" y="59"/>
                  </a:cubicBezTo>
                  <a:cubicBezTo>
                    <a:pt x="142" y="59"/>
                    <a:pt x="143" y="60"/>
                    <a:pt x="143" y="60"/>
                  </a:cubicBezTo>
                  <a:cubicBezTo>
                    <a:pt x="144" y="59"/>
                    <a:pt x="145" y="58"/>
                    <a:pt x="146" y="58"/>
                  </a:cubicBezTo>
                  <a:cubicBezTo>
                    <a:pt x="148" y="58"/>
                    <a:pt x="150" y="61"/>
                    <a:pt x="151" y="62"/>
                  </a:cubicBezTo>
                  <a:cubicBezTo>
                    <a:pt x="151" y="62"/>
                    <a:pt x="150" y="62"/>
                    <a:pt x="150" y="62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51" y="62"/>
                    <a:pt x="151" y="62"/>
                    <a:pt x="151" y="62"/>
                  </a:cubicBezTo>
                  <a:cubicBezTo>
                    <a:pt x="152" y="65"/>
                    <a:pt x="152" y="65"/>
                    <a:pt x="152" y="65"/>
                  </a:cubicBezTo>
                  <a:cubicBezTo>
                    <a:pt x="152" y="62"/>
                    <a:pt x="152" y="62"/>
                    <a:pt x="152" y="62"/>
                  </a:cubicBezTo>
                  <a:cubicBezTo>
                    <a:pt x="152" y="62"/>
                    <a:pt x="152" y="62"/>
                    <a:pt x="152" y="62"/>
                  </a:cubicBezTo>
                  <a:cubicBezTo>
                    <a:pt x="157" y="62"/>
                    <a:pt x="160" y="61"/>
                    <a:pt x="163" y="58"/>
                  </a:cubicBezTo>
                  <a:cubicBezTo>
                    <a:pt x="167" y="54"/>
                    <a:pt x="170" y="51"/>
                    <a:pt x="173" y="48"/>
                  </a:cubicBezTo>
                  <a:cubicBezTo>
                    <a:pt x="173" y="47"/>
                    <a:pt x="173" y="47"/>
                    <a:pt x="173" y="47"/>
                  </a:cubicBezTo>
                  <a:cubicBezTo>
                    <a:pt x="174" y="46"/>
                    <a:pt x="174" y="46"/>
                    <a:pt x="174" y="46"/>
                  </a:cubicBezTo>
                  <a:cubicBezTo>
                    <a:pt x="175" y="44"/>
                    <a:pt x="175" y="42"/>
                    <a:pt x="176" y="40"/>
                  </a:cubicBezTo>
                  <a:cubicBezTo>
                    <a:pt x="177" y="37"/>
                    <a:pt x="178" y="34"/>
                    <a:pt x="177" y="31"/>
                  </a:cubicBezTo>
                  <a:cubicBezTo>
                    <a:pt x="177" y="31"/>
                    <a:pt x="177" y="30"/>
                    <a:pt x="177" y="29"/>
                  </a:cubicBezTo>
                  <a:cubicBezTo>
                    <a:pt x="176" y="27"/>
                    <a:pt x="175" y="24"/>
                    <a:pt x="178" y="20"/>
                  </a:cubicBezTo>
                  <a:cubicBezTo>
                    <a:pt x="178" y="20"/>
                    <a:pt x="178" y="19"/>
                    <a:pt x="178" y="19"/>
                  </a:cubicBezTo>
                  <a:cubicBezTo>
                    <a:pt x="178" y="17"/>
                    <a:pt x="178" y="15"/>
                    <a:pt x="181" y="13"/>
                  </a:cubicBezTo>
                  <a:cubicBezTo>
                    <a:pt x="181" y="13"/>
                    <a:pt x="181" y="13"/>
                    <a:pt x="181" y="12"/>
                  </a:cubicBezTo>
                  <a:cubicBezTo>
                    <a:pt x="181" y="12"/>
                    <a:pt x="181" y="11"/>
                    <a:pt x="181" y="11"/>
                  </a:cubicBezTo>
                  <a:cubicBezTo>
                    <a:pt x="181" y="7"/>
                    <a:pt x="183" y="6"/>
                    <a:pt x="185" y="6"/>
                  </a:cubicBezTo>
                  <a:cubicBezTo>
                    <a:pt x="185" y="6"/>
                    <a:pt x="185" y="6"/>
                    <a:pt x="185" y="6"/>
                  </a:cubicBezTo>
                  <a:cubicBezTo>
                    <a:pt x="186" y="6"/>
                    <a:pt x="188" y="6"/>
                    <a:pt x="188" y="7"/>
                  </a:cubicBezTo>
                  <a:cubicBezTo>
                    <a:pt x="190" y="8"/>
                    <a:pt x="190" y="10"/>
                    <a:pt x="190" y="11"/>
                  </a:cubicBezTo>
                  <a:cubicBezTo>
                    <a:pt x="189" y="11"/>
                    <a:pt x="189" y="11"/>
                    <a:pt x="189" y="12"/>
                  </a:cubicBezTo>
                  <a:cubicBezTo>
                    <a:pt x="190" y="12"/>
                    <a:pt x="190" y="12"/>
                    <a:pt x="190" y="12"/>
                  </a:cubicBezTo>
                  <a:cubicBezTo>
                    <a:pt x="190" y="12"/>
                    <a:pt x="190" y="12"/>
                    <a:pt x="190" y="12"/>
                  </a:cubicBezTo>
                  <a:cubicBezTo>
                    <a:pt x="190" y="12"/>
                    <a:pt x="191" y="11"/>
                    <a:pt x="192" y="11"/>
                  </a:cubicBezTo>
                  <a:cubicBezTo>
                    <a:pt x="194" y="10"/>
                    <a:pt x="195" y="8"/>
                    <a:pt x="196" y="5"/>
                  </a:cubicBezTo>
                  <a:cubicBezTo>
                    <a:pt x="197" y="2"/>
                    <a:pt x="199" y="1"/>
                    <a:pt x="202" y="1"/>
                  </a:cubicBezTo>
                  <a:cubicBezTo>
                    <a:pt x="204" y="1"/>
                    <a:pt x="206" y="1"/>
                    <a:pt x="207" y="2"/>
                  </a:cubicBezTo>
                  <a:cubicBezTo>
                    <a:pt x="211" y="4"/>
                    <a:pt x="213" y="11"/>
                    <a:pt x="211" y="16"/>
                  </a:cubicBezTo>
                  <a:cubicBezTo>
                    <a:pt x="211" y="17"/>
                    <a:pt x="211" y="17"/>
                    <a:pt x="211" y="18"/>
                  </a:cubicBezTo>
                  <a:cubicBezTo>
                    <a:pt x="210" y="19"/>
                    <a:pt x="210" y="20"/>
                    <a:pt x="210" y="20"/>
                  </a:cubicBezTo>
                  <a:cubicBezTo>
                    <a:pt x="209" y="21"/>
                    <a:pt x="209" y="22"/>
                    <a:pt x="209" y="22"/>
                  </a:cubicBezTo>
                  <a:cubicBezTo>
                    <a:pt x="209" y="22"/>
                    <a:pt x="209" y="23"/>
                    <a:pt x="209" y="23"/>
                  </a:cubicBezTo>
                  <a:cubicBezTo>
                    <a:pt x="209" y="23"/>
                    <a:pt x="209" y="23"/>
                    <a:pt x="209" y="23"/>
                  </a:cubicBezTo>
                  <a:cubicBezTo>
                    <a:pt x="211" y="23"/>
                    <a:pt x="211" y="23"/>
                    <a:pt x="211" y="23"/>
                  </a:cubicBezTo>
                  <a:cubicBezTo>
                    <a:pt x="211" y="25"/>
                    <a:pt x="211" y="25"/>
                    <a:pt x="211" y="25"/>
                  </a:cubicBezTo>
                  <a:cubicBezTo>
                    <a:pt x="212" y="28"/>
                    <a:pt x="213" y="28"/>
                    <a:pt x="214" y="28"/>
                  </a:cubicBezTo>
                  <a:cubicBezTo>
                    <a:pt x="215" y="28"/>
                    <a:pt x="216" y="28"/>
                    <a:pt x="217" y="27"/>
                  </a:cubicBezTo>
                  <a:cubicBezTo>
                    <a:pt x="218" y="27"/>
                    <a:pt x="219" y="27"/>
                    <a:pt x="220" y="27"/>
                  </a:cubicBezTo>
                  <a:cubicBezTo>
                    <a:pt x="275" y="27"/>
                    <a:pt x="329" y="27"/>
                    <a:pt x="384" y="27"/>
                  </a:cubicBezTo>
                  <a:cubicBezTo>
                    <a:pt x="420" y="27"/>
                    <a:pt x="456" y="27"/>
                    <a:pt x="492" y="27"/>
                  </a:cubicBezTo>
                  <a:cubicBezTo>
                    <a:pt x="493" y="27"/>
                    <a:pt x="495" y="27"/>
                    <a:pt x="496" y="27"/>
                  </a:cubicBezTo>
                  <a:cubicBezTo>
                    <a:pt x="497" y="27"/>
                    <a:pt x="498" y="27"/>
                    <a:pt x="499" y="27"/>
                  </a:cubicBezTo>
                  <a:cubicBezTo>
                    <a:pt x="499" y="27"/>
                    <a:pt x="499" y="27"/>
                    <a:pt x="499" y="27"/>
                  </a:cubicBezTo>
                  <a:cubicBezTo>
                    <a:pt x="499" y="24"/>
                    <a:pt x="501" y="23"/>
                    <a:pt x="503" y="22"/>
                  </a:cubicBezTo>
                  <a:cubicBezTo>
                    <a:pt x="502" y="20"/>
                    <a:pt x="501" y="18"/>
                    <a:pt x="500" y="16"/>
                  </a:cubicBezTo>
                  <a:cubicBezTo>
                    <a:pt x="498" y="11"/>
                    <a:pt x="499" y="6"/>
                    <a:pt x="503" y="3"/>
                  </a:cubicBezTo>
                  <a:cubicBezTo>
                    <a:pt x="506" y="0"/>
                    <a:pt x="508" y="0"/>
                    <a:pt x="511" y="1"/>
                  </a:cubicBezTo>
                  <a:cubicBezTo>
                    <a:pt x="515" y="2"/>
                    <a:pt x="517" y="5"/>
                    <a:pt x="516" y="8"/>
                  </a:cubicBezTo>
                  <a:cubicBezTo>
                    <a:pt x="516" y="8"/>
                    <a:pt x="516" y="9"/>
                    <a:pt x="516" y="9"/>
                  </a:cubicBezTo>
                  <a:cubicBezTo>
                    <a:pt x="517" y="9"/>
                    <a:pt x="517" y="9"/>
                    <a:pt x="517" y="9"/>
                  </a:cubicBezTo>
                  <a:cubicBezTo>
                    <a:pt x="519" y="9"/>
                    <a:pt x="520" y="10"/>
                    <a:pt x="521" y="11"/>
                  </a:cubicBezTo>
                  <a:cubicBezTo>
                    <a:pt x="521" y="10"/>
                    <a:pt x="521" y="10"/>
                    <a:pt x="521" y="9"/>
                  </a:cubicBezTo>
                  <a:cubicBezTo>
                    <a:pt x="521" y="7"/>
                    <a:pt x="523" y="5"/>
                    <a:pt x="526" y="5"/>
                  </a:cubicBezTo>
                  <a:cubicBezTo>
                    <a:pt x="528" y="5"/>
                    <a:pt x="529" y="6"/>
                    <a:pt x="529" y="6"/>
                  </a:cubicBezTo>
                  <a:cubicBezTo>
                    <a:pt x="531" y="8"/>
                    <a:pt x="530" y="9"/>
                    <a:pt x="530" y="10"/>
                  </a:cubicBezTo>
                  <a:cubicBezTo>
                    <a:pt x="530" y="11"/>
                    <a:pt x="530" y="11"/>
                    <a:pt x="530" y="12"/>
                  </a:cubicBezTo>
                  <a:cubicBezTo>
                    <a:pt x="530" y="12"/>
                    <a:pt x="530" y="13"/>
                    <a:pt x="530" y="13"/>
                  </a:cubicBezTo>
                  <a:cubicBezTo>
                    <a:pt x="531" y="13"/>
                    <a:pt x="534" y="13"/>
                    <a:pt x="534" y="17"/>
                  </a:cubicBezTo>
                  <a:cubicBezTo>
                    <a:pt x="534" y="18"/>
                    <a:pt x="534" y="19"/>
                    <a:pt x="534" y="20"/>
                  </a:cubicBezTo>
                  <a:cubicBezTo>
                    <a:pt x="534" y="22"/>
                    <a:pt x="534" y="22"/>
                    <a:pt x="535" y="23"/>
                  </a:cubicBezTo>
                  <a:cubicBezTo>
                    <a:pt x="536" y="23"/>
                    <a:pt x="536" y="24"/>
                    <a:pt x="536" y="25"/>
                  </a:cubicBezTo>
                  <a:cubicBezTo>
                    <a:pt x="536" y="26"/>
                    <a:pt x="536" y="27"/>
                    <a:pt x="536" y="28"/>
                  </a:cubicBezTo>
                  <a:cubicBezTo>
                    <a:pt x="534" y="30"/>
                    <a:pt x="534" y="32"/>
                    <a:pt x="535" y="36"/>
                  </a:cubicBezTo>
                  <a:cubicBezTo>
                    <a:pt x="535" y="37"/>
                    <a:pt x="535" y="38"/>
                    <a:pt x="536" y="39"/>
                  </a:cubicBezTo>
                  <a:cubicBezTo>
                    <a:pt x="537" y="49"/>
                    <a:pt x="544" y="54"/>
                    <a:pt x="551" y="60"/>
                  </a:cubicBezTo>
                  <a:cubicBezTo>
                    <a:pt x="552" y="61"/>
                    <a:pt x="552" y="61"/>
                    <a:pt x="552" y="61"/>
                  </a:cubicBezTo>
                  <a:cubicBezTo>
                    <a:pt x="553" y="62"/>
                    <a:pt x="554" y="62"/>
                    <a:pt x="556" y="62"/>
                  </a:cubicBezTo>
                  <a:cubicBezTo>
                    <a:pt x="557" y="62"/>
                    <a:pt x="558" y="62"/>
                    <a:pt x="559" y="62"/>
                  </a:cubicBezTo>
                  <a:cubicBezTo>
                    <a:pt x="559" y="62"/>
                    <a:pt x="560" y="62"/>
                    <a:pt x="561" y="62"/>
                  </a:cubicBezTo>
                  <a:cubicBezTo>
                    <a:pt x="561" y="62"/>
                    <a:pt x="561" y="61"/>
                    <a:pt x="561" y="61"/>
                  </a:cubicBezTo>
                  <a:cubicBezTo>
                    <a:pt x="562" y="60"/>
                    <a:pt x="563" y="57"/>
                    <a:pt x="569" y="59"/>
                  </a:cubicBezTo>
                  <a:cubicBezTo>
                    <a:pt x="569" y="60"/>
                    <a:pt x="570" y="60"/>
                    <a:pt x="571" y="60"/>
                  </a:cubicBezTo>
                  <a:cubicBezTo>
                    <a:pt x="572" y="61"/>
                    <a:pt x="574" y="62"/>
                    <a:pt x="575" y="62"/>
                  </a:cubicBezTo>
                  <a:cubicBezTo>
                    <a:pt x="584" y="62"/>
                    <a:pt x="595" y="61"/>
                    <a:pt x="605" y="60"/>
                  </a:cubicBezTo>
                  <a:cubicBezTo>
                    <a:pt x="605" y="58"/>
                    <a:pt x="605" y="57"/>
                    <a:pt x="606" y="56"/>
                  </a:cubicBezTo>
                  <a:cubicBezTo>
                    <a:pt x="607" y="55"/>
                    <a:pt x="609" y="54"/>
                    <a:pt x="612" y="56"/>
                  </a:cubicBezTo>
                  <a:cubicBezTo>
                    <a:pt x="613" y="56"/>
                    <a:pt x="613" y="56"/>
                    <a:pt x="613" y="56"/>
                  </a:cubicBezTo>
                  <a:cubicBezTo>
                    <a:pt x="614" y="56"/>
                    <a:pt x="614" y="56"/>
                    <a:pt x="614" y="56"/>
                  </a:cubicBezTo>
                  <a:cubicBezTo>
                    <a:pt x="615" y="54"/>
                    <a:pt x="617" y="54"/>
                    <a:pt x="618" y="54"/>
                  </a:cubicBezTo>
                  <a:cubicBezTo>
                    <a:pt x="619" y="54"/>
                    <a:pt x="620" y="55"/>
                    <a:pt x="620" y="55"/>
                  </a:cubicBezTo>
                  <a:cubicBezTo>
                    <a:pt x="622" y="56"/>
                    <a:pt x="623" y="57"/>
                    <a:pt x="623" y="58"/>
                  </a:cubicBezTo>
                  <a:cubicBezTo>
                    <a:pt x="624" y="59"/>
                    <a:pt x="623" y="61"/>
                    <a:pt x="623" y="61"/>
                  </a:cubicBezTo>
                  <a:cubicBezTo>
                    <a:pt x="622" y="62"/>
                    <a:pt x="622" y="63"/>
                    <a:pt x="622" y="64"/>
                  </a:cubicBezTo>
                  <a:cubicBezTo>
                    <a:pt x="621" y="64"/>
                    <a:pt x="621" y="64"/>
                    <a:pt x="621" y="64"/>
                  </a:cubicBezTo>
                  <a:cubicBezTo>
                    <a:pt x="621" y="65"/>
                    <a:pt x="621" y="65"/>
                    <a:pt x="621" y="65"/>
                  </a:cubicBezTo>
                  <a:cubicBezTo>
                    <a:pt x="621" y="65"/>
                    <a:pt x="622" y="66"/>
                    <a:pt x="623" y="66"/>
                  </a:cubicBezTo>
                  <a:cubicBezTo>
                    <a:pt x="626" y="66"/>
                    <a:pt x="628" y="64"/>
                    <a:pt x="630" y="61"/>
                  </a:cubicBezTo>
                  <a:cubicBezTo>
                    <a:pt x="631" y="61"/>
                    <a:pt x="631" y="60"/>
                    <a:pt x="632" y="59"/>
                  </a:cubicBezTo>
                  <a:cubicBezTo>
                    <a:pt x="633" y="58"/>
                    <a:pt x="633" y="58"/>
                    <a:pt x="633" y="58"/>
                  </a:cubicBezTo>
                  <a:cubicBezTo>
                    <a:pt x="635" y="59"/>
                    <a:pt x="635" y="59"/>
                    <a:pt x="635" y="59"/>
                  </a:cubicBezTo>
                  <a:cubicBezTo>
                    <a:pt x="636" y="59"/>
                    <a:pt x="638" y="61"/>
                    <a:pt x="637" y="64"/>
                  </a:cubicBezTo>
                  <a:cubicBezTo>
                    <a:pt x="638" y="64"/>
                    <a:pt x="639" y="64"/>
                    <a:pt x="639" y="64"/>
                  </a:cubicBezTo>
                  <a:cubicBezTo>
                    <a:pt x="640" y="62"/>
                    <a:pt x="641" y="61"/>
                    <a:pt x="642" y="61"/>
                  </a:cubicBezTo>
                  <a:cubicBezTo>
                    <a:pt x="642" y="60"/>
                    <a:pt x="643" y="60"/>
                    <a:pt x="643" y="59"/>
                  </a:cubicBezTo>
                  <a:cubicBezTo>
                    <a:pt x="643" y="57"/>
                    <a:pt x="646" y="56"/>
                    <a:pt x="648" y="57"/>
                  </a:cubicBezTo>
                  <a:cubicBezTo>
                    <a:pt x="649" y="57"/>
                    <a:pt x="650" y="59"/>
                    <a:pt x="650" y="61"/>
                  </a:cubicBezTo>
                  <a:cubicBezTo>
                    <a:pt x="650" y="62"/>
                    <a:pt x="650" y="62"/>
                    <a:pt x="649" y="63"/>
                  </a:cubicBezTo>
                  <a:cubicBezTo>
                    <a:pt x="651" y="63"/>
                    <a:pt x="651" y="63"/>
                    <a:pt x="652" y="62"/>
                  </a:cubicBezTo>
                  <a:cubicBezTo>
                    <a:pt x="652" y="60"/>
                    <a:pt x="653" y="59"/>
                    <a:pt x="654" y="58"/>
                  </a:cubicBezTo>
                  <a:cubicBezTo>
                    <a:pt x="654" y="58"/>
                    <a:pt x="655" y="58"/>
                    <a:pt x="655" y="57"/>
                  </a:cubicBezTo>
                  <a:cubicBezTo>
                    <a:pt x="656" y="56"/>
                    <a:pt x="656" y="54"/>
                    <a:pt x="659" y="54"/>
                  </a:cubicBezTo>
                  <a:cubicBezTo>
                    <a:pt x="659" y="54"/>
                    <a:pt x="660" y="55"/>
                    <a:pt x="660" y="55"/>
                  </a:cubicBezTo>
                  <a:cubicBezTo>
                    <a:pt x="661" y="55"/>
                    <a:pt x="663" y="56"/>
                    <a:pt x="662" y="59"/>
                  </a:cubicBezTo>
                  <a:cubicBezTo>
                    <a:pt x="663" y="59"/>
                    <a:pt x="663" y="60"/>
                    <a:pt x="662" y="61"/>
                  </a:cubicBezTo>
                  <a:cubicBezTo>
                    <a:pt x="663" y="61"/>
                    <a:pt x="664" y="60"/>
                    <a:pt x="665" y="60"/>
                  </a:cubicBezTo>
                  <a:cubicBezTo>
                    <a:pt x="666" y="59"/>
                    <a:pt x="667" y="57"/>
                    <a:pt x="668" y="56"/>
                  </a:cubicBezTo>
                  <a:cubicBezTo>
                    <a:pt x="668" y="52"/>
                    <a:pt x="670" y="52"/>
                    <a:pt x="671" y="52"/>
                  </a:cubicBezTo>
                  <a:cubicBezTo>
                    <a:pt x="672" y="52"/>
                    <a:pt x="672" y="52"/>
                    <a:pt x="672" y="52"/>
                  </a:cubicBezTo>
                  <a:cubicBezTo>
                    <a:pt x="673" y="52"/>
                    <a:pt x="675" y="53"/>
                    <a:pt x="675" y="56"/>
                  </a:cubicBezTo>
                  <a:cubicBezTo>
                    <a:pt x="675" y="57"/>
                    <a:pt x="675" y="57"/>
                    <a:pt x="675" y="58"/>
                  </a:cubicBezTo>
                  <a:cubicBezTo>
                    <a:pt x="677" y="58"/>
                    <a:pt x="678" y="58"/>
                    <a:pt x="678" y="56"/>
                  </a:cubicBezTo>
                  <a:cubicBezTo>
                    <a:pt x="678" y="54"/>
                    <a:pt x="679" y="53"/>
                    <a:pt x="681" y="51"/>
                  </a:cubicBezTo>
                  <a:cubicBezTo>
                    <a:pt x="681" y="50"/>
                    <a:pt x="682" y="50"/>
                    <a:pt x="682" y="49"/>
                  </a:cubicBezTo>
                  <a:cubicBezTo>
                    <a:pt x="685" y="45"/>
                    <a:pt x="685" y="45"/>
                    <a:pt x="685" y="45"/>
                  </a:cubicBezTo>
                  <a:cubicBezTo>
                    <a:pt x="687" y="50"/>
                    <a:pt x="687" y="50"/>
                    <a:pt x="687" y="50"/>
                  </a:cubicBezTo>
                  <a:cubicBezTo>
                    <a:pt x="687" y="50"/>
                    <a:pt x="688" y="51"/>
                    <a:pt x="688" y="51"/>
                  </a:cubicBezTo>
                  <a:cubicBezTo>
                    <a:pt x="688" y="53"/>
                    <a:pt x="689" y="54"/>
                    <a:pt x="689" y="54"/>
                  </a:cubicBezTo>
                  <a:cubicBezTo>
                    <a:pt x="689" y="54"/>
                    <a:pt x="690" y="54"/>
                    <a:pt x="691" y="54"/>
                  </a:cubicBezTo>
                  <a:cubicBezTo>
                    <a:pt x="690" y="53"/>
                    <a:pt x="690" y="52"/>
                    <a:pt x="691" y="51"/>
                  </a:cubicBezTo>
                  <a:cubicBezTo>
                    <a:pt x="692" y="49"/>
                    <a:pt x="694" y="49"/>
                    <a:pt x="695" y="48"/>
                  </a:cubicBezTo>
                  <a:cubicBezTo>
                    <a:pt x="695" y="48"/>
                    <a:pt x="695" y="48"/>
                    <a:pt x="695" y="48"/>
                  </a:cubicBezTo>
                  <a:cubicBezTo>
                    <a:pt x="696" y="48"/>
                    <a:pt x="697" y="47"/>
                    <a:pt x="698" y="47"/>
                  </a:cubicBezTo>
                  <a:cubicBezTo>
                    <a:pt x="699" y="47"/>
                    <a:pt x="699" y="47"/>
                    <a:pt x="699" y="47"/>
                  </a:cubicBezTo>
                  <a:cubicBezTo>
                    <a:pt x="701" y="48"/>
                    <a:pt x="701" y="48"/>
                    <a:pt x="701" y="48"/>
                  </a:cubicBezTo>
                  <a:cubicBezTo>
                    <a:pt x="702" y="49"/>
                    <a:pt x="702" y="50"/>
                    <a:pt x="702" y="52"/>
                  </a:cubicBezTo>
                  <a:cubicBezTo>
                    <a:pt x="702" y="52"/>
                    <a:pt x="702" y="52"/>
                    <a:pt x="703" y="53"/>
                  </a:cubicBezTo>
                  <a:cubicBezTo>
                    <a:pt x="704" y="54"/>
                    <a:pt x="705" y="55"/>
                    <a:pt x="706" y="57"/>
                  </a:cubicBezTo>
                  <a:cubicBezTo>
                    <a:pt x="706" y="57"/>
                    <a:pt x="707" y="57"/>
                    <a:pt x="707" y="58"/>
                  </a:cubicBezTo>
                  <a:cubicBezTo>
                    <a:pt x="707" y="59"/>
                    <a:pt x="708" y="59"/>
                    <a:pt x="708" y="60"/>
                  </a:cubicBezTo>
                  <a:cubicBezTo>
                    <a:pt x="708" y="62"/>
                    <a:pt x="709" y="62"/>
                    <a:pt x="709" y="62"/>
                  </a:cubicBezTo>
                  <a:cubicBezTo>
                    <a:pt x="709" y="62"/>
                    <a:pt x="710" y="62"/>
                    <a:pt x="711" y="62"/>
                  </a:cubicBezTo>
                  <a:cubicBezTo>
                    <a:pt x="714" y="60"/>
                    <a:pt x="714" y="60"/>
                    <a:pt x="714" y="60"/>
                  </a:cubicBezTo>
                  <a:cubicBezTo>
                    <a:pt x="715" y="63"/>
                    <a:pt x="715" y="63"/>
                    <a:pt x="715" y="63"/>
                  </a:cubicBezTo>
                  <a:cubicBezTo>
                    <a:pt x="716" y="69"/>
                    <a:pt x="714" y="72"/>
                    <a:pt x="709" y="75"/>
                  </a:cubicBezTo>
                  <a:cubicBezTo>
                    <a:pt x="707" y="76"/>
                    <a:pt x="705" y="77"/>
                    <a:pt x="704" y="77"/>
                  </a:cubicBezTo>
                  <a:cubicBezTo>
                    <a:pt x="701" y="78"/>
                    <a:pt x="699" y="79"/>
                    <a:pt x="697" y="81"/>
                  </a:cubicBezTo>
                  <a:cubicBezTo>
                    <a:pt x="695" y="82"/>
                    <a:pt x="694" y="82"/>
                    <a:pt x="693" y="83"/>
                  </a:cubicBezTo>
                  <a:cubicBezTo>
                    <a:pt x="689" y="84"/>
                    <a:pt x="686" y="86"/>
                    <a:pt x="684" y="89"/>
                  </a:cubicBezTo>
                  <a:cubicBezTo>
                    <a:pt x="684" y="90"/>
                    <a:pt x="684" y="90"/>
                    <a:pt x="684" y="90"/>
                  </a:cubicBezTo>
                  <a:cubicBezTo>
                    <a:pt x="682" y="90"/>
                    <a:pt x="682" y="90"/>
                    <a:pt x="682" y="90"/>
                  </a:cubicBezTo>
                  <a:cubicBezTo>
                    <a:pt x="680" y="90"/>
                    <a:pt x="679" y="91"/>
                    <a:pt x="678" y="93"/>
                  </a:cubicBezTo>
                  <a:cubicBezTo>
                    <a:pt x="676" y="94"/>
                    <a:pt x="675" y="95"/>
                    <a:pt x="673" y="96"/>
                  </a:cubicBezTo>
                  <a:cubicBezTo>
                    <a:pt x="671" y="97"/>
                    <a:pt x="670" y="98"/>
                    <a:pt x="668" y="99"/>
                  </a:cubicBezTo>
                  <a:cubicBezTo>
                    <a:pt x="666" y="101"/>
                    <a:pt x="665" y="101"/>
                    <a:pt x="663" y="102"/>
                  </a:cubicBezTo>
                  <a:cubicBezTo>
                    <a:pt x="662" y="103"/>
                    <a:pt x="661" y="104"/>
                    <a:pt x="660" y="104"/>
                  </a:cubicBezTo>
                  <a:cubicBezTo>
                    <a:pt x="659" y="106"/>
                    <a:pt x="656" y="108"/>
                    <a:pt x="653" y="108"/>
                  </a:cubicBezTo>
                  <a:cubicBezTo>
                    <a:pt x="651" y="109"/>
                    <a:pt x="648" y="110"/>
                    <a:pt x="647" y="112"/>
                  </a:cubicBezTo>
                  <a:cubicBezTo>
                    <a:pt x="645" y="114"/>
                    <a:pt x="641" y="116"/>
                    <a:pt x="639" y="117"/>
                  </a:cubicBezTo>
                  <a:cubicBezTo>
                    <a:pt x="637" y="117"/>
                    <a:pt x="636" y="118"/>
                    <a:pt x="635" y="119"/>
                  </a:cubicBezTo>
                  <a:cubicBezTo>
                    <a:pt x="634" y="119"/>
                    <a:pt x="632" y="120"/>
                    <a:pt x="631" y="120"/>
                  </a:cubicBezTo>
                  <a:cubicBezTo>
                    <a:pt x="628" y="122"/>
                    <a:pt x="625" y="123"/>
                    <a:pt x="622" y="125"/>
                  </a:cubicBezTo>
                  <a:cubicBezTo>
                    <a:pt x="616" y="127"/>
                    <a:pt x="610" y="130"/>
                    <a:pt x="604" y="132"/>
                  </a:cubicBezTo>
                  <a:cubicBezTo>
                    <a:pt x="603" y="132"/>
                    <a:pt x="602" y="133"/>
                    <a:pt x="601" y="133"/>
                  </a:cubicBezTo>
                  <a:cubicBezTo>
                    <a:pt x="601" y="133"/>
                    <a:pt x="601" y="133"/>
                    <a:pt x="601" y="133"/>
                  </a:cubicBezTo>
                  <a:lnTo>
                    <a:pt x="113" y="133"/>
                  </a:lnTo>
                  <a:close/>
                  <a:moveTo>
                    <a:pt x="71" y="110"/>
                  </a:moveTo>
                  <a:cubicBezTo>
                    <a:pt x="75" y="111"/>
                    <a:pt x="79" y="112"/>
                    <a:pt x="82" y="114"/>
                  </a:cubicBezTo>
                  <a:cubicBezTo>
                    <a:pt x="84" y="115"/>
                    <a:pt x="85" y="116"/>
                    <a:pt x="87" y="117"/>
                  </a:cubicBezTo>
                  <a:cubicBezTo>
                    <a:pt x="96" y="121"/>
                    <a:pt x="105" y="125"/>
                    <a:pt x="113" y="128"/>
                  </a:cubicBezTo>
                  <a:cubicBezTo>
                    <a:pt x="599" y="128"/>
                    <a:pt x="599" y="128"/>
                    <a:pt x="599" y="128"/>
                  </a:cubicBezTo>
                  <a:cubicBezTo>
                    <a:pt x="600" y="128"/>
                    <a:pt x="601" y="127"/>
                    <a:pt x="602" y="127"/>
                  </a:cubicBezTo>
                  <a:cubicBezTo>
                    <a:pt x="608" y="125"/>
                    <a:pt x="614" y="123"/>
                    <a:pt x="620" y="120"/>
                  </a:cubicBezTo>
                  <a:cubicBezTo>
                    <a:pt x="623" y="118"/>
                    <a:pt x="626" y="117"/>
                    <a:pt x="629" y="116"/>
                  </a:cubicBezTo>
                  <a:cubicBezTo>
                    <a:pt x="630" y="115"/>
                    <a:pt x="631" y="114"/>
                    <a:pt x="632" y="114"/>
                  </a:cubicBezTo>
                  <a:cubicBezTo>
                    <a:pt x="634" y="113"/>
                    <a:pt x="635" y="112"/>
                    <a:pt x="637" y="112"/>
                  </a:cubicBezTo>
                  <a:cubicBezTo>
                    <a:pt x="638" y="111"/>
                    <a:pt x="641" y="110"/>
                    <a:pt x="643" y="108"/>
                  </a:cubicBezTo>
                  <a:cubicBezTo>
                    <a:pt x="645" y="106"/>
                    <a:pt x="649" y="104"/>
                    <a:pt x="652" y="103"/>
                  </a:cubicBezTo>
                  <a:cubicBezTo>
                    <a:pt x="654" y="103"/>
                    <a:pt x="655" y="102"/>
                    <a:pt x="657" y="100"/>
                  </a:cubicBezTo>
                  <a:cubicBezTo>
                    <a:pt x="658" y="99"/>
                    <a:pt x="659" y="98"/>
                    <a:pt x="661" y="98"/>
                  </a:cubicBezTo>
                  <a:cubicBezTo>
                    <a:pt x="662" y="97"/>
                    <a:pt x="663" y="96"/>
                    <a:pt x="665" y="95"/>
                  </a:cubicBezTo>
                  <a:cubicBezTo>
                    <a:pt x="667" y="94"/>
                    <a:pt x="669" y="92"/>
                    <a:pt x="671" y="91"/>
                  </a:cubicBezTo>
                  <a:cubicBezTo>
                    <a:pt x="672" y="91"/>
                    <a:pt x="673" y="90"/>
                    <a:pt x="674" y="89"/>
                  </a:cubicBezTo>
                  <a:cubicBezTo>
                    <a:pt x="676" y="87"/>
                    <a:pt x="677" y="86"/>
                    <a:pt x="680" y="85"/>
                  </a:cubicBezTo>
                  <a:cubicBezTo>
                    <a:pt x="683" y="81"/>
                    <a:pt x="687" y="79"/>
                    <a:pt x="691" y="78"/>
                  </a:cubicBezTo>
                  <a:cubicBezTo>
                    <a:pt x="692" y="77"/>
                    <a:pt x="693" y="77"/>
                    <a:pt x="694" y="76"/>
                  </a:cubicBezTo>
                  <a:cubicBezTo>
                    <a:pt x="697" y="75"/>
                    <a:pt x="699" y="74"/>
                    <a:pt x="701" y="73"/>
                  </a:cubicBezTo>
                  <a:cubicBezTo>
                    <a:pt x="703" y="72"/>
                    <a:pt x="705" y="71"/>
                    <a:pt x="706" y="70"/>
                  </a:cubicBezTo>
                  <a:cubicBezTo>
                    <a:pt x="708" y="70"/>
                    <a:pt x="709" y="69"/>
                    <a:pt x="709" y="68"/>
                  </a:cubicBezTo>
                  <a:cubicBezTo>
                    <a:pt x="707" y="68"/>
                    <a:pt x="704" y="67"/>
                    <a:pt x="703" y="62"/>
                  </a:cubicBezTo>
                  <a:cubicBezTo>
                    <a:pt x="703" y="62"/>
                    <a:pt x="702" y="61"/>
                    <a:pt x="702" y="60"/>
                  </a:cubicBezTo>
                  <a:cubicBezTo>
                    <a:pt x="702" y="60"/>
                    <a:pt x="701" y="59"/>
                    <a:pt x="701" y="58"/>
                  </a:cubicBezTo>
                  <a:cubicBezTo>
                    <a:pt x="701" y="58"/>
                    <a:pt x="700" y="57"/>
                    <a:pt x="700" y="57"/>
                  </a:cubicBezTo>
                  <a:cubicBezTo>
                    <a:pt x="699" y="56"/>
                    <a:pt x="698" y="55"/>
                    <a:pt x="697" y="54"/>
                  </a:cubicBezTo>
                  <a:cubicBezTo>
                    <a:pt x="697" y="55"/>
                    <a:pt x="697" y="55"/>
                    <a:pt x="697" y="55"/>
                  </a:cubicBezTo>
                  <a:cubicBezTo>
                    <a:pt x="697" y="57"/>
                    <a:pt x="695" y="57"/>
                    <a:pt x="695" y="58"/>
                  </a:cubicBezTo>
                  <a:cubicBezTo>
                    <a:pt x="693" y="59"/>
                    <a:pt x="691" y="60"/>
                    <a:pt x="689" y="60"/>
                  </a:cubicBezTo>
                  <a:cubicBezTo>
                    <a:pt x="687" y="60"/>
                    <a:pt x="685" y="59"/>
                    <a:pt x="684" y="56"/>
                  </a:cubicBezTo>
                  <a:cubicBezTo>
                    <a:pt x="683" y="56"/>
                    <a:pt x="683" y="57"/>
                    <a:pt x="683" y="57"/>
                  </a:cubicBezTo>
                  <a:cubicBezTo>
                    <a:pt x="682" y="63"/>
                    <a:pt x="677" y="63"/>
                    <a:pt x="675" y="63"/>
                  </a:cubicBezTo>
                  <a:cubicBezTo>
                    <a:pt x="674" y="63"/>
                    <a:pt x="674" y="63"/>
                    <a:pt x="674" y="63"/>
                  </a:cubicBezTo>
                  <a:cubicBezTo>
                    <a:pt x="672" y="63"/>
                    <a:pt x="671" y="63"/>
                    <a:pt x="671" y="62"/>
                  </a:cubicBezTo>
                  <a:cubicBezTo>
                    <a:pt x="671" y="62"/>
                    <a:pt x="670" y="62"/>
                    <a:pt x="670" y="62"/>
                  </a:cubicBezTo>
                  <a:cubicBezTo>
                    <a:pt x="670" y="62"/>
                    <a:pt x="670" y="63"/>
                    <a:pt x="669" y="63"/>
                  </a:cubicBezTo>
                  <a:cubicBezTo>
                    <a:pt x="667" y="66"/>
                    <a:pt x="663" y="67"/>
                    <a:pt x="660" y="66"/>
                  </a:cubicBezTo>
                  <a:cubicBezTo>
                    <a:pt x="658" y="66"/>
                    <a:pt x="657" y="65"/>
                    <a:pt x="657" y="64"/>
                  </a:cubicBezTo>
                  <a:cubicBezTo>
                    <a:pt x="657" y="64"/>
                    <a:pt x="657" y="64"/>
                    <a:pt x="657" y="64"/>
                  </a:cubicBezTo>
                  <a:cubicBezTo>
                    <a:pt x="656" y="67"/>
                    <a:pt x="653" y="68"/>
                    <a:pt x="650" y="68"/>
                  </a:cubicBezTo>
                  <a:cubicBezTo>
                    <a:pt x="649" y="68"/>
                    <a:pt x="648" y="68"/>
                    <a:pt x="647" y="68"/>
                  </a:cubicBezTo>
                  <a:cubicBezTo>
                    <a:pt x="645" y="68"/>
                    <a:pt x="645" y="67"/>
                    <a:pt x="644" y="66"/>
                  </a:cubicBezTo>
                  <a:cubicBezTo>
                    <a:pt x="644" y="66"/>
                    <a:pt x="644" y="66"/>
                    <a:pt x="644" y="66"/>
                  </a:cubicBezTo>
                  <a:cubicBezTo>
                    <a:pt x="644" y="66"/>
                    <a:pt x="644" y="66"/>
                    <a:pt x="644" y="66"/>
                  </a:cubicBezTo>
                  <a:cubicBezTo>
                    <a:pt x="643" y="69"/>
                    <a:pt x="639" y="70"/>
                    <a:pt x="637" y="70"/>
                  </a:cubicBezTo>
                  <a:cubicBezTo>
                    <a:pt x="637" y="70"/>
                    <a:pt x="636" y="70"/>
                    <a:pt x="636" y="70"/>
                  </a:cubicBezTo>
                  <a:cubicBezTo>
                    <a:pt x="636" y="70"/>
                    <a:pt x="636" y="70"/>
                    <a:pt x="636" y="70"/>
                  </a:cubicBezTo>
                  <a:cubicBezTo>
                    <a:pt x="634" y="70"/>
                    <a:pt x="633" y="69"/>
                    <a:pt x="633" y="69"/>
                  </a:cubicBezTo>
                  <a:cubicBezTo>
                    <a:pt x="632" y="68"/>
                    <a:pt x="632" y="68"/>
                    <a:pt x="632" y="67"/>
                  </a:cubicBezTo>
                  <a:cubicBezTo>
                    <a:pt x="630" y="69"/>
                    <a:pt x="627" y="71"/>
                    <a:pt x="622" y="71"/>
                  </a:cubicBezTo>
                  <a:cubicBezTo>
                    <a:pt x="620" y="71"/>
                    <a:pt x="618" y="70"/>
                    <a:pt x="616" y="69"/>
                  </a:cubicBezTo>
                  <a:cubicBezTo>
                    <a:pt x="615" y="67"/>
                    <a:pt x="615" y="65"/>
                    <a:pt x="616" y="63"/>
                  </a:cubicBezTo>
                  <a:cubicBezTo>
                    <a:pt x="616" y="62"/>
                    <a:pt x="617" y="61"/>
                    <a:pt x="617" y="61"/>
                  </a:cubicBezTo>
                  <a:cubicBezTo>
                    <a:pt x="617" y="60"/>
                    <a:pt x="617" y="60"/>
                    <a:pt x="618" y="60"/>
                  </a:cubicBezTo>
                  <a:cubicBezTo>
                    <a:pt x="618" y="60"/>
                    <a:pt x="618" y="60"/>
                    <a:pt x="618" y="60"/>
                  </a:cubicBezTo>
                  <a:cubicBezTo>
                    <a:pt x="616" y="61"/>
                    <a:pt x="615" y="61"/>
                    <a:pt x="613" y="61"/>
                  </a:cubicBezTo>
                  <a:cubicBezTo>
                    <a:pt x="612" y="61"/>
                    <a:pt x="611" y="61"/>
                    <a:pt x="610" y="61"/>
                  </a:cubicBezTo>
                  <a:cubicBezTo>
                    <a:pt x="610" y="62"/>
                    <a:pt x="610" y="63"/>
                    <a:pt x="609" y="64"/>
                  </a:cubicBezTo>
                  <a:cubicBezTo>
                    <a:pt x="608" y="65"/>
                    <a:pt x="607" y="65"/>
                    <a:pt x="606" y="66"/>
                  </a:cubicBezTo>
                  <a:cubicBezTo>
                    <a:pt x="595" y="67"/>
                    <a:pt x="585" y="67"/>
                    <a:pt x="576" y="67"/>
                  </a:cubicBezTo>
                  <a:cubicBezTo>
                    <a:pt x="576" y="67"/>
                    <a:pt x="576" y="67"/>
                    <a:pt x="576" y="67"/>
                  </a:cubicBezTo>
                  <a:cubicBezTo>
                    <a:pt x="572" y="67"/>
                    <a:pt x="570" y="66"/>
                    <a:pt x="568" y="65"/>
                  </a:cubicBezTo>
                  <a:cubicBezTo>
                    <a:pt x="568" y="65"/>
                    <a:pt x="567" y="64"/>
                    <a:pt x="567" y="64"/>
                  </a:cubicBezTo>
                  <a:cubicBezTo>
                    <a:pt x="566" y="64"/>
                    <a:pt x="566" y="64"/>
                    <a:pt x="566" y="64"/>
                  </a:cubicBezTo>
                  <a:cubicBezTo>
                    <a:pt x="566" y="64"/>
                    <a:pt x="566" y="64"/>
                    <a:pt x="565" y="64"/>
                  </a:cubicBezTo>
                  <a:cubicBezTo>
                    <a:pt x="565" y="65"/>
                    <a:pt x="564" y="67"/>
                    <a:pt x="562" y="67"/>
                  </a:cubicBezTo>
                  <a:cubicBezTo>
                    <a:pt x="561" y="67"/>
                    <a:pt x="560" y="67"/>
                    <a:pt x="559" y="67"/>
                  </a:cubicBezTo>
                  <a:cubicBezTo>
                    <a:pt x="558" y="67"/>
                    <a:pt x="557" y="67"/>
                    <a:pt x="556" y="67"/>
                  </a:cubicBezTo>
                  <a:cubicBezTo>
                    <a:pt x="554" y="67"/>
                    <a:pt x="551" y="67"/>
                    <a:pt x="549" y="65"/>
                  </a:cubicBezTo>
                  <a:cubicBezTo>
                    <a:pt x="547" y="64"/>
                    <a:pt x="547" y="64"/>
                    <a:pt x="547" y="64"/>
                  </a:cubicBezTo>
                  <a:cubicBezTo>
                    <a:pt x="540" y="58"/>
                    <a:pt x="532" y="52"/>
                    <a:pt x="530" y="40"/>
                  </a:cubicBezTo>
                  <a:cubicBezTo>
                    <a:pt x="530" y="39"/>
                    <a:pt x="530" y="38"/>
                    <a:pt x="530" y="37"/>
                  </a:cubicBezTo>
                  <a:cubicBezTo>
                    <a:pt x="529" y="34"/>
                    <a:pt x="528" y="30"/>
                    <a:pt x="530" y="26"/>
                  </a:cubicBezTo>
                  <a:cubicBezTo>
                    <a:pt x="529" y="24"/>
                    <a:pt x="529" y="22"/>
                    <a:pt x="529" y="20"/>
                  </a:cubicBezTo>
                  <a:cubicBezTo>
                    <a:pt x="529" y="19"/>
                    <a:pt x="529" y="19"/>
                    <a:pt x="529" y="18"/>
                  </a:cubicBezTo>
                  <a:cubicBezTo>
                    <a:pt x="529" y="18"/>
                    <a:pt x="529" y="18"/>
                    <a:pt x="529" y="18"/>
                  </a:cubicBezTo>
                  <a:cubicBezTo>
                    <a:pt x="528" y="18"/>
                    <a:pt x="527" y="17"/>
                    <a:pt x="526" y="16"/>
                  </a:cubicBezTo>
                  <a:cubicBezTo>
                    <a:pt x="526" y="17"/>
                    <a:pt x="525" y="17"/>
                    <a:pt x="525" y="17"/>
                  </a:cubicBezTo>
                  <a:cubicBezTo>
                    <a:pt x="522" y="19"/>
                    <a:pt x="520" y="17"/>
                    <a:pt x="519" y="17"/>
                  </a:cubicBezTo>
                  <a:cubicBezTo>
                    <a:pt x="518" y="16"/>
                    <a:pt x="518" y="15"/>
                    <a:pt x="518" y="15"/>
                  </a:cubicBezTo>
                  <a:cubicBezTo>
                    <a:pt x="517" y="14"/>
                    <a:pt x="517" y="14"/>
                    <a:pt x="517" y="14"/>
                  </a:cubicBezTo>
                  <a:cubicBezTo>
                    <a:pt x="516" y="14"/>
                    <a:pt x="514" y="14"/>
                    <a:pt x="512" y="12"/>
                  </a:cubicBezTo>
                  <a:cubicBezTo>
                    <a:pt x="511" y="11"/>
                    <a:pt x="511" y="9"/>
                    <a:pt x="511" y="8"/>
                  </a:cubicBezTo>
                  <a:cubicBezTo>
                    <a:pt x="511" y="7"/>
                    <a:pt x="511" y="7"/>
                    <a:pt x="509" y="6"/>
                  </a:cubicBezTo>
                  <a:cubicBezTo>
                    <a:pt x="509" y="6"/>
                    <a:pt x="508" y="5"/>
                    <a:pt x="507" y="7"/>
                  </a:cubicBezTo>
                  <a:cubicBezTo>
                    <a:pt x="505" y="9"/>
                    <a:pt x="504" y="11"/>
                    <a:pt x="505" y="14"/>
                  </a:cubicBezTo>
                  <a:cubicBezTo>
                    <a:pt x="506" y="16"/>
                    <a:pt x="507" y="19"/>
                    <a:pt x="508" y="21"/>
                  </a:cubicBezTo>
                  <a:cubicBezTo>
                    <a:pt x="508" y="22"/>
                    <a:pt x="509" y="24"/>
                    <a:pt x="507" y="26"/>
                  </a:cubicBezTo>
                  <a:cubicBezTo>
                    <a:pt x="507" y="26"/>
                    <a:pt x="506" y="27"/>
                    <a:pt x="504" y="27"/>
                  </a:cubicBezTo>
                  <a:cubicBezTo>
                    <a:pt x="504" y="30"/>
                    <a:pt x="503" y="32"/>
                    <a:pt x="499" y="32"/>
                  </a:cubicBezTo>
                  <a:cubicBezTo>
                    <a:pt x="498" y="32"/>
                    <a:pt x="497" y="32"/>
                    <a:pt x="496" y="32"/>
                  </a:cubicBezTo>
                  <a:cubicBezTo>
                    <a:pt x="495" y="32"/>
                    <a:pt x="494" y="33"/>
                    <a:pt x="492" y="33"/>
                  </a:cubicBezTo>
                  <a:cubicBezTo>
                    <a:pt x="456" y="32"/>
                    <a:pt x="420" y="32"/>
                    <a:pt x="384" y="32"/>
                  </a:cubicBezTo>
                  <a:cubicBezTo>
                    <a:pt x="329" y="33"/>
                    <a:pt x="275" y="33"/>
                    <a:pt x="220" y="32"/>
                  </a:cubicBezTo>
                  <a:cubicBezTo>
                    <a:pt x="220" y="32"/>
                    <a:pt x="219" y="33"/>
                    <a:pt x="218" y="33"/>
                  </a:cubicBezTo>
                  <a:cubicBezTo>
                    <a:pt x="217" y="33"/>
                    <a:pt x="215" y="33"/>
                    <a:pt x="214" y="33"/>
                  </a:cubicBezTo>
                  <a:cubicBezTo>
                    <a:pt x="210" y="33"/>
                    <a:pt x="208" y="31"/>
                    <a:pt x="207" y="28"/>
                  </a:cubicBezTo>
                  <a:cubicBezTo>
                    <a:pt x="205" y="27"/>
                    <a:pt x="205" y="27"/>
                    <a:pt x="204" y="26"/>
                  </a:cubicBezTo>
                  <a:cubicBezTo>
                    <a:pt x="203" y="24"/>
                    <a:pt x="204" y="22"/>
                    <a:pt x="204" y="21"/>
                  </a:cubicBezTo>
                  <a:cubicBezTo>
                    <a:pt x="204" y="20"/>
                    <a:pt x="204" y="20"/>
                    <a:pt x="204" y="20"/>
                  </a:cubicBezTo>
                  <a:cubicBezTo>
                    <a:pt x="205" y="18"/>
                    <a:pt x="205" y="17"/>
                    <a:pt x="206" y="15"/>
                  </a:cubicBezTo>
                  <a:cubicBezTo>
                    <a:pt x="206" y="15"/>
                    <a:pt x="206" y="14"/>
                    <a:pt x="206" y="14"/>
                  </a:cubicBezTo>
                  <a:cubicBezTo>
                    <a:pt x="207" y="12"/>
                    <a:pt x="206" y="8"/>
                    <a:pt x="204" y="7"/>
                  </a:cubicBezTo>
                  <a:cubicBezTo>
                    <a:pt x="203" y="6"/>
                    <a:pt x="202" y="6"/>
                    <a:pt x="202" y="6"/>
                  </a:cubicBezTo>
                  <a:cubicBezTo>
                    <a:pt x="201" y="6"/>
                    <a:pt x="201" y="6"/>
                    <a:pt x="201" y="6"/>
                  </a:cubicBezTo>
                  <a:cubicBezTo>
                    <a:pt x="200" y="11"/>
                    <a:pt x="198" y="14"/>
                    <a:pt x="194" y="15"/>
                  </a:cubicBezTo>
                  <a:cubicBezTo>
                    <a:pt x="194" y="15"/>
                    <a:pt x="194" y="16"/>
                    <a:pt x="194" y="16"/>
                  </a:cubicBezTo>
                  <a:cubicBezTo>
                    <a:pt x="193" y="16"/>
                    <a:pt x="193" y="16"/>
                    <a:pt x="193" y="16"/>
                  </a:cubicBezTo>
                  <a:cubicBezTo>
                    <a:pt x="192" y="17"/>
                    <a:pt x="190" y="19"/>
                    <a:pt x="187" y="18"/>
                  </a:cubicBezTo>
                  <a:cubicBezTo>
                    <a:pt x="186" y="18"/>
                    <a:pt x="186" y="17"/>
                    <a:pt x="185" y="17"/>
                  </a:cubicBezTo>
                  <a:cubicBezTo>
                    <a:pt x="185" y="17"/>
                    <a:pt x="184" y="17"/>
                    <a:pt x="184" y="17"/>
                  </a:cubicBezTo>
                  <a:cubicBezTo>
                    <a:pt x="183" y="18"/>
                    <a:pt x="183" y="18"/>
                    <a:pt x="183" y="20"/>
                  </a:cubicBezTo>
                  <a:cubicBezTo>
                    <a:pt x="183" y="21"/>
                    <a:pt x="183" y="22"/>
                    <a:pt x="182" y="23"/>
                  </a:cubicBezTo>
                  <a:cubicBezTo>
                    <a:pt x="181" y="25"/>
                    <a:pt x="181" y="26"/>
                    <a:pt x="182" y="28"/>
                  </a:cubicBezTo>
                  <a:cubicBezTo>
                    <a:pt x="182" y="29"/>
                    <a:pt x="182" y="30"/>
                    <a:pt x="182" y="30"/>
                  </a:cubicBezTo>
                  <a:cubicBezTo>
                    <a:pt x="183" y="35"/>
                    <a:pt x="182" y="38"/>
                    <a:pt x="181" y="42"/>
                  </a:cubicBezTo>
                  <a:cubicBezTo>
                    <a:pt x="180" y="43"/>
                    <a:pt x="180" y="45"/>
                    <a:pt x="180" y="47"/>
                  </a:cubicBezTo>
                  <a:cubicBezTo>
                    <a:pt x="179" y="48"/>
                    <a:pt x="178" y="49"/>
                    <a:pt x="178" y="50"/>
                  </a:cubicBezTo>
                  <a:cubicBezTo>
                    <a:pt x="177" y="51"/>
                    <a:pt x="177" y="51"/>
                    <a:pt x="177" y="51"/>
                  </a:cubicBezTo>
                  <a:cubicBezTo>
                    <a:pt x="174" y="54"/>
                    <a:pt x="171" y="58"/>
                    <a:pt x="167" y="62"/>
                  </a:cubicBezTo>
                  <a:cubicBezTo>
                    <a:pt x="163" y="65"/>
                    <a:pt x="158" y="67"/>
                    <a:pt x="152" y="67"/>
                  </a:cubicBezTo>
                  <a:cubicBezTo>
                    <a:pt x="152" y="67"/>
                    <a:pt x="152" y="67"/>
                    <a:pt x="152" y="67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51" y="67"/>
                    <a:pt x="151" y="67"/>
                    <a:pt x="151" y="67"/>
                  </a:cubicBezTo>
                  <a:cubicBezTo>
                    <a:pt x="150" y="67"/>
                    <a:pt x="147" y="67"/>
                    <a:pt x="146" y="65"/>
                  </a:cubicBezTo>
                  <a:cubicBezTo>
                    <a:pt x="144" y="66"/>
                    <a:pt x="143" y="66"/>
                    <a:pt x="142" y="65"/>
                  </a:cubicBezTo>
                  <a:cubicBezTo>
                    <a:pt x="141" y="67"/>
                    <a:pt x="140" y="68"/>
                    <a:pt x="137" y="68"/>
                  </a:cubicBezTo>
                  <a:cubicBezTo>
                    <a:pt x="127" y="67"/>
                    <a:pt x="127" y="67"/>
                    <a:pt x="127" y="67"/>
                  </a:cubicBezTo>
                  <a:cubicBezTo>
                    <a:pt x="121" y="67"/>
                    <a:pt x="115" y="67"/>
                    <a:pt x="108" y="66"/>
                  </a:cubicBezTo>
                  <a:cubicBezTo>
                    <a:pt x="108" y="66"/>
                    <a:pt x="106" y="66"/>
                    <a:pt x="105" y="65"/>
                  </a:cubicBezTo>
                  <a:cubicBezTo>
                    <a:pt x="104" y="64"/>
                    <a:pt x="104" y="62"/>
                    <a:pt x="104" y="61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3" y="62"/>
                    <a:pt x="101" y="62"/>
                    <a:pt x="100" y="62"/>
                  </a:cubicBezTo>
                  <a:cubicBezTo>
                    <a:pt x="98" y="62"/>
                    <a:pt x="97" y="61"/>
                    <a:pt x="96" y="60"/>
                  </a:cubicBezTo>
                  <a:cubicBezTo>
                    <a:pt x="96" y="60"/>
                    <a:pt x="96" y="60"/>
                    <a:pt x="96" y="60"/>
                  </a:cubicBezTo>
                  <a:cubicBezTo>
                    <a:pt x="96" y="61"/>
                    <a:pt x="96" y="62"/>
                    <a:pt x="97" y="63"/>
                  </a:cubicBezTo>
                  <a:cubicBezTo>
                    <a:pt x="97" y="64"/>
                    <a:pt x="97" y="65"/>
                    <a:pt x="97" y="66"/>
                  </a:cubicBezTo>
                  <a:cubicBezTo>
                    <a:pt x="98" y="68"/>
                    <a:pt x="97" y="70"/>
                    <a:pt x="96" y="71"/>
                  </a:cubicBezTo>
                  <a:cubicBezTo>
                    <a:pt x="95" y="71"/>
                    <a:pt x="94" y="71"/>
                    <a:pt x="93" y="71"/>
                  </a:cubicBezTo>
                  <a:cubicBezTo>
                    <a:pt x="90" y="71"/>
                    <a:pt x="84" y="70"/>
                    <a:pt x="82" y="68"/>
                  </a:cubicBezTo>
                  <a:cubicBezTo>
                    <a:pt x="82" y="68"/>
                    <a:pt x="81" y="67"/>
                    <a:pt x="81" y="67"/>
                  </a:cubicBezTo>
                  <a:cubicBezTo>
                    <a:pt x="81" y="67"/>
                    <a:pt x="81" y="68"/>
                    <a:pt x="80" y="68"/>
                  </a:cubicBezTo>
                  <a:cubicBezTo>
                    <a:pt x="79" y="70"/>
                    <a:pt x="77" y="70"/>
                    <a:pt x="74" y="69"/>
                  </a:cubicBezTo>
                  <a:cubicBezTo>
                    <a:pt x="72" y="69"/>
                    <a:pt x="71" y="67"/>
                    <a:pt x="70" y="66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8" y="68"/>
                    <a:pt x="66" y="68"/>
                    <a:pt x="64" y="68"/>
                  </a:cubicBezTo>
                  <a:cubicBezTo>
                    <a:pt x="60" y="68"/>
                    <a:pt x="58" y="65"/>
                    <a:pt x="57" y="63"/>
                  </a:cubicBezTo>
                  <a:cubicBezTo>
                    <a:pt x="57" y="63"/>
                    <a:pt x="57" y="63"/>
                    <a:pt x="57" y="63"/>
                  </a:cubicBezTo>
                  <a:cubicBezTo>
                    <a:pt x="57" y="63"/>
                    <a:pt x="57" y="64"/>
                    <a:pt x="56" y="64"/>
                  </a:cubicBezTo>
                  <a:cubicBezTo>
                    <a:pt x="56" y="65"/>
                    <a:pt x="55" y="66"/>
                    <a:pt x="53" y="66"/>
                  </a:cubicBezTo>
                  <a:cubicBezTo>
                    <a:pt x="52" y="66"/>
                    <a:pt x="52" y="66"/>
                    <a:pt x="52" y="66"/>
                  </a:cubicBezTo>
                  <a:cubicBezTo>
                    <a:pt x="49" y="66"/>
                    <a:pt x="47" y="65"/>
                    <a:pt x="46" y="62"/>
                  </a:cubicBezTo>
                  <a:cubicBezTo>
                    <a:pt x="46" y="61"/>
                    <a:pt x="46" y="61"/>
                    <a:pt x="45" y="61"/>
                  </a:cubicBezTo>
                  <a:cubicBezTo>
                    <a:pt x="44" y="63"/>
                    <a:pt x="42" y="64"/>
                    <a:pt x="37" y="62"/>
                  </a:cubicBezTo>
                  <a:cubicBezTo>
                    <a:pt x="35" y="61"/>
                    <a:pt x="35" y="60"/>
                    <a:pt x="34" y="59"/>
                  </a:cubicBezTo>
                  <a:cubicBezTo>
                    <a:pt x="34" y="58"/>
                    <a:pt x="34" y="58"/>
                    <a:pt x="33" y="57"/>
                  </a:cubicBezTo>
                  <a:cubicBezTo>
                    <a:pt x="33" y="58"/>
                    <a:pt x="33" y="58"/>
                    <a:pt x="32" y="59"/>
                  </a:cubicBezTo>
                  <a:cubicBezTo>
                    <a:pt x="32" y="59"/>
                    <a:pt x="31" y="60"/>
                    <a:pt x="30" y="60"/>
                  </a:cubicBezTo>
                  <a:cubicBezTo>
                    <a:pt x="28" y="60"/>
                    <a:pt x="27" y="60"/>
                    <a:pt x="25" y="59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3" y="58"/>
                    <a:pt x="22" y="58"/>
                    <a:pt x="22" y="58"/>
                  </a:cubicBezTo>
                  <a:cubicBezTo>
                    <a:pt x="21" y="58"/>
                    <a:pt x="19" y="57"/>
                    <a:pt x="19" y="55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19" y="53"/>
                    <a:pt x="19" y="53"/>
                    <a:pt x="18" y="53"/>
                  </a:cubicBezTo>
                  <a:cubicBezTo>
                    <a:pt x="18" y="56"/>
                    <a:pt x="15" y="57"/>
                    <a:pt x="14" y="58"/>
                  </a:cubicBezTo>
                  <a:cubicBezTo>
                    <a:pt x="13" y="58"/>
                    <a:pt x="12" y="59"/>
                    <a:pt x="12" y="59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2" y="62"/>
                    <a:pt x="12" y="64"/>
                    <a:pt x="11" y="65"/>
                  </a:cubicBezTo>
                  <a:cubicBezTo>
                    <a:pt x="11" y="66"/>
                    <a:pt x="9" y="67"/>
                    <a:pt x="6" y="67"/>
                  </a:cubicBezTo>
                  <a:cubicBezTo>
                    <a:pt x="7" y="69"/>
                    <a:pt x="8" y="69"/>
                    <a:pt x="9" y="70"/>
                  </a:cubicBezTo>
                  <a:cubicBezTo>
                    <a:pt x="12" y="71"/>
                    <a:pt x="16" y="73"/>
                    <a:pt x="19" y="75"/>
                  </a:cubicBezTo>
                  <a:cubicBezTo>
                    <a:pt x="23" y="77"/>
                    <a:pt x="27" y="79"/>
                    <a:pt x="32" y="81"/>
                  </a:cubicBezTo>
                  <a:cubicBezTo>
                    <a:pt x="35" y="82"/>
                    <a:pt x="35" y="84"/>
                    <a:pt x="35" y="85"/>
                  </a:cubicBezTo>
                  <a:cubicBezTo>
                    <a:pt x="35" y="85"/>
                    <a:pt x="35" y="86"/>
                    <a:pt x="35" y="86"/>
                  </a:cubicBezTo>
                  <a:cubicBezTo>
                    <a:pt x="35" y="86"/>
                    <a:pt x="36" y="86"/>
                    <a:pt x="37" y="86"/>
                  </a:cubicBezTo>
                  <a:cubicBezTo>
                    <a:pt x="37" y="86"/>
                    <a:pt x="37" y="86"/>
                    <a:pt x="37" y="86"/>
                  </a:cubicBezTo>
                  <a:cubicBezTo>
                    <a:pt x="41" y="86"/>
                    <a:pt x="42" y="89"/>
                    <a:pt x="42" y="90"/>
                  </a:cubicBezTo>
                  <a:cubicBezTo>
                    <a:pt x="42" y="90"/>
                    <a:pt x="42" y="90"/>
                    <a:pt x="42" y="90"/>
                  </a:cubicBezTo>
                  <a:cubicBezTo>
                    <a:pt x="43" y="90"/>
                    <a:pt x="43" y="90"/>
                    <a:pt x="43" y="90"/>
                  </a:cubicBezTo>
                  <a:cubicBezTo>
                    <a:pt x="43" y="90"/>
                    <a:pt x="44" y="90"/>
                    <a:pt x="44" y="90"/>
                  </a:cubicBezTo>
                  <a:cubicBezTo>
                    <a:pt x="45" y="91"/>
                    <a:pt x="47" y="91"/>
                    <a:pt x="47" y="93"/>
                  </a:cubicBezTo>
                  <a:cubicBezTo>
                    <a:pt x="48" y="95"/>
                    <a:pt x="49" y="95"/>
                    <a:pt x="51" y="96"/>
                  </a:cubicBezTo>
                  <a:cubicBezTo>
                    <a:pt x="53" y="97"/>
                    <a:pt x="55" y="97"/>
                    <a:pt x="56" y="99"/>
                  </a:cubicBezTo>
                  <a:cubicBezTo>
                    <a:pt x="59" y="100"/>
                    <a:pt x="60" y="102"/>
                    <a:pt x="60" y="103"/>
                  </a:cubicBezTo>
                  <a:cubicBezTo>
                    <a:pt x="60" y="103"/>
                    <a:pt x="61" y="103"/>
                    <a:pt x="61" y="103"/>
                  </a:cubicBezTo>
                  <a:cubicBezTo>
                    <a:pt x="64" y="103"/>
                    <a:pt x="65" y="104"/>
                    <a:pt x="65" y="106"/>
                  </a:cubicBezTo>
                  <a:cubicBezTo>
                    <a:pt x="65" y="106"/>
                    <a:pt x="65" y="106"/>
                    <a:pt x="67" y="106"/>
                  </a:cubicBezTo>
                  <a:cubicBezTo>
                    <a:pt x="68" y="107"/>
                    <a:pt x="70" y="108"/>
                    <a:pt x="71" y="110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801575B-7CAE-F32E-7937-7CB58125E9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7" y="1938"/>
              <a:ext cx="130" cy="183"/>
            </a:xfrm>
            <a:custGeom>
              <a:avLst/>
              <a:gdLst>
                <a:gd name="T0" fmla="*/ 62 w 76"/>
                <a:gd name="T1" fmla="*/ 8 h 106"/>
                <a:gd name="T2" fmla="*/ 73 w 76"/>
                <a:gd name="T3" fmla="*/ 32 h 106"/>
                <a:gd name="T4" fmla="*/ 70 w 76"/>
                <a:gd name="T5" fmla="*/ 32 h 106"/>
                <a:gd name="T6" fmla="*/ 60 w 76"/>
                <a:gd name="T7" fmla="*/ 11 h 106"/>
                <a:gd name="T8" fmla="*/ 37 w 76"/>
                <a:gd name="T9" fmla="*/ 3 h 106"/>
                <a:gd name="T10" fmla="*/ 14 w 76"/>
                <a:gd name="T11" fmla="*/ 9 h 106"/>
                <a:gd name="T12" fmla="*/ 5 w 76"/>
                <a:gd name="T13" fmla="*/ 25 h 106"/>
                <a:gd name="T14" fmla="*/ 17 w 76"/>
                <a:gd name="T15" fmla="*/ 41 h 106"/>
                <a:gd name="T16" fmla="*/ 38 w 76"/>
                <a:gd name="T17" fmla="*/ 48 h 106"/>
                <a:gd name="T18" fmla="*/ 64 w 76"/>
                <a:gd name="T19" fmla="*/ 57 h 106"/>
                <a:gd name="T20" fmla="*/ 76 w 76"/>
                <a:gd name="T21" fmla="*/ 78 h 106"/>
                <a:gd name="T22" fmla="*/ 65 w 76"/>
                <a:gd name="T23" fmla="*/ 99 h 106"/>
                <a:gd name="T24" fmla="*/ 38 w 76"/>
                <a:gd name="T25" fmla="*/ 106 h 106"/>
                <a:gd name="T26" fmla="*/ 12 w 76"/>
                <a:gd name="T27" fmla="*/ 97 h 106"/>
                <a:gd name="T28" fmla="*/ 0 w 76"/>
                <a:gd name="T29" fmla="*/ 70 h 106"/>
                <a:gd name="T30" fmla="*/ 3 w 76"/>
                <a:gd name="T31" fmla="*/ 70 h 106"/>
                <a:gd name="T32" fmla="*/ 14 w 76"/>
                <a:gd name="T33" fmla="*/ 94 h 106"/>
                <a:gd name="T34" fmla="*/ 38 w 76"/>
                <a:gd name="T35" fmla="*/ 102 h 106"/>
                <a:gd name="T36" fmla="*/ 63 w 76"/>
                <a:gd name="T37" fmla="*/ 96 h 106"/>
                <a:gd name="T38" fmla="*/ 72 w 76"/>
                <a:gd name="T39" fmla="*/ 78 h 106"/>
                <a:gd name="T40" fmla="*/ 61 w 76"/>
                <a:gd name="T41" fmla="*/ 60 h 106"/>
                <a:gd name="T42" fmla="*/ 37 w 76"/>
                <a:gd name="T43" fmla="*/ 51 h 106"/>
                <a:gd name="T44" fmla="*/ 14 w 76"/>
                <a:gd name="T45" fmla="*/ 44 h 106"/>
                <a:gd name="T46" fmla="*/ 2 w 76"/>
                <a:gd name="T47" fmla="*/ 25 h 106"/>
                <a:gd name="T48" fmla="*/ 13 w 76"/>
                <a:gd name="T49" fmla="*/ 6 h 106"/>
                <a:gd name="T50" fmla="*/ 37 w 76"/>
                <a:gd name="T51" fmla="*/ 0 h 106"/>
                <a:gd name="T52" fmla="*/ 62 w 76"/>
                <a:gd name="T5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6" h="106">
                  <a:moveTo>
                    <a:pt x="62" y="8"/>
                  </a:moveTo>
                  <a:cubicBezTo>
                    <a:pt x="69" y="14"/>
                    <a:pt x="72" y="22"/>
                    <a:pt x="73" y="32"/>
                  </a:cubicBezTo>
                  <a:cubicBezTo>
                    <a:pt x="70" y="32"/>
                    <a:pt x="70" y="32"/>
                    <a:pt x="70" y="32"/>
                  </a:cubicBezTo>
                  <a:cubicBezTo>
                    <a:pt x="69" y="23"/>
                    <a:pt x="66" y="16"/>
                    <a:pt x="60" y="11"/>
                  </a:cubicBezTo>
                  <a:cubicBezTo>
                    <a:pt x="55" y="6"/>
                    <a:pt x="47" y="3"/>
                    <a:pt x="37" y="3"/>
                  </a:cubicBezTo>
                  <a:cubicBezTo>
                    <a:pt x="27" y="3"/>
                    <a:pt x="20" y="5"/>
                    <a:pt x="14" y="9"/>
                  </a:cubicBezTo>
                  <a:cubicBezTo>
                    <a:pt x="8" y="12"/>
                    <a:pt x="5" y="18"/>
                    <a:pt x="5" y="25"/>
                  </a:cubicBezTo>
                  <a:cubicBezTo>
                    <a:pt x="5" y="32"/>
                    <a:pt x="9" y="37"/>
                    <a:pt x="17" y="41"/>
                  </a:cubicBezTo>
                  <a:cubicBezTo>
                    <a:pt x="20" y="43"/>
                    <a:pt x="27" y="45"/>
                    <a:pt x="38" y="48"/>
                  </a:cubicBezTo>
                  <a:cubicBezTo>
                    <a:pt x="50" y="51"/>
                    <a:pt x="59" y="54"/>
                    <a:pt x="64" y="57"/>
                  </a:cubicBezTo>
                  <a:cubicBezTo>
                    <a:pt x="72" y="62"/>
                    <a:pt x="76" y="69"/>
                    <a:pt x="76" y="78"/>
                  </a:cubicBezTo>
                  <a:cubicBezTo>
                    <a:pt x="76" y="87"/>
                    <a:pt x="72" y="94"/>
                    <a:pt x="65" y="99"/>
                  </a:cubicBezTo>
                  <a:cubicBezTo>
                    <a:pt x="58" y="103"/>
                    <a:pt x="49" y="106"/>
                    <a:pt x="38" y="106"/>
                  </a:cubicBezTo>
                  <a:cubicBezTo>
                    <a:pt x="27" y="106"/>
                    <a:pt x="18" y="103"/>
                    <a:pt x="12" y="97"/>
                  </a:cubicBezTo>
                  <a:cubicBezTo>
                    <a:pt x="5" y="91"/>
                    <a:pt x="1" y="82"/>
                    <a:pt x="0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4" y="81"/>
                    <a:pt x="8" y="89"/>
                    <a:pt x="14" y="94"/>
                  </a:cubicBezTo>
                  <a:cubicBezTo>
                    <a:pt x="20" y="100"/>
                    <a:pt x="28" y="102"/>
                    <a:pt x="38" y="102"/>
                  </a:cubicBezTo>
                  <a:cubicBezTo>
                    <a:pt x="48" y="102"/>
                    <a:pt x="56" y="100"/>
                    <a:pt x="63" y="96"/>
                  </a:cubicBezTo>
                  <a:cubicBezTo>
                    <a:pt x="69" y="91"/>
                    <a:pt x="72" y="86"/>
                    <a:pt x="72" y="78"/>
                  </a:cubicBezTo>
                  <a:cubicBezTo>
                    <a:pt x="72" y="70"/>
                    <a:pt x="69" y="64"/>
                    <a:pt x="61" y="60"/>
                  </a:cubicBezTo>
                  <a:cubicBezTo>
                    <a:pt x="57" y="57"/>
                    <a:pt x="49" y="54"/>
                    <a:pt x="37" y="51"/>
                  </a:cubicBezTo>
                  <a:cubicBezTo>
                    <a:pt x="25" y="48"/>
                    <a:pt x="18" y="46"/>
                    <a:pt x="14" y="44"/>
                  </a:cubicBezTo>
                  <a:cubicBezTo>
                    <a:pt x="6" y="39"/>
                    <a:pt x="2" y="33"/>
                    <a:pt x="2" y="25"/>
                  </a:cubicBezTo>
                  <a:cubicBezTo>
                    <a:pt x="2" y="17"/>
                    <a:pt x="6" y="10"/>
                    <a:pt x="13" y="6"/>
                  </a:cubicBezTo>
                  <a:cubicBezTo>
                    <a:pt x="19" y="2"/>
                    <a:pt x="27" y="0"/>
                    <a:pt x="37" y="0"/>
                  </a:cubicBezTo>
                  <a:cubicBezTo>
                    <a:pt x="48" y="0"/>
                    <a:pt x="56" y="3"/>
                    <a:pt x="62" y="8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23B3139B-04AF-4AF1-B4D3-14D30FFDB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9" y="1942"/>
              <a:ext cx="96" cy="179"/>
            </a:xfrm>
            <a:custGeom>
              <a:avLst/>
              <a:gdLst>
                <a:gd name="T0" fmla="*/ 53 w 56"/>
                <a:gd name="T1" fmla="*/ 0 h 104"/>
                <a:gd name="T2" fmla="*/ 56 w 56"/>
                <a:gd name="T3" fmla="*/ 0 h 104"/>
                <a:gd name="T4" fmla="*/ 56 w 56"/>
                <a:gd name="T5" fmla="*/ 70 h 104"/>
                <a:gd name="T6" fmla="*/ 50 w 56"/>
                <a:gd name="T7" fmla="*/ 94 h 104"/>
                <a:gd name="T8" fmla="*/ 27 w 56"/>
                <a:gd name="T9" fmla="*/ 104 h 104"/>
                <a:gd name="T10" fmla="*/ 8 w 56"/>
                <a:gd name="T11" fmla="*/ 97 h 104"/>
                <a:gd name="T12" fmla="*/ 0 w 56"/>
                <a:gd name="T13" fmla="*/ 75 h 104"/>
                <a:gd name="T14" fmla="*/ 0 w 56"/>
                <a:gd name="T15" fmla="*/ 70 h 104"/>
                <a:gd name="T16" fmla="*/ 3 w 56"/>
                <a:gd name="T17" fmla="*/ 70 h 104"/>
                <a:gd name="T18" fmla="*/ 3 w 56"/>
                <a:gd name="T19" fmla="*/ 75 h 104"/>
                <a:gd name="T20" fmla="*/ 27 w 56"/>
                <a:gd name="T21" fmla="*/ 100 h 104"/>
                <a:gd name="T22" fmla="*/ 47 w 56"/>
                <a:gd name="T23" fmla="*/ 92 h 104"/>
                <a:gd name="T24" fmla="*/ 53 w 56"/>
                <a:gd name="T25" fmla="*/ 70 h 104"/>
                <a:gd name="T26" fmla="*/ 53 w 56"/>
                <a:gd name="T27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" h="104">
                  <a:moveTo>
                    <a:pt x="53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6" y="80"/>
                    <a:pt x="54" y="88"/>
                    <a:pt x="50" y="94"/>
                  </a:cubicBezTo>
                  <a:cubicBezTo>
                    <a:pt x="45" y="100"/>
                    <a:pt x="37" y="104"/>
                    <a:pt x="27" y="104"/>
                  </a:cubicBezTo>
                  <a:cubicBezTo>
                    <a:pt x="19" y="104"/>
                    <a:pt x="12" y="101"/>
                    <a:pt x="8" y="97"/>
                  </a:cubicBezTo>
                  <a:cubicBezTo>
                    <a:pt x="2" y="92"/>
                    <a:pt x="0" y="84"/>
                    <a:pt x="0" y="75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3" y="75"/>
                    <a:pt x="3" y="75"/>
                    <a:pt x="3" y="75"/>
                  </a:cubicBezTo>
                  <a:cubicBezTo>
                    <a:pt x="3" y="92"/>
                    <a:pt x="11" y="100"/>
                    <a:pt x="27" y="100"/>
                  </a:cubicBezTo>
                  <a:cubicBezTo>
                    <a:pt x="36" y="100"/>
                    <a:pt x="43" y="97"/>
                    <a:pt x="47" y="92"/>
                  </a:cubicBezTo>
                  <a:cubicBezTo>
                    <a:pt x="51" y="87"/>
                    <a:pt x="53" y="80"/>
                    <a:pt x="53" y="70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40C7DC5B-F464-B89C-0AE5-96A349936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9" y="1942"/>
              <a:ext cx="142" cy="175"/>
            </a:xfrm>
            <a:custGeom>
              <a:avLst/>
              <a:gdLst>
                <a:gd name="T0" fmla="*/ 0 w 142"/>
                <a:gd name="T1" fmla="*/ 0 h 175"/>
                <a:gd name="T2" fmla="*/ 142 w 142"/>
                <a:gd name="T3" fmla="*/ 0 h 175"/>
                <a:gd name="T4" fmla="*/ 142 w 142"/>
                <a:gd name="T5" fmla="*/ 5 h 175"/>
                <a:gd name="T6" fmla="*/ 73 w 142"/>
                <a:gd name="T7" fmla="*/ 5 h 175"/>
                <a:gd name="T8" fmla="*/ 73 w 142"/>
                <a:gd name="T9" fmla="*/ 175 h 175"/>
                <a:gd name="T10" fmla="*/ 68 w 142"/>
                <a:gd name="T11" fmla="*/ 175 h 175"/>
                <a:gd name="T12" fmla="*/ 68 w 142"/>
                <a:gd name="T13" fmla="*/ 5 h 175"/>
                <a:gd name="T14" fmla="*/ 0 w 142"/>
                <a:gd name="T15" fmla="*/ 5 h 175"/>
                <a:gd name="T16" fmla="*/ 0 w 142"/>
                <a:gd name="T17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2" h="175">
                  <a:moveTo>
                    <a:pt x="0" y="0"/>
                  </a:moveTo>
                  <a:lnTo>
                    <a:pt x="142" y="0"/>
                  </a:lnTo>
                  <a:lnTo>
                    <a:pt x="142" y="5"/>
                  </a:lnTo>
                  <a:lnTo>
                    <a:pt x="73" y="5"/>
                  </a:lnTo>
                  <a:lnTo>
                    <a:pt x="73" y="175"/>
                  </a:lnTo>
                  <a:lnTo>
                    <a:pt x="68" y="175"/>
                  </a:lnTo>
                  <a:lnTo>
                    <a:pt x="68" y="5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8DD24AFE-DB7C-41A7-648D-065EBC6330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3" y="1942"/>
              <a:ext cx="130" cy="179"/>
            </a:xfrm>
            <a:custGeom>
              <a:avLst/>
              <a:gdLst>
                <a:gd name="T0" fmla="*/ 0 w 76"/>
                <a:gd name="T1" fmla="*/ 0 h 104"/>
                <a:gd name="T2" fmla="*/ 4 w 76"/>
                <a:gd name="T3" fmla="*/ 0 h 104"/>
                <a:gd name="T4" fmla="*/ 4 w 76"/>
                <a:gd name="T5" fmla="*/ 62 h 104"/>
                <a:gd name="T6" fmla="*/ 12 w 76"/>
                <a:gd name="T7" fmla="*/ 90 h 104"/>
                <a:gd name="T8" fmla="*/ 38 w 76"/>
                <a:gd name="T9" fmla="*/ 100 h 104"/>
                <a:gd name="T10" fmla="*/ 65 w 76"/>
                <a:gd name="T11" fmla="*/ 90 h 104"/>
                <a:gd name="T12" fmla="*/ 73 w 76"/>
                <a:gd name="T13" fmla="*/ 62 h 104"/>
                <a:gd name="T14" fmla="*/ 73 w 76"/>
                <a:gd name="T15" fmla="*/ 0 h 104"/>
                <a:gd name="T16" fmla="*/ 76 w 76"/>
                <a:gd name="T17" fmla="*/ 0 h 104"/>
                <a:gd name="T18" fmla="*/ 76 w 76"/>
                <a:gd name="T19" fmla="*/ 62 h 104"/>
                <a:gd name="T20" fmla="*/ 68 w 76"/>
                <a:gd name="T21" fmla="*/ 92 h 104"/>
                <a:gd name="T22" fmla="*/ 38 w 76"/>
                <a:gd name="T23" fmla="*/ 104 h 104"/>
                <a:gd name="T24" fmla="*/ 9 w 76"/>
                <a:gd name="T25" fmla="*/ 92 h 104"/>
                <a:gd name="T26" fmla="*/ 0 w 76"/>
                <a:gd name="T27" fmla="*/ 62 h 104"/>
                <a:gd name="T28" fmla="*/ 0 w 76"/>
                <a:gd name="T2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104">
                  <a:moveTo>
                    <a:pt x="0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74"/>
                    <a:pt x="6" y="83"/>
                    <a:pt x="12" y="90"/>
                  </a:cubicBezTo>
                  <a:cubicBezTo>
                    <a:pt x="17" y="97"/>
                    <a:pt x="26" y="100"/>
                    <a:pt x="38" y="100"/>
                  </a:cubicBezTo>
                  <a:cubicBezTo>
                    <a:pt x="50" y="100"/>
                    <a:pt x="59" y="97"/>
                    <a:pt x="65" y="90"/>
                  </a:cubicBezTo>
                  <a:cubicBezTo>
                    <a:pt x="70" y="83"/>
                    <a:pt x="73" y="74"/>
                    <a:pt x="73" y="62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62"/>
                    <a:pt x="76" y="62"/>
                    <a:pt x="76" y="62"/>
                  </a:cubicBezTo>
                  <a:cubicBezTo>
                    <a:pt x="76" y="75"/>
                    <a:pt x="73" y="85"/>
                    <a:pt x="68" y="92"/>
                  </a:cubicBezTo>
                  <a:cubicBezTo>
                    <a:pt x="61" y="100"/>
                    <a:pt x="52" y="104"/>
                    <a:pt x="38" y="104"/>
                  </a:cubicBezTo>
                  <a:cubicBezTo>
                    <a:pt x="25" y="104"/>
                    <a:pt x="15" y="100"/>
                    <a:pt x="9" y="92"/>
                  </a:cubicBezTo>
                  <a:cubicBezTo>
                    <a:pt x="3" y="85"/>
                    <a:pt x="0" y="75"/>
                    <a:pt x="0" y="6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cxnSp>
        <p:nvCxnSpPr>
          <p:cNvPr id="15" name="直接连接符 17">
            <a:extLst>
              <a:ext uri="{FF2B5EF4-FFF2-40B4-BE49-F238E27FC236}">
                <a16:creationId xmlns:a16="http://schemas.microsoft.com/office/drawing/2014/main" id="{3F36BA57-757F-6801-E22B-9A2E3C4F887B}"/>
              </a:ext>
            </a:extLst>
          </p:cNvPr>
          <p:cNvCxnSpPr>
            <a:cxnSpLocks/>
            <a:stCxn id="7" idx="36"/>
          </p:cNvCxnSpPr>
          <p:nvPr userDrawn="1"/>
        </p:nvCxnSpPr>
        <p:spPr>
          <a:xfrm flipH="1">
            <a:off x="-24384" y="738423"/>
            <a:ext cx="9630228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E710279A-60E4-3F80-6851-51115AF903DC}"/>
              </a:ext>
            </a:extLst>
          </p:cNvPr>
          <p:cNvSpPr/>
          <p:nvPr userDrawn="1"/>
        </p:nvSpPr>
        <p:spPr>
          <a:xfrm>
            <a:off x="-24390" y="6600859"/>
            <a:ext cx="12216368" cy="266722"/>
          </a:xfrm>
          <a:prstGeom prst="rect">
            <a:avLst/>
          </a:prstGeom>
          <a:gradFill>
            <a:gsLst>
              <a:gs pos="0">
                <a:srgbClr val="004099"/>
              </a:gs>
              <a:gs pos="100000">
                <a:srgbClr val="316EE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90E7174-A6EE-0EF6-87DA-36200E8DF441}"/>
              </a:ext>
            </a:extLst>
          </p:cNvPr>
          <p:cNvSpPr txBox="1"/>
          <p:nvPr userDrawn="1"/>
        </p:nvSpPr>
        <p:spPr>
          <a:xfrm>
            <a:off x="8529289" y="6658827"/>
            <a:ext cx="3448059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000" b="1" spc="30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SHANGHAI JIAO TONG UNIVERSITY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47425CF-36A3-44B4-91F2-4AC5034C5ABC}"/>
              </a:ext>
            </a:extLst>
          </p:cNvPr>
          <p:cNvSpPr txBox="1"/>
          <p:nvPr userDrawn="1"/>
        </p:nvSpPr>
        <p:spPr>
          <a:xfrm>
            <a:off x="561142" y="6654203"/>
            <a:ext cx="151644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b="1" kern="1200" spc="30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饮水思源 爱国荣校</a:t>
            </a:r>
          </a:p>
        </p:txBody>
      </p:sp>
      <p:sp>
        <p:nvSpPr>
          <p:cNvPr id="22" name="标题 21">
            <a:extLst>
              <a:ext uri="{FF2B5EF4-FFF2-40B4-BE49-F238E27FC236}">
                <a16:creationId xmlns:a16="http://schemas.microsoft.com/office/drawing/2014/main" id="{98A6D459-C222-1215-A095-AAFF5F8B1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57" y="115230"/>
            <a:ext cx="5469800" cy="542226"/>
          </a:xfrm>
          <a:prstGeom prst="rect">
            <a:avLst/>
          </a:prstGeom>
        </p:spPr>
        <p:txBody>
          <a:bodyPr/>
          <a:lstStyle>
            <a:lvl1pPr>
              <a:defRPr sz="34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0" name="Slide Number Placeholder 3">
            <a:extLst>
              <a:ext uri="{FF2B5EF4-FFF2-40B4-BE49-F238E27FC236}">
                <a16:creationId xmlns:a16="http://schemas.microsoft.com/office/drawing/2014/main" id="{E784E10A-CE8B-5BC2-04ED-D3EF7F1CC5C9}"/>
              </a:ext>
            </a:extLst>
          </p:cNvPr>
          <p:cNvSpPr txBox="1">
            <a:spLocks/>
          </p:cNvSpPr>
          <p:nvPr userDrawn="1"/>
        </p:nvSpPr>
        <p:spPr>
          <a:xfrm>
            <a:off x="10155019" y="6224187"/>
            <a:ext cx="1989531" cy="29399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400" b="1" kern="120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BD7ADC6-30BD-4A57-B412-79A6F3368C20}" type="slidenum">
              <a:rPr lang="zh-CN" altLang="en-US" sz="2800" smtClean="0">
                <a:solidFill>
                  <a:schemeClr val="tx1"/>
                </a:solidFill>
              </a:rPr>
              <a:pPr algn="r"/>
              <a:t>‹#›</a:t>
            </a:fld>
            <a:endParaRPr lang="zh-CN" alt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6294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00DD0E0-C0EF-BE37-B086-B7286743C9E0}"/>
              </a:ext>
            </a:extLst>
          </p:cNvPr>
          <p:cNvCxnSpPr>
            <a:cxnSpLocks/>
          </p:cNvCxnSpPr>
          <p:nvPr userDrawn="1"/>
        </p:nvCxnSpPr>
        <p:spPr>
          <a:xfrm flipV="1">
            <a:off x="794" y="859906"/>
            <a:ext cx="12190413" cy="13994"/>
          </a:xfrm>
          <a:prstGeom prst="line">
            <a:avLst/>
          </a:prstGeom>
          <a:ln w="57150">
            <a:gradFill flip="none" rotWithShape="1">
              <a:gsLst>
                <a:gs pos="0">
                  <a:srgbClr val="E24C53"/>
                </a:gs>
                <a:gs pos="100000">
                  <a:srgbClr val="A03A63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4B72236C-40AE-1938-0188-2E988E8D5875}"/>
              </a:ext>
            </a:extLst>
          </p:cNvPr>
          <p:cNvSpPr/>
          <p:nvPr userDrawn="1"/>
        </p:nvSpPr>
        <p:spPr>
          <a:xfrm>
            <a:off x="5650117" y="0"/>
            <a:ext cx="2180363" cy="886416"/>
          </a:xfrm>
          <a:prstGeom prst="rect">
            <a:avLst/>
          </a:prstGeom>
          <a:solidFill>
            <a:srgbClr val="BC1F2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/>
          <p:cNvSpPr/>
          <p:nvPr userDrawn="1"/>
        </p:nvSpPr>
        <p:spPr>
          <a:xfrm>
            <a:off x="0" y="6570000"/>
            <a:ext cx="12192000" cy="288000"/>
          </a:xfrm>
          <a:prstGeom prst="rect">
            <a:avLst/>
          </a:prstGeom>
          <a:gradFill>
            <a:gsLst>
              <a:gs pos="0">
                <a:srgbClr val="E24C53"/>
              </a:gs>
              <a:gs pos="100000">
                <a:srgbClr val="BD4778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C455255-C33C-1FC9-F766-1917ED91CDFB}"/>
              </a:ext>
            </a:extLst>
          </p:cNvPr>
          <p:cNvSpPr txBox="1"/>
          <p:nvPr userDrawn="1"/>
        </p:nvSpPr>
        <p:spPr>
          <a:xfrm>
            <a:off x="8176295" y="157727"/>
            <a:ext cx="1617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rPr>
              <a:t>科研竞赛</a:t>
            </a:r>
            <a:endParaRPr lang="en-US" altLang="zh-CN" sz="2800" b="1" dirty="0">
              <a:solidFill>
                <a:schemeClr val="bg2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C3C0276-540F-907E-9094-17FB71558E51}"/>
              </a:ext>
            </a:extLst>
          </p:cNvPr>
          <p:cNvSpPr txBox="1"/>
          <p:nvPr userDrawn="1"/>
        </p:nvSpPr>
        <p:spPr>
          <a:xfrm>
            <a:off x="10332026" y="157727"/>
            <a:ext cx="16173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rPr>
              <a:t>实践经历</a:t>
            </a:r>
            <a:endParaRPr lang="en-US" altLang="zh-CN" sz="2800" b="1" dirty="0">
              <a:solidFill>
                <a:schemeClr val="bg2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E5B1991-FD96-6F12-AD20-EE4EE5BE52FE}"/>
              </a:ext>
            </a:extLst>
          </p:cNvPr>
          <p:cNvSpPr txBox="1"/>
          <p:nvPr userDrawn="1"/>
        </p:nvSpPr>
        <p:spPr>
          <a:xfrm>
            <a:off x="5912713" y="162839"/>
            <a:ext cx="1655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+mj-ea"/>
                <a:ea typeface="+mj-ea"/>
              </a:rPr>
              <a:t>教育背景</a:t>
            </a:r>
            <a:endParaRPr lang="en-US" altLang="zh-CN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2865ADC-E31C-355A-5F73-B25F44C340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74" y="105885"/>
            <a:ext cx="2293399" cy="646531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7F393505-52C7-A2F6-8574-8FC7BB546C5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974" y="166321"/>
            <a:ext cx="3119533" cy="498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EC9487CB-7793-4B0D-9421-AB3C9D4E6E5A}"/>
              </a:ext>
            </a:extLst>
          </p:cNvPr>
          <p:cNvSpPr txBox="1"/>
          <p:nvPr userDrawn="1"/>
        </p:nvSpPr>
        <p:spPr>
          <a:xfrm>
            <a:off x="8309677" y="6637055"/>
            <a:ext cx="366767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000" b="1" spc="30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SOUTHWEST  JIAOTONG  UNIVERSITY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70E8FFE-071B-E749-75DD-FA0B80442C5B}"/>
              </a:ext>
            </a:extLst>
          </p:cNvPr>
          <p:cNvSpPr txBox="1"/>
          <p:nvPr userDrawn="1"/>
        </p:nvSpPr>
        <p:spPr>
          <a:xfrm>
            <a:off x="480991" y="6643317"/>
            <a:ext cx="159659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b="1" kern="1200" spc="30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竢实扬华  自强不息</a:t>
            </a:r>
          </a:p>
        </p:txBody>
      </p:sp>
    </p:spTree>
    <p:extLst>
      <p:ext uri="{BB962C8B-B14F-4D97-AF65-F5344CB8AC3E}">
        <p14:creationId xmlns:p14="http://schemas.microsoft.com/office/powerpoint/2010/main" val="3353510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6904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4" r:id="rId2"/>
    <p:sldLayoutId id="2147483658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4" userDrawn="1">
          <p15:clr>
            <a:srgbClr val="F26B43"/>
          </p15:clr>
        </p15:guide>
        <p15:guide id="2" pos="7368" userDrawn="1">
          <p15:clr>
            <a:srgbClr val="F26B43"/>
          </p15:clr>
        </p15:guide>
        <p15:guide id="3" orient="horz" pos="472" userDrawn="1">
          <p15:clr>
            <a:srgbClr val="F26B43"/>
          </p15:clr>
        </p15:guide>
        <p15:guide id="4" orient="horz" pos="414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8">
            <a:extLst>
              <a:ext uri="{FF2B5EF4-FFF2-40B4-BE49-F238E27FC236}">
                <a16:creationId xmlns:a16="http://schemas.microsoft.com/office/drawing/2014/main" id="{21080508-DA39-04ED-7D6C-3E43A114D66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2"/>
              </a:gs>
              <a:gs pos="35000">
                <a:srgbClr val="00419C"/>
              </a:gs>
            </a:gsLst>
            <a:lin ang="0" scaled="1"/>
          </a:gradFill>
        </p:spPr>
        <p:txBody>
          <a:bodyPr vert="horz" wrap="square" lIns="91440" tIns="45720" rIns="91440" bIns="45720" rtlCol="0" anchor="ctr" anchorCtr="0">
            <a:noAutofit/>
          </a:bodyPr>
          <a:lstStyle>
            <a:lvl1pPr>
              <a:defRPr lang="zh-CN" altLang="en-US" sz="1600" dirty="0">
                <a:solidFill>
                  <a:schemeClr val="bg1"/>
                </a:solidFill>
                <a:latin typeface="+mn-ea"/>
              </a:defRPr>
            </a:lvl1pPr>
          </a:lstStyle>
          <a:p>
            <a:pPr lvl="0" algn="ctr">
              <a:buNone/>
            </a:pPr>
            <a:r>
              <a:rPr lang="en-US" altLang="zh-CN" b="1" dirty="0">
                <a:latin typeface="+mj-ea"/>
                <a:ea typeface="+mj-ea"/>
              </a:rPr>
              <a:t>25</a:t>
            </a:r>
            <a:r>
              <a:rPr lang="zh-CN" altLang="en-US" b="1" dirty="0">
                <a:latin typeface="+mj-ea"/>
                <a:ea typeface="+mj-ea"/>
              </a:rPr>
              <a:t>级硕士 唐伟昱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3D76198B-B22E-9602-39F1-BF2F69B052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2"/>
              </a:gs>
              <a:gs pos="35000">
                <a:srgbClr val="00419C"/>
              </a:gs>
            </a:gsLst>
            <a:lin ang="0" scaled="1"/>
          </a:gradFill>
        </p:spPr>
        <p:txBody>
          <a:bodyPr vert="horz" wrap="square" lIns="91440" tIns="45720" rIns="91440" bIns="45720" rtlCol="0" anchor="ctr" anchorCtr="0">
            <a:noAutofit/>
          </a:bodyPr>
          <a:lstStyle>
            <a:lvl1pPr>
              <a:defRPr lang="zh-CN" altLang="en-US" sz="1600" dirty="0">
                <a:solidFill>
                  <a:schemeClr val="bg1"/>
                </a:solidFill>
                <a:latin typeface="+mn-ea"/>
              </a:defRPr>
            </a:lvl1pPr>
          </a:lstStyle>
          <a:p>
            <a:pPr lvl="0" algn="ctr">
              <a:buNone/>
            </a:pPr>
            <a:r>
              <a:rPr lang="zh-CN" altLang="en-US" b="1" dirty="0">
                <a:latin typeface="+mj-ea"/>
                <a:ea typeface="+mj-ea"/>
              </a:rPr>
              <a:t>培养导师 薛杰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C4FC8C0-EFCF-2744-15E7-5455EB141DE2}"/>
              </a:ext>
            </a:extLst>
          </p:cNvPr>
          <p:cNvSpPr txBox="1"/>
          <p:nvPr/>
        </p:nvSpPr>
        <p:spPr>
          <a:xfrm>
            <a:off x="3751460" y="4058072"/>
            <a:ext cx="46891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4000" b="1" i="0" u="none" strike="noStrike" cap="none" spc="300" normalizeH="0" baseline="0">
                <a:ln>
                  <a:noFill/>
                </a:ln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altLang="zh-CN" sz="4800" dirty="0">
                <a:gradFill>
                  <a:gsLst>
                    <a:gs pos="100000">
                      <a:schemeClr val="accent2"/>
                    </a:gs>
                    <a:gs pos="40000">
                      <a:srgbClr val="00419C"/>
                    </a:gs>
                  </a:gsLst>
                  <a:lin ang="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11.18</a:t>
            </a:r>
            <a:r>
              <a:rPr lang="zh-CN" altLang="en-US" sz="4800" dirty="0">
                <a:gradFill>
                  <a:gsLst>
                    <a:gs pos="100000">
                      <a:schemeClr val="accent2"/>
                    </a:gs>
                    <a:gs pos="40000">
                      <a:srgbClr val="00419C"/>
                    </a:gs>
                  </a:gsLst>
                  <a:lin ang="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小组汇报</a:t>
            </a:r>
          </a:p>
        </p:txBody>
      </p:sp>
    </p:spTree>
    <p:extLst>
      <p:ext uri="{BB962C8B-B14F-4D97-AF65-F5344CB8AC3E}">
        <p14:creationId xmlns:p14="http://schemas.microsoft.com/office/powerpoint/2010/main" val="1383415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圆角矩形 2">
            <a:extLst>
              <a:ext uri="{FF2B5EF4-FFF2-40B4-BE49-F238E27FC236}">
                <a16:creationId xmlns:a16="http://schemas.microsoft.com/office/drawing/2014/main" id="{51903185-0AF0-793F-084A-BA9706FBDDA7}"/>
              </a:ext>
            </a:extLst>
          </p:cNvPr>
          <p:cNvSpPr/>
          <p:nvPr/>
        </p:nvSpPr>
        <p:spPr>
          <a:xfrm>
            <a:off x="277857" y="1656564"/>
            <a:ext cx="4524461" cy="4482979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zh-CN" dirty="0">
              <a:solidFill>
                <a:schemeClr val="tx1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CEE2ED8-E1B1-9D06-1BDB-EBE861C4A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近期完成的工作内容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D1DF9D9-A62C-B0A0-45FB-29E8AE0EBB0E}"/>
              </a:ext>
            </a:extLst>
          </p:cNvPr>
          <p:cNvSpPr/>
          <p:nvPr/>
        </p:nvSpPr>
        <p:spPr>
          <a:xfrm>
            <a:off x="375828" y="1199365"/>
            <a:ext cx="4319631" cy="457200"/>
          </a:xfrm>
          <a:prstGeom prst="rect">
            <a:avLst/>
          </a:prstGeom>
          <a:gradFill>
            <a:gsLst>
              <a:gs pos="10000">
                <a:srgbClr val="00B0F0">
                  <a:lumMod val="96000"/>
                </a:srgbClr>
              </a:gs>
              <a:gs pos="78000">
                <a:srgbClr val="004099"/>
              </a:gs>
            </a:gsLst>
            <a:lin ang="0" scaled="0"/>
          </a:gra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工作内容</a:t>
            </a:r>
          </a:p>
        </p:txBody>
      </p:sp>
      <p:sp>
        <p:nvSpPr>
          <p:cNvPr id="15" name="TextBox 47">
            <a:extLst>
              <a:ext uri="{FF2B5EF4-FFF2-40B4-BE49-F238E27FC236}">
                <a16:creationId xmlns:a16="http://schemas.microsoft.com/office/drawing/2014/main" id="{E19CD74B-2E68-FEE3-2F01-23A5DE11C7D7}"/>
              </a:ext>
            </a:extLst>
          </p:cNvPr>
          <p:cNvSpPr txBox="1"/>
          <p:nvPr/>
        </p:nvSpPr>
        <p:spPr>
          <a:xfrm>
            <a:off x="375830" y="1805855"/>
            <a:ext cx="4319631" cy="22128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n"/>
            </a:pPr>
            <a:r>
              <a:rPr lang="zh-CN" altLang="en-US" b="1" kern="0" dirty="0">
                <a:latin typeface="+mn-ea"/>
                <a:cs typeface="Times New Roman" panose="02020503050405090304" pitchFamily="18" charset="0"/>
              </a:rPr>
              <a:t>小组会后的</a:t>
            </a:r>
            <a:r>
              <a:rPr lang="en-US" altLang="zh-CN" b="1" kern="0" dirty="0">
                <a:latin typeface="+mn-ea"/>
                <a:cs typeface="Times New Roman" panose="02020503050405090304" pitchFamily="18" charset="0"/>
              </a:rPr>
              <a:t>2</a:t>
            </a:r>
            <a:r>
              <a:rPr lang="zh-CN" altLang="en-US" b="1" kern="0" dirty="0">
                <a:latin typeface="+mn-ea"/>
                <a:cs typeface="Times New Roman" panose="02020503050405090304" pitchFamily="18" charset="0"/>
              </a:rPr>
              <a:t>周时间  </a:t>
            </a:r>
            <a:r>
              <a:rPr lang="en-US" altLang="zh-CN" b="1" kern="0" dirty="0">
                <a:solidFill>
                  <a:srgbClr val="004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zh-CN" altLang="en-US" b="1" i="1" kern="0" dirty="0">
                <a:solidFill>
                  <a:srgbClr val="004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i="1" kern="0" dirty="0">
                <a:solidFill>
                  <a:srgbClr val="004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days</a:t>
            </a:r>
          </a:p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ü"/>
            </a:pP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完成了实验部分内容</a:t>
            </a:r>
            <a:endParaRPr lang="en-US" altLang="zh-CN" sz="1600" kern="0" dirty="0">
              <a:latin typeface="+mn-ea"/>
              <a:cs typeface="Times New Roman" panose="02020503050405090304" pitchFamily="18" charset="0"/>
            </a:endParaRPr>
          </a:p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ü"/>
            </a:pP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完成了分析和结论的内容</a:t>
            </a:r>
            <a:endParaRPr lang="en-US" altLang="zh-CN" sz="1600" kern="0" dirty="0">
              <a:latin typeface="+mn-ea"/>
              <a:cs typeface="Times New Roman" panose="02020503050405090304" pitchFamily="18" charset="0"/>
            </a:endParaRPr>
          </a:p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ü"/>
            </a:pP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完成文献整理工作内容（</a:t>
            </a:r>
            <a:r>
              <a:rPr lang="en-US" altLang="zh-CN" sz="1600" kern="0" dirty="0">
                <a:latin typeface="+mn-ea"/>
                <a:cs typeface="Times New Roman" panose="02020503050405090304" pitchFamily="18" charset="0"/>
              </a:rPr>
              <a:t>30</a:t>
            </a: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篇</a:t>
            </a:r>
            <a:r>
              <a:rPr lang="en-US" altLang="zh-CN" sz="1600" kern="0" dirty="0">
                <a:latin typeface="+mn-ea"/>
                <a:cs typeface="Times New Roman" panose="02020503050405090304" pitchFamily="18" charset="0"/>
              </a:rPr>
              <a:t>+</a:t>
            </a: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）</a:t>
            </a:r>
            <a:endParaRPr lang="en-US" altLang="zh-CN" sz="1600" kern="0" dirty="0">
              <a:latin typeface="+mn-ea"/>
              <a:cs typeface="Times New Roman" panose="02020503050405090304" pitchFamily="18" charset="0"/>
            </a:endParaRPr>
          </a:p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ü"/>
            </a:pP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完成了引言部分的内容（</a:t>
            </a:r>
            <a:r>
              <a:rPr lang="en-US" altLang="zh-CN" sz="1600" kern="0" dirty="0">
                <a:latin typeface="+mn-ea"/>
                <a:cs typeface="Times New Roman" panose="02020503050405090304" pitchFamily="18" charset="0"/>
              </a:rPr>
              <a:t>10</a:t>
            </a: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篇</a:t>
            </a:r>
            <a:r>
              <a:rPr lang="en-US" altLang="zh-CN" sz="1600" kern="0" dirty="0">
                <a:latin typeface="+mn-ea"/>
                <a:cs typeface="Times New Roman" panose="02020503050405090304" pitchFamily="18" charset="0"/>
              </a:rPr>
              <a:t>+</a:t>
            </a: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）</a:t>
            </a:r>
            <a:endParaRPr lang="en-US" altLang="zh-CN" sz="1600" kern="0" dirty="0">
              <a:latin typeface="+mn-ea"/>
              <a:cs typeface="Times New Roman" panose="02020503050405090304" pitchFamily="18" charset="0"/>
            </a:endParaRPr>
          </a:p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ü"/>
            </a:pP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完成大组会的</a:t>
            </a:r>
            <a:r>
              <a:rPr lang="en-US" altLang="zh-CN" sz="1600" kern="0" dirty="0">
                <a:latin typeface="+mn-ea"/>
                <a:cs typeface="Times New Roman" panose="02020503050405090304" pitchFamily="18" charset="0"/>
              </a:rPr>
              <a:t>PPT</a:t>
            </a: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制作、汇报（</a:t>
            </a:r>
            <a:r>
              <a:rPr lang="en-US" altLang="zh-CN" sz="1600" kern="0" dirty="0">
                <a:latin typeface="+mn-ea"/>
                <a:cs typeface="Times New Roman" panose="02020503050405090304" pitchFamily="18" charset="0"/>
              </a:rPr>
              <a:t>4</a:t>
            </a: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天）</a:t>
            </a:r>
            <a:endParaRPr lang="en-US" altLang="zh-CN" sz="1600" kern="0" dirty="0">
              <a:latin typeface="+mn-ea"/>
              <a:cs typeface="Times New Roman" panose="02020503050405090304" pitchFamily="18" charset="0"/>
            </a:endParaRPr>
          </a:p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ü"/>
            </a:pP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其他课业上的内容</a:t>
            </a:r>
            <a:endParaRPr lang="en-US" altLang="zh-CN" sz="1600" kern="0" dirty="0">
              <a:latin typeface="+mn-ea"/>
              <a:cs typeface="Times New Roman" panose="02020503050405090304" pitchFamily="18" charset="0"/>
            </a:endParaRPr>
          </a:p>
        </p:txBody>
      </p:sp>
      <p:sp>
        <p:nvSpPr>
          <p:cNvPr id="17" name="TextBox 47">
            <a:extLst>
              <a:ext uri="{FF2B5EF4-FFF2-40B4-BE49-F238E27FC236}">
                <a16:creationId xmlns:a16="http://schemas.microsoft.com/office/drawing/2014/main" id="{96A83593-BBF5-C1B5-95EB-D768BBC0E653}"/>
              </a:ext>
            </a:extLst>
          </p:cNvPr>
          <p:cNvSpPr txBox="1"/>
          <p:nvPr/>
        </p:nvSpPr>
        <p:spPr>
          <a:xfrm>
            <a:off x="375828" y="4132999"/>
            <a:ext cx="4426490" cy="1892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n"/>
            </a:pPr>
            <a:r>
              <a:rPr lang="en-US" altLang="zh-CN" b="1" kern="0" dirty="0">
                <a:latin typeface="+mn-ea"/>
                <a:cs typeface="Times New Roman" panose="02020503050405090304" pitchFamily="18" charset="0"/>
              </a:rPr>
              <a:t>11.11-11.17</a:t>
            </a:r>
            <a:r>
              <a:rPr lang="zh-CN" altLang="en-US" b="1" kern="0" dirty="0">
                <a:latin typeface="+mn-ea"/>
                <a:cs typeface="Times New Roman" panose="02020503050405090304" pitchFamily="18" charset="0"/>
              </a:rPr>
              <a:t>  </a:t>
            </a:r>
            <a:r>
              <a:rPr lang="en-US" altLang="zh-CN" b="1" kern="0" dirty="0">
                <a:solidFill>
                  <a:srgbClr val="004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b="1" i="1" kern="0" dirty="0">
                <a:solidFill>
                  <a:srgbClr val="004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i="1" kern="0" dirty="0">
                <a:solidFill>
                  <a:srgbClr val="004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days</a:t>
            </a:r>
          </a:p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ü"/>
            </a:pP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基本完成</a:t>
            </a:r>
            <a:r>
              <a:rPr lang="en-US" altLang="zh-CN" sz="1600" kern="0" dirty="0">
                <a:latin typeface="+mn-ea"/>
                <a:cs typeface="Times New Roman" panose="02020503050405090304" pitchFamily="18" charset="0"/>
              </a:rPr>
              <a:t>Introduction</a:t>
            </a: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撰写</a:t>
            </a:r>
            <a:endParaRPr lang="en-US" altLang="zh-CN" sz="1600" kern="0" dirty="0">
              <a:latin typeface="+mn-ea"/>
              <a:cs typeface="Times New Roman" panose="02020503050405090304" pitchFamily="18" charset="0"/>
            </a:endParaRPr>
          </a:p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ü"/>
            </a:pP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基本完成</a:t>
            </a:r>
            <a:r>
              <a:rPr lang="en-US" altLang="zh-CN" sz="1600" kern="0" dirty="0">
                <a:latin typeface="+mn-ea"/>
                <a:cs typeface="Times New Roman" panose="02020503050405090304" pitchFamily="18" charset="0"/>
              </a:rPr>
              <a:t>Literature</a:t>
            </a: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 </a:t>
            </a:r>
            <a:r>
              <a:rPr lang="en-US" altLang="zh-CN" sz="1600" kern="0" dirty="0">
                <a:latin typeface="+mn-ea"/>
                <a:cs typeface="Times New Roman" panose="02020503050405090304" pitchFamily="18" charset="0"/>
              </a:rPr>
              <a:t>Review</a:t>
            </a: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撰写</a:t>
            </a:r>
            <a:endParaRPr lang="en-US" altLang="zh-CN" sz="1600" kern="0" dirty="0">
              <a:latin typeface="+mn-ea"/>
              <a:cs typeface="Times New Roman" panose="02020503050405090304" pitchFamily="18" charset="0"/>
            </a:endParaRPr>
          </a:p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ü"/>
            </a:pP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基本掌握了期刊给</a:t>
            </a:r>
            <a:r>
              <a:rPr lang="en-US" altLang="zh-CN" sz="1600" kern="0" dirty="0">
                <a:latin typeface="+mn-ea"/>
                <a:cs typeface="Times New Roman" panose="02020503050405090304" pitchFamily="18" charset="0"/>
              </a:rPr>
              <a:t>Latex</a:t>
            </a: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模版（排版困难）</a:t>
            </a:r>
            <a:endParaRPr lang="en-US" altLang="zh-CN" sz="1600" kern="0" dirty="0">
              <a:latin typeface="+mn-ea"/>
              <a:cs typeface="Times New Roman" panose="02020503050405090304" pitchFamily="18" charset="0"/>
            </a:endParaRPr>
          </a:p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ü"/>
            </a:pP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完成了大组会上给出修改意见</a:t>
            </a:r>
            <a:endParaRPr lang="en-US" altLang="zh-CN" sz="1600" kern="0" dirty="0">
              <a:latin typeface="+mn-ea"/>
              <a:cs typeface="Times New Roman" panose="02020503050405090304" pitchFamily="18" charset="0"/>
            </a:endParaRPr>
          </a:p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ü"/>
            </a:pP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准备了一门考试的复习</a:t>
            </a:r>
            <a:endParaRPr lang="en-US" altLang="zh-CN" sz="1600" kern="0" dirty="0">
              <a:latin typeface="+mn-ea"/>
              <a:cs typeface="Times New Roman" panose="0202050305040509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F860E5F-7D28-E396-D715-E5B966F03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289" y="970764"/>
            <a:ext cx="3733933" cy="430880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20ABE43-179D-2F30-66E7-645D9681F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5943" y="1427965"/>
            <a:ext cx="4000227" cy="4803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21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5BEE7-C561-0559-1766-ED0482DF3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B72587-6E09-D683-1B19-61E1186AA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近期完成的工作内容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D3060ED-47AB-09DC-8082-1857ACB8D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862" y="1199365"/>
            <a:ext cx="6791281" cy="3588284"/>
          </a:xfrm>
          <a:prstGeom prst="rect">
            <a:avLst/>
          </a:prstGeom>
        </p:spPr>
      </p:pic>
      <p:sp>
        <p:nvSpPr>
          <p:cNvPr id="18" name="TextBox 47">
            <a:extLst>
              <a:ext uri="{FF2B5EF4-FFF2-40B4-BE49-F238E27FC236}">
                <a16:creationId xmlns:a16="http://schemas.microsoft.com/office/drawing/2014/main" id="{12AF79BA-0366-0871-DEC7-177CB5ECF671}"/>
              </a:ext>
            </a:extLst>
          </p:cNvPr>
          <p:cNvSpPr txBox="1"/>
          <p:nvPr/>
        </p:nvSpPr>
        <p:spPr>
          <a:xfrm>
            <a:off x="5122861" y="4888495"/>
            <a:ext cx="7069139" cy="15716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n"/>
            </a:pPr>
            <a:r>
              <a:rPr lang="zh-CN" altLang="en-US" b="1" kern="0" dirty="0">
                <a:latin typeface="+mn-ea"/>
                <a:cs typeface="Times New Roman" panose="02020503050405090304" pitchFamily="18" charset="0"/>
              </a:rPr>
              <a:t>未完成的内容</a:t>
            </a:r>
            <a:endParaRPr lang="en-US" altLang="zh-CN" b="1" i="1" kern="0" dirty="0">
              <a:solidFill>
                <a:srgbClr val="004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ü"/>
            </a:pP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压缩文章的字数、优化结构（现在目前单栏结构，虽然期刊没有明确要求）</a:t>
            </a:r>
            <a:endParaRPr lang="en-US" altLang="zh-CN" sz="1600" kern="0" dirty="0">
              <a:latin typeface="+mn-ea"/>
              <a:cs typeface="Times New Roman" panose="02020503050405090304" pitchFamily="18" charset="0"/>
            </a:endParaRPr>
          </a:p>
          <a:p>
            <a:pPr algn="just">
              <a:lnSpc>
                <a:spcPts val="2500"/>
              </a:lnSpc>
            </a:pP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（中文字数：引用</a:t>
            </a:r>
            <a:r>
              <a:rPr lang="en-US" altLang="zh-CN" sz="1600" kern="0" dirty="0">
                <a:latin typeface="+mn-ea"/>
                <a:cs typeface="Times New Roman" panose="02020503050405090304" pitchFamily="18" charset="0"/>
              </a:rPr>
              <a:t>1100+</a:t>
            </a: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文献</a:t>
            </a:r>
            <a:r>
              <a:rPr lang="en-US" altLang="zh-CN" sz="1600" kern="0" dirty="0">
                <a:latin typeface="+mn-ea"/>
                <a:cs typeface="Times New Roman" panose="02020503050405090304" pitchFamily="18" charset="0"/>
              </a:rPr>
              <a:t>1000+</a:t>
            </a: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方法</a:t>
            </a:r>
            <a:r>
              <a:rPr lang="en-US" altLang="zh-CN" sz="1600" kern="0" dirty="0">
                <a:latin typeface="+mn-ea"/>
                <a:cs typeface="Times New Roman" panose="02020503050405090304" pitchFamily="18" charset="0"/>
              </a:rPr>
              <a:t>3000+</a:t>
            </a: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案例</a:t>
            </a:r>
            <a:r>
              <a:rPr lang="en-US" altLang="zh-CN" sz="1600" kern="0" dirty="0">
                <a:latin typeface="+mn-ea"/>
                <a:cs typeface="Times New Roman" panose="02020503050405090304" pitchFamily="18" charset="0"/>
              </a:rPr>
              <a:t>&amp;</a:t>
            </a: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结论</a:t>
            </a:r>
            <a:r>
              <a:rPr lang="en-US" altLang="zh-CN" sz="1600" kern="0" dirty="0">
                <a:latin typeface="+mn-ea"/>
                <a:cs typeface="Times New Roman" panose="02020503050405090304" pitchFamily="18" charset="0"/>
              </a:rPr>
              <a:t>3500</a:t>
            </a: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，共计</a:t>
            </a:r>
            <a:r>
              <a:rPr lang="en-US" altLang="zh-CN" sz="1600" kern="0" dirty="0">
                <a:latin typeface="+mn-ea"/>
                <a:cs typeface="Times New Roman" panose="02020503050405090304" pitchFamily="18" charset="0"/>
              </a:rPr>
              <a:t>25</a:t>
            </a: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页）</a:t>
            </a:r>
            <a:endParaRPr lang="en-US" altLang="zh-CN" sz="1600" kern="0" dirty="0">
              <a:latin typeface="+mn-ea"/>
              <a:cs typeface="Times New Roman" panose="02020503050405090304" pitchFamily="18" charset="0"/>
            </a:endParaRPr>
          </a:p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ü"/>
            </a:pP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完成摘要、成稿及其材料</a:t>
            </a:r>
            <a:endParaRPr lang="en-US" altLang="zh-CN" sz="1600" kern="0" dirty="0">
              <a:latin typeface="+mn-ea"/>
              <a:cs typeface="Times New Roman" panose="02020503050405090304" pitchFamily="18" charset="0"/>
            </a:endParaRPr>
          </a:p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ü"/>
            </a:pP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专利内容（可能考虑按照整个文章的方法论进行构建了）</a:t>
            </a:r>
            <a:endParaRPr lang="en-US" altLang="zh-CN" sz="1600" kern="0" dirty="0">
              <a:latin typeface="+mn-ea"/>
              <a:cs typeface="Times New Roman" panose="02020503050405090304" pitchFamily="18" charset="0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6A34FAF5-2182-D328-71F8-CFE48C5FB3FA}"/>
              </a:ext>
            </a:extLst>
          </p:cNvPr>
          <p:cNvSpPr/>
          <p:nvPr/>
        </p:nvSpPr>
        <p:spPr>
          <a:xfrm>
            <a:off x="277857" y="1656564"/>
            <a:ext cx="4524461" cy="4482979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zh-CN" dirty="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B6BB86C-7FA0-4758-2968-8A71182A9800}"/>
              </a:ext>
            </a:extLst>
          </p:cNvPr>
          <p:cNvSpPr/>
          <p:nvPr/>
        </p:nvSpPr>
        <p:spPr>
          <a:xfrm>
            <a:off x="375828" y="1199365"/>
            <a:ext cx="4319631" cy="457200"/>
          </a:xfrm>
          <a:prstGeom prst="rect">
            <a:avLst/>
          </a:prstGeom>
          <a:gradFill>
            <a:gsLst>
              <a:gs pos="10000">
                <a:srgbClr val="00B0F0">
                  <a:lumMod val="96000"/>
                </a:srgbClr>
              </a:gs>
              <a:gs pos="78000">
                <a:srgbClr val="004099"/>
              </a:gs>
            </a:gsLst>
            <a:lin ang="0" scaled="0"/>
          </a:gra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工作内容</a:t>
            </a:r>
          </a:p>
        </p:txBody>
      </p:sp>
      <p:sp>
        <p:nvSpPr>
          <p:cNvPr id="5" name="TextBox 47">
            <a:extLst>
              <a:ext uri="{FF2B5EF4-FFF2-40B4-BE49-F238E27FC236}">
                <a16:creationId xmlns:a16="http://schemas.microsoft.com/office/drawing/2014/main" id="{AFE391D2-1C8A-3B18-D67D-54C4A2612E00}"/>
              </a:ext>
            </a:extLst>
          </p:cNvPr>
          <p:cNvSpPr txBox="1"/>
          <p:nvPr/>
        </p:nvSpPr>
        <p:spPr>
          <a:xfrm>
            <a:off x="375830" y="1805855"/>
            <a:ext cx="4319631" cy="22128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n"/>
            </a:pPr>
            <a:r>
              <a:rPr lang="zh-CN" altLang="en-US" b="1" kern="0" dirty="0">
                <a:latin typeface="+mn-ea"/>
                <a:cs typeface="Times New Roman" panose="02020503050405090304" pitchFamily="18" charset="0"/>
              </a:rPr>
              <a:t>小组会后的</a:t>
            </a:r>
            <a:r>
              <a:rPr lang="en-US" altLang="zh-CN" b="1" kern="0" dirty="0">
                <a:latin typeface="+mn-ea"/>
                <a:cs typeface="Times New Roman" panose="02020503050405090304" pitchFamily="18" charset="0"/>
              </a:rPr>
              <a:t>2</a:t>
            </a:r>
            <a:r>
              <a:rPr lang="zh-CN" altLang="en-US" b="1" kern="0" dirty="0">
                <a:latin typeface="+mn-ea"/>
                <a:cs typeface="Times New Roman" panose="02020503050405090304" pitchFamily="18" charset="0"/>
              </a:rPr>
              <a:t>周时间  </a:t>
            </a:r>
            <a:r>
              <a:rPr lang="en-US" altLang="zh-CN" b="1" kern="0" dirty="0">
                <a:solidFill>
                  <a:srgbClr val="004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zh-CN" altLang="en-US" b="1" i="1" kern="0" dirty="0">
                <a:solidFill>
                  <a:srgbClr val="004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i="1" kern="0" dirty="0">
                <a:solidFill>
                  <a:srgbClr val="004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days</a:t>
            </a:r>
          </a:p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ü"/>
            </a:pP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完成了实验部分内容</a:t>
            </a:r>
            <a:endParaRPr lang="en-US" altLang="zh-CN" sz="1600" kern="0" dirty="0">
              <a:latin typeface="+mn-ea"/>
              <a:cs typeface="Times New Roman" panose="02020503050405090304" pitchFamily="18" charset="0"/>
            </a:endParaRPr>
          </a:p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ü"/>
            </a:pP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完成了分析和结论的内容</a:t>
            </a:r>
            <a:endParaRPr lang="en-US" altLang="zh-CN" sz="1600" kern="0" dirty="0">
              <a:latin typeface="+mn-ea"/>
              <a:cs typeface="Times New Roman" panose="02020503050405090304" pitchFamily="18" charset="0"/>
            </a:endParaRPr>
          </a:p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ü"/>
            </a:pP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完成文献整理工作内容（</a:t>
            </a:r>
            <a:r>
              <a:rPr lang="en-US" altLang="zh-CN" sz="1600" kern="0" dirty="0">
                <a:latin typeface="+mn-ea"/>
                <a:cs typeface="Times New Roman" panose="02020503050405090304" pitchFamily="18" charset="0"/>
              </a:rPr>
              <a:t>30</a:t>
            </a: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篇</a:t>
            </a:r>
            <a:r>
              <a:rPr lang="en-US" altLang="zh-CN" sz="1600" kern="0" dirty="0">
                <a:latin typeface="+mn-ea"/>
                <a:cs typeface="Times New Roman" panose="02020503050405090304" pitchFamily="18" charset="0"/>
              </a:rPr>
              <a:t>+</a:t>
            </a: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）</a:t>
            </a:r>
            <a:endParaRPr lang="en-US" altLang="zh-CN" sz="1600" kern="0" dirty="0">
              <a:latin typeface="+mn-ea"/>
              <a:cs typeface="Times New Roman" panose="02020503050405090304" pitchFamily="18" charset="0"/>
            </a:endParaRPr>
          </a:p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ü"/>
            </a:pP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完成了引言部分的内容（</a:t>
            </a:r>
            <a:r>
              <a:rPr lang="en-US" altLang="zh-CN" sz="1600" kern="0" dirty="0">
                <a:latin typeface="+mn-ea"/>
                <a:cs typeface="Times New Roman" panose="02020503050405090304" pitchFamily="18" charset="0"/>
              </a:rPr>
              <a:t>10</a:t>
            </a: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篇</a:t>
            </a:r>
            <a:r>
              <a:rPr lang="en-US" altLang="zh-CN" sz="1600" kern="0" dirty="0">
                <a:latin typeface="+mn-ea"/>
                <a:cs typeface="Times New Roman" panose="02020503050405090304" pitchFamily="18" charset="0"/>
              </a:rPr>
              <a:t>+</a:t>
            </a: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）</a:t>
            </a:r>
            <a:endParaRPr lang="en-US" altLang="zh-CN" sz="1600" kern="0" dirty="0">
              <a:latin typeface="+mn-ea"/>
              <a:cs typeface="Times New Roman" panose="02020503050405090304" pitchFamily="18" charset="0"/>
            </a:endParaRPr>
          </a:p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ü"/>
            </a:pP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完成大组会的</a:t>
            </a:r>
            <a:r>
              <a:rPr lang="en-US" altLang="zh-CN" sz="1600" kern="0" dirty="0">
                <a:latin typeface="+mn-ea"/>
                <a:cs typeface="Times New Roman" panose="02020503050405090304" pitchFamily="18" charset="0"/>
              </a:rPr>
              <a:t>PPT</a:t>
            </a: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制作、汇报（</a:t>
            </a:r>
            <a:r>
              <a:rPr lang="en-US" altLang="zh-CN" sz="1600" kern="0" dirty="0">
                <a:latin typeface="+mn-ea"/>
                <a:cs typeface="Times New Roman" panose="02020503050405090304" pitchFamily="18" charset="0"/>
              </a:rPr>
              <a:t>4</a:t>
            </a: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天）</a:t>
            </a:r>
            <a:endParaRPr lang="en-US" altLang="zh-CN" sz="1600" kern="0" dirty="0">
              <a:latin typeface="+mn-ea"/>
              <a:cs typeface="Times New Roman" panose="02020503050405090304" pitchFamily="18" charset="0"/>
            </a:endParaRPr>
          </a:p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ü"/>
            </a:pP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其他课业上的内容</a:t>
            </a:r>
            <a:endParaRPr lang="en-US" altLang="zh-CN" sz="1600" kern="0" dirty="0">
              <a:latin typeface="+mn-ea"/>
              <a:cs typeface="Times New Roman" panose="02020503050405090304" pitchFamily="18" charset="0"/>
            </a:endParaRPr>
          </a:p>
        </p:txBody>
      </p:sp>
      <p:sp>
        <p:nvSpPr>
          <p:cNvPr id="6" name="TextBox 47">
            <a:extLst>
              <a:ext uri="{FF2B5EF4-FFF2-40B4-BE49-F238E27FC236}">
                <a16:creationId xmlns:a16="http://schemas.microsoft.com/office/drawing/2014/main" id="{2FB51DC5-E58E-E05D-F642-B3E39A93BBE8}"/>
              </a:ext>
            </a:extLst>
          </p:cNvPr>
          <p:cNvSpPr txBox="1"/>
          <p:nvPr/>
        </p:nvSpPr>
        <p:spPr>
          <a:xfrm>
            <a:off x="375828" y="4132999"/>
            <a:ext cx="4426490" cy="1892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n"/>
            </a:pPr>
            <a:r>
              <a:rPr lang="en-US" altLang="zh-CN" b="1" kern="0" dirty="0">
                <a:latin typeface="+mn-ea"/>
                <a:cs typeface="Times New Roman" panose="02020503050405090304" pitchFamily="18" charset="0"/>
              </a:rPr>
              <a:t>11.11-11.17</a:t>
            </a:r>
            <a:r>
              <a:rPr lang="zh-CN" altLang="en-US" b="1" kern="0" dirty="0">
                <a:latin typeface="+mn-ea"/>
                <a:cs typeface="Times New Roman" panose="02020503050405090304" pitchFamily="18" charset="0"/>
              </a:rPr>
              <a:t>  </a:t>
            </a:r>
            <a:r>
              <a:rPr lang="en-US" altLang="zh-CN" b="1" kern="0" dirty="0">
                <a:solidFill>
                  <a:srgbClr val="004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b="1" i="1" kern="0" dirty="0">
                <a:solidFill>
                  <a:srgbClr val="004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i="1" kern="0" dirty="0">
                <a:solidFill>
                  <a:srgbClr val="004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days</a:t>
            </a:r>
          </a:p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ü"/>
            </a:pP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基本完成</a:t>
            </a:r>
            <a:r>
              <a:rPr lang="en-US" altLang="zh-CN" sz="1600" kern="0" dirty="0">
                <a:latin typeface="+mn-ea"/>
                <a:cs typeface="Times New Roman" panose="02020503050405090304" pitchFamily="18" charset="0"/>
              </a:rPr>
              <a:t>Introduction</a:t>
            </a: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撰写</a:t>
            </a:r>
            <a:endParaRPr lang="en-US" altLang="zh-CN" sz="1600" kern="0" dirty="0">
              <a:latin typeface="+mn-ea"/>
              <a:cs typeface="Times New Roman" panose="02020503050405090304" pitchFamily="18" charset="0"/>
            </a:endParaRPr>
          </a:p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ü"/>
            </a:pP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基本完成</a:t>
            </a:r>
            <a:r>
              <a:rPr lang="en-US" altLang="zh-CN" sz="1600" kern="0" dirty="0">
                <a:latin typeface="+mn-ea"/>
                <a:cs typeface="Times New Roman" panose="02020503050405090304" pitchFamily="18" charset="0"/>
              </a:rPr>
              <a:t>Literature</a:t>
            </a: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 </a:t>
            </a:r>
            <a:r>
              <a:rPr lang="en-US" altLang="zh-CN" sz="1600" kern="0" dirty="0">
                <a:latin typeface="+mn-ea"/>
                <a:cs typeface="Times New Roman" panose="02020503050405090304" pitchFamily="18" charset="0"/>
              </a:rPr>
              <a:t>Review</a:t>
            </a: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撰写</a:t>
            </a:r>
            <a:endParaRPr lang="en-US" altLang="zh-CN" sz="1600" kern="0" dirty="0">
              <a:latin typeface="+mn-ea"/>
              <a:cs typeface="Times New Roman" panose="02020503050405090304" pitchFamily="18" charset="0"/>
            </a:endParaRPr>
          </a:p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ü"/>
            </a:pP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基本掌握了期刊给</a:t>
            </a:r>
            <a:r>
              <a:rPr lang="en-US" altLang="zh-CN" sz="1600" kern="0" dirty="0">
                <a:latin typeface="+mn-ea"/>
                <a:cs typeface="Times New Roman" panose="02020503050405090304" pitchFamily="18" charset="0"/>
              </a:rPr>
              <a:t>Latex</a:t>
            </a: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模版（排版困难）</a:t>
            </a:r>
            <a:endParaRPr lang="en-US" altLang="zh-CN" sz="1600" kern="0" dirty="0">
              <a:latin typeface="+mn-ea"/>
              <a:cs typeface="Times New Roman" panose="02020503050405090304" pitchFamily="18" charset="0"/>
            </a:endParaRPr>
          </a:p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ü"/>
            </a:pP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完成了大组会上给出修改意见</a:t>
            </a:r>
            <a:endParaRPr lang="en-US" altLang="zh-CN" sz="1600" kern="0" dirty="0">
              <a:latin typeface="+mn-ea"/>
              <a:cs typeface="Times New Roman" panose="02020503050405090304" pitchFamily="18" charset="0"/>
            </a:endParaRPr>
          </a:p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ü"/>
            </a:pP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准备了一门考试的复习</a:t>
            </a:r>
            <a:endParaRPr lang="en-US" altLang="zh-CN" sz="1600" kern="0" dirty="0">
              <a:latin typeface="+mn-ea"/>
              <a:cs typeface="Times New Roman" panose="0202050305040509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088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91288EFC-0FFC-C9F1-AA73-DDBDE7863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57" y="115230"/>
            <a:ext cx="5469800" cy="542226"/>
          </a:xfrm>
        </p:spPr>
        <p:txBody>
          <a:bodyPr/>
          <a:lstStyle/>
          <a:p>
            <a:r>
              <a:rPr kumimoji="1" lang="zh-CN" altLang="en-US" dirty="0"/>
              <a:t>近期完成的工作内容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6AC64FF-F559-1009-3191-EEB541832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57" y="952759"/>
            <a:ext cx="7772400" cy="1990339"/>
          </a:xfrm>
          <a:prstGeom prst="rect">
            <a:avLst/>
          </a:prstGeom>
        </p:spPr>
      </p:pic>
      <p:sp>
        <p:nvSpPr>
          <p:cNvPr id="5" name="TextBox 47">
            <a:extLst>
              <a:ext uri="{FF2B5EF4-FFF2-40B4-BE49-F238E27FC236}">
                <a16:creationId xmlns:a16="http://schemas.microsoft.com/office/drawing/2014/main" id="{D8F95BF3-2A04-1457-F99C-3C57DF8BACD8}"/>
              </a:ext>
            </a:extLst>
          </p:cNvPr>
          <p:cNvSpPr txBox="1"/>
          <p:nvPr/>
        </p:nvSpPr>
        <p:spPr>
          <a:xfrm>
            <a:off x="8173508" y="1410682"/>
            <a:ext cx="3842481" cy="15716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n"/>
            </a:pPr>
            <a:r>
              <a:rPr lang="zh-CN" altLang="en-US" b="1" kern="0" dirty="0">
                <a:latin typeface="+mn-ea"/>
                <a:cs typeface="Times New Roman" panose="02020503050405090304" pitchFamily="18" charset="0"/>
              </a:rPr>
              <a:t>大背景部分</a:t>
            </a:r>
            <a:endParaRPr lang="en-US" altLang="zh-CN" b="1" i="1" kern="0" dirty="0">
              <a:solidFill>
                <a:srgbClr val="004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ü"/>
            </a:pP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强调全球性挑战：温室气体</a:t>
            </a:r>
            <a:endParaRPr lang="en-US" altLang="zh-CN" sz="1600" kern="0" dirty="0">
              <a:latin typeface="+mn-ea"/>
              <a:cs typeface="Times New Roman" panose="02020503050405090304" pitchFamily="18" charset="0"/>
            </a:endParaRPr>
          </a:p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ü"/>
            </a:pPr>
            <a:r>
              <a:rPr lang="en-US" altLang="zh-CN" sz="1600" kern="0" dirty="0">
                <a:latin typeface="+mn-ea"/>
                <a:cs typeface="Times New Roman" panose="02020503050405090304" pitchFamily="18" charset="0"/>
              </a:rPr>
              <a:t>IMO</a:t>
            </a: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减排战略</a:t>
            </a:r>
            <a:endParaRPr lang="en-US" altLang="zh-CN" sz="1600" kern="0" dirty="0">
              <a:latin typeface="+mn-ea"/>
              <a:cs typeface="Times New Roman" panose="02020503050405090304" pitchFamily="18" charset="0"/>
            </a:endParaRPr>
          </a:p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ü"/>
            </a:pPr>
            <a:r>
              <a:rPr lang="en-US" altLang="zh-CN" sz="1600" kern="0" dirty="0">
                <a:latin typeface="+mn-ea"/>
                <a:cs typeface="Times New Roman" panose="02020503050405090304" pitchFamily="18" charset="0"/>
              </a:rPr>
              <a:t>Battery</a:t>
            </a: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 </a:t>
            </a:r>
            <a:r>
              <a:rPr lang="en-US" altLang="zh-CN" sz="1600" kern="0" dirty="0">
                <a:latin typeface="+mn-ea"/>
                <a:cs typeface="Times New Roman" panose="02020503050405090304" pitchFamily="18" charset="0"/>
              </a:rPr>
              <a:t>Electric</a:t>
            </a: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 </a:t>
            </a:r>
            <a:r>
              <a:rPr lang="en-US" altLang="zh-CN" sz="1600" kern="0" dirty="0">
                <a:latin typeface="+mn-ea"/>
                <a:cs typeface="Times New Roman" panose="02020503050405090304" pitchFamily="18" charset="0"/>
              </a:rPr>
              <a:t>Ship</a:t>
            </a: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的概念进入商业化应用时代</a:t>
            </a:r>
            <a:endParaRPr lang="en-US" altLang="zh-CN" sz="1600" kern="0" dirty="0">
              <a:latin typeface="+mn-ea"/>
              <a:cs typeface="Times New Roman" panose="0202050305040509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7E090DA-D622-10D0-C751-A26A8B3E8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857" y="3070975"/>
            <a:ext cx="7772400" cy="3470285"/>
          </a:xfrm>
          <a:prstGeom prst="rect">
            <a:avLst/>
          </a:prstGeom>
        </p:spPr>
      </p:pic>
      <p:sp>
        <p:nvSpPr>
          <p:cNvPr id="7" name="TextBox 47">
            <a:extLst>
              <a:ext uri="{FF2B5EF4-FFF2-40B4-BE49-F238E27FC236}">
                <a16:creationId xmlns:a16="http://schemas.microsoft.com/office/drawing/2014/main" id="{04E2446D-0D85-D870-C1FD-E657C33813C3}"/>
              </a:ext>
            </a:extLst>
          </p:cNvPr>
          <p:cNvSpPr txBox="1"/>
          <p:nvPr/>
        </p:nvSpPr>
        <p:spPr>
          <a:xfrm>
            <a:off x="8173508" y="4180593"/>
            <a:ext cx="3842480" cy="12510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n"/>
            </a:pPr>
            <a:r>
              <a:rPr lang="zh-CN" altLang="en-US" b="1" kern="0" dirty="0">
                <a:latin typeface="+mn-ea"/>
                <a:cs typeface="Times New Roman" panose="02020503050405090304" pitchFamily="18" charset="0"/>
              </a:rPr>
              <a:t>小背景</a:t>
            </a:r>
            <a:r>
              <a:rPr lang="en-US" altLang="zh-CN" b="1" kern="0" dirty="0">
                <a:latin typeface="+mn-ea"/>
                <a:cs typeface="Times New Roman" panose="02020503050405090304" pitchFamily="18" charset="0"/>
              </a:rPr>
              <a:t>1:</a:t>
            </a:r>
            <a:r>
              <a:rPr lang="zh-CN" altLang="en-US" b="1" kern="0" dirty="0">
                <a:latin typeface="+mn-ea"/>
                <a:cs typeface="Times New Roman" panose="02020503050405090304" pitchFamily="18" charset="0"/>
              </a:rPr>
              <a:t> </a:t>
            </a:r>
            <a:r>
              <a:rPr lang="en-US" altLang="zh-CN" b="1" kern="0" dirty="0">
                <a:latin typeface="+mn-ea"/>
                <a:cs typeface="Times New Roman" panose="02020503050405090304" pitchFamily="18" charset="0"/>
              </a:rPr>
              <a:t>BES</a:t>
            </a:r>
            <a:r>
              <a:rPr lang="zh-CN" altLang="en-US" b="1" kern="0" dirty="0">
                <a:latin typeface="+mn-ea"/>
                <a:cs typeface="Times New Roman" panose="02020503050405090304" pitchFamily="18" charset="0"/>
              </a:rPr>
              <a:t>核心挑战</a:t>
            </a:r>
            <a:endParaRPr lang="en-US" altLang="zh-CN" b="1" i="1" kern="0" dirty="0">
              <a:solidFill>
                <a:srgbClr val="004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ü"/>
            </a:pPr>
            <a:r>
              <a:rPr lang="en-US" altLang="zh-CN" sz="1600" kern="0" dirty="0">
                <a:latin typeface="+mn-ea"/>
                <a:cs typeface="Times New Roman" panose="02020503050405090304" pitchFamily="18" charset="0"/>
              </a:rPr>
              <a:t>BES</a:t>
            </a: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存在的五大核心挑战</a:t>
            </a:r>
            <a:endParaRPr lang="en-US" altLang="zh-CN" sz="1600" kern="0" dirty="0">
              <a:latin typeface="+mn-ea"/>
              <a:cs typeface="Times New Roman" panose="02020503050405090304" pitchFamily="18" charset="0"/>
            </a:endParaRPr>
          </a:p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ü"/>
            </a:pP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强调现阶段</a:t>
            </a:r>
            <a:r>
              <a:rPr lang="en-US" altLang="zh-CN" sz="1600" kern="0" dirty="0">
                <a:latin typeface="+mn-ea"/>
                <a:cs typeface="Times New Roman" panose="02020503050405090304" pitchFamily="18" charset="0"/>
              </a:rPr>
              <a:t>BES</a:t>
            </a: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现阶段应用场景：内河货、沿海，无法应用于远洋运输。</a:t>
            </a:r>
            <a:endParaRPr lang="en-US" altLang="zh-CN" sz="1600" kern="0" dirty="0">
              <a:latin typeface="+mn-ea"/>
              <a:cs typeface="Times New Roman" panose="0202050305040509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627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C6AC6000-32D5-D501-9EE0-DAB190750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57" y="115230"/>
            <a:ext cx="5469800" cy="542226"/>
          </a:xfrm>
        </p:spPr>
        <p:txBody>
          <a:bodyPr/>
          <a:lstStyle/>
          <a:p>
            <a:r>
              <a:rPr kumimoji="1" lang="zh-CN" altLang="en-US" dirty="0"/>
              <a:t>近期完成的工作内容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7FDE4F4-61DB-2E6E-B212-D7CD2BAAF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57" y="955362"/>
            <a:ext cx="7721600" cy="5359400"/>
          </a:xfrm>
          <a:prstGeom prst="rect">
            <a:avLst/>
          </a:prstGeom>
        </p:spPr>
      </p:pic>
      <p:sp>
        <p:nvSpPr>
          <p:cNvPr id="6" name="TextBox 47">
            <a:extLst>
              <a:ext uri="{FF2B5EF4-FFF2-40B4-BE49-F238E27FC236}">
                <a16:creationId xmlns:a16="http://schemas.microsoft.com/office/drawing/2014/main" id="{4041F6A6-D007-0327-40DB-E27EDD084494}"/>
              </a:ext>
            </a:extLst>
          </p:cNvPr>
          <p:cNvSpPr txBox="1"/>
          <p:nvPr/>
        </p:nvSpPr>
        <p:spPr>
          <a:xfrm>
            <a:off x="8071663" y="2063413"/>
            <a:ext cx="3842480" cy="15716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n"/>
            </a:pPr>
            <a:r>
              <a:rPr lang="zh-CN" altLang="en-US" b="1" kern="0" dirty="0">
                <a:latin typeface="+mn-ea"/>
                <a:cs typeface="Times New Roman" panose="02020503050405090304" pitchFamily="18" charset="0"/>
              </a:rPr>
              <a:t>小背景</a:t>
            </a:r>
            <a:r>
              <a:rPr lang="en-US" altLang="zh-CN" b="1" kern="0" dirty="0">
                <a:latin typeface="+mn-ea"/>
                <a:cs typeface="Times New Roman" panose="02020503050405090304" pitchFamily="18" charset="0"/>
              </a:rPr>
              <a:t>2:</a:t>
            </a:r>
            <a:r>
              <a:rPr lang="zh-CN" altLang="en-US" b="1" kern="0" dirty="0">
                <a:latin typeface="+mn-ea"/>
                <a:cs typeface="Times New Roman" panose="02020503050405090304" pitchFamily="18" charset="0"/>
              </a:rPr>
              <a:t>中国内河</a:t>
            </a:r>
            <a:endParaRPr lang="en-US" altLang="zh-CN" b="1" i="1" kern="0" dirty="0">
              <a:solidFill>
                <a:srgbClr val="004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ü"/>
            </a:pP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内河电动集装箱船发展情况与现存问题</a:t>
            </a:r>
            <a:endParaRPr lang="en-US" altLang="zh-CN" sz="1600" kern="0" dirty="0">
              <a:latin typeface="+mn-ea"/>
              <a:cs typeface="Times New Roman" panose="02020503050405090304" pitchFamily="18" charset="0"/>
            </a:endParaRPr>
          </a:p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ü"/>
            </a:pP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提出换电站的建设意义、好处</a:t>
            </a:r>
            <a:endParaRPr lang="en-US" altLang="zh-CN" sz="1600" kern="0" dirty="0">
              <a:latin typeface="+mn-ea"/>
              <a:cs typeface="Times New Roman" panose="02020503050405090304" pitchFamily="18" charset="0"/>
            </a:endParaRPr>
          </a:p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ü"/>
            </a:pP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升华：未来拥有一个高渗透率的基础设施可以有效增加船舶的续航里程。</a:t>
            </a:r>
            <a:endParaRPr lang="en-US" altLang="zh-CN" sz="1600" kern="0" dirty="0">
              <a:latin typeface="+mn-ea"/>
              <a:cs typeface="Times New Roman" panose="02020503050405090304" pitchFamily="18" charset="0"/>
            </a:endParaRPr>
          </a:p>
        </p:txBody>
      </p:sp>
      <p:sp>
        <p:nvSpPr>
          <p:cNvPr id="7" name="TextBox 47">
            <a:extLst>
              <a:ext uri="{FF2B5EF4-FFF2-40B4-BE49-F238E27FC236}">
                <a16:creationId xmlns:a16="http://schemas.microsoft.com/office/drawing/2014/main" id="{71A1C15F-918A-0A3F-8515-F1A261371706}"/>
              </a:ext>
            </a:extLst>
          </p:cNvPr>
          <p:cNvSpPr txBox="1"/>
          <p:nvPr/>
        </p:nvSpPr>
        <p:spPr>
          <a:xfrm>
            <a:off x="8071663" y="4315070"/>
            <a:ext cx="3842480" cy="15716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n"/>
            </a:pPr>
            <a:r>
              <a:rPr lang="zh-CN" altLang="en-US" b="1" kern="0" dirty="0">
                <a:latin typeface="+mn-ea"/>
                <a:cs typeface="Times New Roman" panose="02020503050405090304" pitchFamily="18" charset="0"/>
              </a:rPr>
              <a:t>现有研究整体的不足、组织结构</a:t>
            </a:r>
            <a:endParaRPr lang="en-US" altLang="zh-CN" b="1" i="1" kern="0" dirty="0">
              <a:solidFill>
                <a:srgbClr val="004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ü"/>
            </a:pP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不强调具体的不足，只强调现有换电站基础设施研究还没有深入，结合大背景、小背景存在的问题引出这个研究的动机。</a:t>
            </a:r>
            <a:endParaRPr lang="en-US" altLang="zh-CN" sz="1600" kern="0" dirty="0">
              <a:latin typeface="+mn-ea"/>
              <a:cs typeface="Times New Roman" panose="02020503050405090304" pitchFamily="18" charset="0"/>
            </a:endParaRPr>
          </a:p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ü"/>
            </a:pPr>
            <a:r>
              <a:rPr lang="zh-CN" altLang="en-US" sz="1600" kern="0" dirty="0">
                <a:latin typeface="+mn-ea"/>
                <a:cs typeface="Times New Roman" panose="02020503050405090304" pitchFamily="18" charset="0"/>
              </a:rPr>
              <a:t>给出本文的其他部分的组织结构</a:t>
            </a:r>
            <a:endParaRPr lang="en-US" altLang="zh-CN" sz="1600" kern="0" dirty="0">
              <a:latin typeface="+mn-ea"/>
              <a:cs typeface="Times New Roman" panose="0202050305040509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CDE706F-3C3E-9F4F-9FD4-50DC59176B61}"/>
              </a:ext>
            </a:extLst>
          </p:cNvPr>
          <p:cNvSpPr/>
          <p:nvPr/>
        </p:nvSpPr>
        <p:spPr>
          <a:xfrm>
            <a:off x="386366" y="4043966"/>
            <a:ext cx="7521262" cy="22707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7605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BD45F7D-3700-DF3D-CC27-2F41651AA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383" y="888642"/>
            <a:ext cx="6807233" cy="5452504"/>
          </a:xfrm>
          <a:prstGeom prst="rect">
            <a:avLst/>
          </a:prstGeom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B6D433AE-2026-B68B-0DC1-9B92E834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57" y="115230"/>
            <a:ext cx="5469800" cy="542226"/>
          </a:xfrm>
        </p:spPr>
        <p:txBody>
          <a:bodyPr/>
          <a:lstStyle/>
          <a:p>
            <a:r>
              <a:rPr kumimoji="1" lang="zh-CN" altLang="en-US" dirty="0"/>
              <a:t>近期完成的工作内容</a:t>
            </a:r>
          </a:p>
        </p:txBody>
      </p:sp>
    </p:spTree>
    <p:extLst>
      <p:ext uri="{BB962C8B-B14F-4D97-AF65-F5344CB8AC3E}">
        <p14:creationId xmlns:p14="http://schemas.microsoft.com/office/powerpoint/2010/main" val="3366253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4CDB48DA-89D3-33F4-4E3C-3BA565C81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57" y="115230"/>
            <a:ext cx="5469800" cy="542226"/>
          </a:xfrm>
        </p:spPr>
        <p:txBody>
          <a:bodyPr/>
          <a:lstStyle/>
          <a:p>
            <a:r>
              <a:rPr kumimoji="1" lang="zh-CN" altLang="en-US" dirty="0"/>
              <a:t>近期完成的工作内容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566FC44-B5E1-E262-E8CC-D40632FE1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617" y="914400"/>
            <a:ext cx="6732079" cy="549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05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7A598-BB32-71DC-B8A0-CAF99AB82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8">
            <a:extLst>
              <a:ext uri="{FF2B5EF4-FFF2-40B4-BE49-F238E27FC236}">
                <a16:creationId xmlns:a16="http://schemas.microsoft.com/office/drawing/2014/main" id="{22EA423C-CD7E-839F-B1AF-3E656E52EA2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2"/>
              </a:gs>
              <a:gs pos="35000">
                <a:srgbClr val="00419C"/>
              </a:gs>
            </a:gsLst>
            <a:lin ang="0" scaled="1"/>
          </a:gradFill>
        </p:spPr>
        <p:txBody>
          <a:bodyPr vert="horz" wrap="square" lIns="91440" tIns="45720" rIns="91440" bIns="45720" rtlCol="0" anchor="ctr" anchorCtr="0">
            <a:noAutofit/>
          </a:bodyPr>
          <a:lstStyle>
            <a:lvl1pPr>
              <a:defRPr lang="zh-CN" altLang="en-US" sz="1600" dirty="0">
                <a:solidFill>
                  <a:schemeClr val="bg1"/>
                </a:solidFill>
                <a:latin typeface="+mn-ea"/>
              </a:defRPr>
            </a:lvl1pPr>
          </a:lstStyle>
          <a:p>
            <a:pPr lvl="0" algn="ctr">
              <a:buNone/>
            </a:pPr>
            <a:r>
              <a:rPr lang="en-US" altLang="zh-CN" b="1" dirty="0">
                <a:latin typeface="+mj-ea"/>
                <a:ea typeface="+mj-ea"/>
              </a:rPr>
              <a:t>25</a:t>
            </a:r>
            <a:r>
              <a:rPr lang="zh-CN" altLang="en-US" b="1" dirty="0">
                <a:latin typeface="+mj-ea"/>
                <a:ea typeface="+mj-ea"/>
              </a:rPr>
              <a:t>级硕士 唐伟昱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324610D8-C31A-5B75-B639-773926550A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2"/>
              </a:gs>
              <a:gs pos="35000">
                <a:srgbClr val="00419C"/>
              </a:gs>
            </a:gsLst>
            <a:lin ang="0" scaled="1"/>
          </a:gradFill>
        </p:spPr>
        <p:txBody>
          <a:bodyPr vert="horz" wrap="square" lIns="91440" tIns="45720" rIns="91440" bIns="45720" rtlCol="0" anchor="ctr" anchorCtr="0">
            <a:noAutofit/>
          </a:bodyPr>
          <a:lstStyle>
            <a:lvl1pPr>
              <a:defRPr lang="zh-CN" altLang="en-US" sz="1600" dirty="0">
                <a:solidFill>
                  <a:schemeClr val="bg1"/>
                </a:solidFill>
                <a:latin typeface="+mn-ea"/>
              </a:defRPr>
            </a:lvl1pPr>
          </a:lstStyle>
          <a:p>
            <a:pPr lvl="0" algn="ctr">
              <a:buNone/>
            </a:pPr>
            <a:r>
              <a:rPr lang="zh-CN" altLang="en-US" b="1" dirty="0">
                <a:latin typeface="+mj-ea"/>
                <a:ea typeface="+mj-ea"/>
              </a:rPr>
              <a:t>培养导师 薛杰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118E16A-30A5-4C5C-1E57-459AB5BCCBA4}"/>
              </a:ext>
            </a:extLst>
          </p:cNvPr>
          <p:cNvSpPr txBox="1"/>
          <p:nvPr/>
        </p:nvSpPr>
        <p:spPr>
          <a:xfrm>
            <a:off x="1222568" y="4058072"/>
            <a:ext cx="97469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4000" b="1" i="0" u="none" strike="noStrike" cap="none" spc="300" normalizeH="0" baseline="0">
                <a:ln>
                  <a:noFill/>
                </a:ln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altLang="zh-CN" sz="4800" dirty="0">
                <a:gradFill>
                  <a:gsLst>
                    <a:gs pos="100000">
                      <a:schemeClr val="accent2"/>
                    </a:gs>
                    <a:gs pos="40000">
                      <a:srgbClr val="00419C"/>
                    </a:gs>
                  </a:gsLst>
                  <a:lin ang="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  <a:r>
              <a:rPr lang="zh-CN" altLang="en-US" sz="4800" dirty="0">
                <a:gradFill>
                  <a:gsLst>
                    <a:gs pos="100000">
                      <a:schemeClr val="accent2"/>
                    </a:gs>
                    <a:gs pos="40000">
                      <a:srgbClr val="00419C"/>
                    </a:gs>
                  </a:gsLst>
                  <a:lin ang="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4800" dirty="0">
                <a:gradFill>
                  <a:gsLst>
                    <a:gs pos="100000">
                      <a:schemeClr val="accent2"/>
                    </a:gs>
                    <a:gs pos="40000">
                      <a:srgbClr val="00419C"/>
                    </a:gs>
                  </a:gsLst>
                  <a:lin ang="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sz="4800" dirty="0">
                <a:gradFill>
                  <a:gsLst>
                    <a:gs pos="100000">
                      <a:schemeClr val="accent2"/>
                    </a:gs>
                    <a:gs pos="40000">
                      <a:srgbClr val="00419C"/>
                    </a:gs>
                  </a:gsLst>
                  <a:lin ang="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4800" dirty="0">
                <a:gradFill>
                  <a:gsLst>
                    <a:gs pos="100000">
                      <a:schemeClr val="accent2"/>
                    </a:gs>
                    <a:gs pos="40000">
                      <a:srgbClr val="00419C"/>
                    </a:gs>
                  </a:gsLst>
                  <a:lin ang="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your</a:t>
            </a:r>
            <a:r>
              <a:rPr lang="zh-CN" altLang="en-US" sz="4800" dirty="0">
                <a:gradFill>
                  <a:gsLst>
                    <a:gs pos="100000">
                      <a:schemeClr val="accent2"/>
                    </a:gs>
                    <a:gs pos="40000">
                      <a:srgbClr val="00419C"/>
                    </a:gs>
                  </a:gsLst>
                  <a:lin ang="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4800" dirty="0">
                <a:gradFill>
                  <a:gsLst>
                    <a:gs pos="100000">
                      <a:schemeClr val="accent2"/>
                    </a:gs>
                    <a:gs pos="40000">
                      <a:srgbClr val="00419C"/>
                    </a:gs>
                  </a:gsLst>
                  <a:lin ang="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attention</a:t>
            </a:r>
            <a:r>
              <a:rPr lang="zh-CN" altLang="en-US" sz="4800">
                <a:gradFill>
                  <a:gsLst>
                    <a:gs pos="100000">
                      <a:schemeClr val="accent2"/>
                    </a:gs>
                    <a:gs pos="40000">
                      <a:srgbClr val="00419C"/>
                    </a:gs>
                  </a:gsLst>
                  <a:lin ang="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  <a:endParaRPr lang="zh-CN" altLang="en-US" sz="4800" dirty="0">
              <a:gradFill>
                <a:gsLst>
                  <a:gs pos="100000">
                    <a:schemeClr val="accent2"/>
                  </a:gs>
                  <a:gs pos="40000">
                    <a:srgbClr val="00419C"/>
                  </a:gs>
                </a:gsLst>
                <a:lin ang="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56043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177e98ad-1ab0-4991-b7e8-761cc9e9e2e8&quot;,&quot;Name&quot;:&quot;极简9&quot;,&quot;Kind&quot;:&quot;Custom&quot;,&quot;OldGuidesSetting&quot;:{&quot;HeaderHeight&quot;:11.0,&quot;FooterHeight&quot;:4.0,&quot;SideMargin&quot;:4.0,&quot;TopMargin&quot;:0.0,&quot;BottomMargin&quot;:0.0,&quot;IntervalMargin&quot;:0.0}}"/>
</p:tagLst>
</file>

<file path=ppt/theme/theme1.xml><?xml version="1.0" encoding="utf-8"?>
<a:theme xmlns:a="http://schemas.openxmlformats.org/drawingml/2006/main" name="Office 主题​​">
  <a:themeElements>
    <a:clrScheme name="SJTUB">
      <a:dk1>
        <a:srgbClr val="000000"/>
      </a:dk1>
      <a:lt1>
        <a:srgbClr val="FFFFFF"/>
      </a:lt1>
      <a:dk2>
        <a:srgbClr val="BD9F68"/>
      </a:dk2>
      <a:lt2>
        <a:srgbClr val="B5B5B6"/>
      </a:lt2>
      <a:accent1>
        <a:srgbClr val="004098"/>
      </a:accent1>
      <a:accent2>
        <a:srgbClr val="0086D1"/>
      </a:accent2>
      <a:accent3>
        <a:srgbClr val="F08300"/>
      </a:accent3>
      <a:accent4>
        <a:srgbClr val="FDD000"/>
      </a:accent4>
      <a:accent5>
        <a:srgbClr val="338D27"/>
      </a:accent5>
      <a:accent6>
        <a:srgbClr val="00514E"/>
      </a:accent6>
      <a:hlink>
        <a:srgbClr val="B5B5B6"/>
      </a:hlink>
      <a:folHlink>
        <a:srgbClr val="BD9F68"/>
      </a:folHlink>
    </a:clrScheme>
    <a:fontScheme name="雅黑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1645</TotalTime>
  <Words>473</Words>
  <Application>Microsoft Macintosh PowerPoint</Application>
  <PresentationFormat>宽屏</PresentationFormat>
  <Paragraphs>59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等线</vt:lpstr>
      <vt:lpstr>微软雅黑</vt:lpstr>
      <vt:lpstr>Arial</vt:lpstr>
      <vt:lpstr>Times New Roman</vt:lpstr>
      <vt:lpstr>Wingdings</vt:lpstr>
      <vt:lpstr>Office 主题​​</vt:lpstr>
      <vt:lpstr>PowerPoint 演示文稿</vt:lpstr>
      <vt:lpstr>近期完成的工作内容</vt:lpstr>
      <vt:lpstr>近期完成的工作内容</vt:lpstr>
      <vt:lpstr>近期完成的工作内容</vt:lpstr>
      <vt:lpstr>近期完成的工作内容</vt:lpstr>
      <vt:lpstr>近期完成的工作内容</vt:lpstr>
      <vt:lpstr>近期完成的工作内容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SHEN Xiaodan</dc:creator>
  <cp:lastModifiedBy>Weiyu Tang</cp:lastModifiedBy>
  <cp:revision>117</cp:revision>
  <dcterms:created xsi:type="dcterms:W3CDTF">2021-12-04T09:40:10Z</dcterms:created>
  <dcterms:modified xsi:type="dcterms:W3CDTF">2025-11-18T12:34:02Z</dcterms:modified>
  <cp:contentStatus/>
</cp:coreProperties>
</file>