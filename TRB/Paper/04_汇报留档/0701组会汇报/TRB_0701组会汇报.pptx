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firstSlideNum="0" showSpecialPlsOnTitleSld="0" saveSubsetFonts="1">
  <p:sldMasterIdLst>
    <p:sldMasterId id="2147483648" r:id="rId1"/>
  </p:sldMasterIdLst>
  <p:notesMasterIdLst>
    <p:notesMasterId r:id="rId25"/>
  </p:notesMasterIdLst>
  <p:handoutMasterIdLst>
    <p:handoutMasterId r:id="rId26"/>
  </p:handout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Lst>
  <p:sldSz cx="12192000" cy="6858000"/>
  <p:notesSz cx="6858000" cy="9144000"/>
  <p:custDataLst>
    <p:tags r:id="rId27"/>
  </p:custData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pos="304" userDrawn="1">
          <p15:clr>
            <a:srgbClr val="A4A3A4"/>
          </p15:clr>
        </p15:guide>
        <p15:guide id="2" pos="7368" userDrawn="1">
          <p15:clr>
            <a:srgbClr val="A4A3A4"/>
          </p15:clr>
        </p15:guide>
        <p15:guide id="3" orient="horz" pos="472" userDrawn="1">
          <p15:clr>
            <a:srgbClr val="A4A3A4"/>
          </p15:clr>
        </p15:guide>
        <p15:guide id="4" orient="horz" pos="4156"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4099"/>
    <a:srgbClr val="316EE2"/>
    <a:srgbClr val="00419C"/>
    <a:srgbClr val="005AD1"/>
    <a:srgbClr val="675694"/>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8119" autoAdjust="0"/>
    <p:restoredTop sz="94660"/>
  </p:normalViewPr>
  <p:slideViewPr>
    <p:cSldViewPr snapToGrid="0" showGuides="1">
      <p:cViewPr varScale="1">
        <p:scale>
          <a:sx n="127" d="100"/>
          <a:sy n="127" d="100"/>
        </p:scale>
        <p:origin x="488" y="192"/>
      </p:cViewPr>
      <p:guideLst>
        <p:guide pos="304"/>
        <p:guide pos="7368"/>
        <p:guide orient="horz" pos="472"/>
        <p:guide orient="horz" pos="4156"/>
      </p:guideLst>
    </p:cSldViewPr>
  </p:slideViewPr>
  <p:notesTextViewPr>
    <p:cViewPr>
      <p:scale>
        <a:sx n="1" d="1"/>
        <a:sy n="1" d="1"/>
      </p:scale>
      <p:origin x="0" y="0"/>
    </p:cViewPr>
  </p:notesTextViewPr>
  <p:sorterViewPr>
    <p:cViewPr>
      <p:scale>
        <a:sx n="100" d="100"/>
        <a:sy n="100" d="100"/>
      </p:scale>
      <p:origin x="0" y="0"/>
    </p:cViewPr>
  </p:sorterViewPr>
  <p:notesViewPr>
    <p:cSldViewPr snapToGrid="0">
      <p:cViewPr varScale="1">
        <p:scale>
          <a:sx n="88" d="100"/>
          <a:sy n="88" d="100"/>
        </p:scale>
        <p:origin x="3992" y="192"/>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handoutMaster" Target="handoutMasters/handoutMaster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ags" Target="tags/tag1.xml"/><Relationship Id="rId30" Type="http://schemas.openxmlformats.org/officeDocument/2006/relationships/theme" Target="theme/theme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a:extLst>
              <a:ext uri="{FF2B5EF4-FFF2-40B4-BE49-F238E27FC236}">
                <a16:creationId xmlns:a16="http://schemas.microsoft.com/office/drawing/2014/main" id="{74A70368-671A-4086-B8B3-6934850F6B12}"/>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kumimoji="1" lang="zh-CN" altLang="en-US"/>
          </a:p>
        </p:txBody>
      </p:sp>
      <p:sp>
        <p:nvSpPr>
          <p:cNvPr id="3" name="日期占位符 2">
            <a:extLst>
              <a:ext uri="{FF2B5EF4-FFF2-40B4-BE49-F238E27FC236}">
                <a16:creationId xmlns:a16="http://schemas.microsoft.com/office/drawing/2014/main" id="{74D63C52-005D-912F-11F3-B4F936513DAC}"/>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80E4670B-917A-7145-B851-25CCBCBAC868}" type="datetimeFigureOut">
              <a:rPr kumimoji="1" lang="zh-CN" altLang="en-US" smtClean="0"/>
              <a:t>2026/7/1</a:t>
            </a:fld>
            <a:endParaRPr kumimoji="1" lang="zh-CN" altLang="en-US"/>
          </a:p>
        </p:txBody>
      </p:sp>
      <p:sp>
        <p:nvSpPr>
          <p:cNvPr id="4" name="页脚占位符 3">
            <a:extLst>
              <a:ext uri="{FF2B5EF4-FFF2-40B4-BE49-F238E27FC236}">
                <a16:creationId xmlns:a16="http://schemas.microsoft.com/office/drawing/2014/main" id="{F595BF02-E2E7-8FA2-DDCD-E078876D86AA}"/>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kumimoji="1" lang="zh-CN" altLang="en-US"/>
          </a:p>
        </p:txBody>
      </p:sp>
      <p:sp>
        <p:nvSpPr>
          <p:cNvPr id="5" name="灯片编号占位符 4">
            <a:extLst>
              <a:ext uri="{FF2B5EF4-FFF2-40B4-BE49-F238E27FC236}">
                <a16:creationId xmlns:a16="http://schemas.microsoft.com/office/drawing/2014/main" id="{0069744D-3EF8-37E2-A9A3-9BA39E0732CF}"/>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733393E4-C259-1140-9ED1-ADCAFD4DDC7B}" type="slidenum">
              <a:rPr kumimoji="1" lang="zh-CN" altLang="en-US" smtClean="0"/>
              <a:t>‹#›</a:t>
            </a:fld>
            <a:endParaRPr kumimoji="1" lang="zh-CN" altLang="en-US"/>
          </a:p>
        </p:txBody>
      </p:sp>
    </p:spTree>
    <p:extLst>
      <p:ext uri="{BB962C8B-B14F-4D97-AF65-F5344CB8AC3E}">
        <p14:creationId xmlns:p14="http://schemas.microsoft.com/office/powerpoint/2010/main" val="2491382269"/>
      </p:ext>
    </p:extLst>
  </p:cSld>
  <p:clrMap bg1="lt1" tx1="dk1" bg2="lt2" tx2="dk2" accent1="accent1" accent2="accent2" accent3="accent3" accent4="accent4" accent5="accent5" accent6="accent6" hlink="hlink" folHlink="folHlink"/>
  <p:hf sldNum="0"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AFF7382-B1F7-4D68-995D-F8373CE65DC0}" type="datetimeFigureOut">
              <a:rPr lang="zh-CN" altLang="en-US" smtClean="0"/>
              <a:t>2026/7/1</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F886D82-40B8-4175-AE33-CCD3B53A526C}" type="slidenum">
              <a:rPr lang="zh-CN" altLang="en-US" smtClean="0"/>
              <a:t>‹#›</a:t>
            </a:fld>
            <a:endParaRPr lang="zh-CN" altLang="en-US"/>
          </a:p>
        </p:txBody>
      </p:sp>
    </p:spTree>
    <p:extLst>
      <p:ext uri="{BB962C8B-B14F-4D97-AF65-F5344CB8AC3E}">
        <p14:creationId xmlns:p14="http://schemas.microsoft.com/office/powerpoint/2010/main" val="2906371851"/>
      </p:ext>
    </p:extLst>
  </p:cSld>
  <p:clrMap bg1="lt1" tx1="dk1" bg2="lt2" tx2="dk2" accent1="accent1" accent2="accent2" accent3="accent3" accent4="accent4" accent5="accent5" accent6="accent6" hlink="hlink" folHlink="folHlink"/>
  <p:hf sldNum="0" hdr="0" ft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png"/><Relationship Id="rId1" Type="http://schemas.openxmlformats.org/officeDocument/2006/relationships/slideMaster" Target="../slideMasters/slideMaster1.xml"/><Relationship Id="rId6" Type="http://schemas.microsoft.com/office/2007/relationships/hdphoto" Target="../media/hdphoto2.wdp"/><Relationship Id="rId5" Type="http://schemas.openxmlformats.org/officeDocument/2006/relationships/image" Target="../media/image3.png"/><Relationship Id="rId4" Type="http://schemas.openxmlformats.org/officeDocument/2006/relationships/image" Target="../media/image2.jpeg"/></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封面">
    <p:bg>
      <p:bgPr>
        <a:solidFill>
          <a:srgbClr val="F9F9F9"/>
        </a:solidFill>
        <a:effectLst/>
      </p:bgPr>
    </p:bg>
    <p:spTree>
      <p:nvGrpSpPr>
        <p:cNvPr id="1" name=""/>
        <p:cNvGrpSpPr/>
        <p:nvPr/>
      </p:nvGrpSpPr>
      <p:grpSpPr>
        <a:xfrm>
          <a:off x="0" y="0"/>
          <a:ext cx="0" cy="0"/>
          <a:chOff x="0" y="0"/>
          <a:chExt cx="0" cy="0"/>
        </a:xfrm>
      </p:grpSpPr>
      <p:pic>
        <p:nvPicPr>
          <p:cNvPr id="2" name="图片 1" descr="图片包含 建筑物&#10;&#10;自动生成的说明">
            <a:extLst>
              <a:ext uri="{FF2B5EF4-FFF2-40B4-BE49-F238E27FC236}">
                <a16:creationId xmlns:a16="http://schemas.microsoft.com/office/drawing/2014/main" id="{4EEDF3CE-2B83-300A-A4F5-46349E0815F6}"/>
              </a:ext>
            </a:extLst>
          </p:cNvPr>
          <p:cNvPicPr>
            <a:picLocks noChangeAspect="1"/>
          </p:cNvPicPr>
          <p:nvPr userDrawn="1"/>
        </p:nvPicPr>
        <p:blipFill rotWithShape="1">
          <a:blip r:embed="rId2" cstate="print">
            <a:alphaModFix amt="20000"/>
            <a:grayscl/>
            <a:extLst>
              <a:ext uri="{BEBA8EAE-BF5A-486C-A8C5-ECC9F3942E4B}">
                <a14:imgProps xmlns:a14="http://schemas.microsoft.com/office/drawing/2010/main">
                  <a14:imgLayer r:embed="rId3">
                    <a14:imgEffect>
                      <a14:brightnessContrast bright="80000"/>
                    </a14:imgEffect>
                  </a14:imgLayer>
                </a14:imgProps>
              </a:ext>
              <a:ext uri="{28A0092B-C50C-407E-A947-70E740481C1C}">
                <a14:useLocalDpi xmlns:a14="http://schemas.microsoft.com/office/drawing/2010/main" val="0"/>
              </a:ext>
            </a:extLst>
          </a:blip>
          <a:srcRect b="21958"/>
          <a:stretch/>
        </p:blipFill>
        <p:spPr>
          <a:xfrm>
            <a:off x="0" y="3078446"/>
            <a:ext cx="12192000" cy="3498284"/>
          </a:xfrm>
          <a:prstGeom prst="rect">
            <a:avLst/>
          </a:prstGeom>
        </p:spPr>
      </p:pic>
      <p:sp>
        <p:nvSpPr>
          <p:cNvPr id="11" name="矩形 10">
            <a:extLst>
              <a:ext uri="{FF2B5EF4-FFF2-40B4-BE49-F238E27FC236}">
                <a16:creationId xmlns:a16="http://schemas.microsoft.com/office/drawing/2014/main" id="{5BFF1677-1CD6-CCCF-819D-9B6CC4381142}"/>
              </a:ext>
            </a:extLst>
          </p:cNvPr>
          <p:cNvSpPr/>
          <p:nvPr userDrawn="1"/>
        </p:nvSpPr>
        <p:spPr>
          <a:xfrm>
            <a:off x="3" y="6597198"/>
            <a:ext cx="12191983" cy="266722"/>
          </a:xfrm>
          <a:prstGeom prst="rect">
            <a:avLst/>
          </a:prstGeom>
          <a:gradFill>
            <a:gsLst>
              <a:gs pos="0">
                <a:srgbClr val="004099"/>
              </a:gs>
              <a:gs pos="100000">
                <a:srgbClr val="316EE2"/>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solidFill>
                <a:prstClr val="white"/>
              </a:solidFill>
              <a:latin typeface="Arial" panose="020B0604020202020204"/>
              <a:ea typeface="微软雅黑" panose="020B0503020204020204" charset="-122"/>
            </a:endParaRPr>
          </a:p>
        </p:txBody>
      </p:sp>
      <p:pic>
        <p:nvPicPr>
          <p:cNvPr id="14" name="图片占位符 24" descr="图片包含 户外, 树, 建筑物, 天空&#10;&#10;自动生成的说明">
            <a:extLst>
              <a:ext uri="{FF2B5EF4-FFF2-40B4-BE49-F238E27FC236}">
                <a16:creationId xmlns:a16="http://schemas.microsoft.com/office/drawing/2014/main" id="{0EB172C8-57B0-B108-36B5-EDD6A1B53D5F}"/>
              </a:ext>
            </a:extLst>
          </p:cNvPr>
          <p:cNvPicPr>
            <a:picLocks noChangeAspect="1"/>
          </p:cNvPicPr>
          <p:nvPr userDrawn="1"/>
        </p:nvPicPr>
        <p:blipFill>
          <a:blip r:embed="rId4">
            <a:extLst>
              <a:ext uri="{28A0092B-C50C-407E-A947-70E740481C1C}">
                <a14:useLocalDpi xmlns:a14="http://schemas.microsoft.com/office/drawing/2010/main" val="0"/>
              </a:ext>
            </a:extLst>
          </a:blip>
          <a:srcRect t="29999" b="29999"/>
          <a:stretch>
            <a:fillRect/>
          </a:stretch>
        </p:blipFill>
        <p:spPr>
          <a:xfrm>
            <a:off x="7" y="0"/>
            <a:ext cx="12191979" cy="3188952"/>
          </a:xfrm>
          <a:prstGeom prst="rect">
            <a:avLst/>
          </a:prstGeom>
        </p:spPr>
      </p:pic>
      <p:sp>
        <p:nvSpPr>
          <p:cNvPr id="5" name="矩形 4">
            <a:extLst>
              <a:ext uri="{FF2B5EF4-FFF2-40B4-BE49-F238E27FC236}">
                <a16:creationId xmlns:a16="http://schemas.microsoft.com/office/drawing/2014/main" id="{0623E37C-18BB-8BA8-CA61-E6442561F783}"/>
              </a:ext>
            </a:extLst>
          </p:cNvPr>
          <p:cNvSpPr/>
          <p:nvPr userDrawn="1"/>
        </p:nvSpPr>
        <p:spPr>
          <a:xfrm>
            <a:off x="8" y="6244"/>
            <a:ext cx="12191979" cy="3188952"/>
          </a:xfrm>
          <a:prstGeom prst="rect">
            <a:avLst/>
          </a:prstGeom>
          <a:gradFill>
            <a:gsLst>
              <a:gs pos="0">
                <a:schemeClr val="bg1">
                  <a:alpha val="50000"/>
                </a:schemeClr>
              </a:gs>
              <a:gs pos="100000">
                <a:schemeClr val="bg1">
                  <a:alpha val="50000"/>
                </a:schemeClr>
              </a:gs>
            </a:gsLst>
            <a:lin ang="5400000" scaled="1"/>
          </a:gradFill>
          <a:ln w="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mn-lt"/>
            </a:endParaRPr>
          </a:p>
        </p:txBody>
      </p:sp>
      <p:sp>
        <p:nvSpPr>
          <p:cNvPr id="3" name="矩形 2">
            <a:extLst>
              <a:ext uri="{FF2B5EF4-FFF2-40B4-BE49-F238E27FC236}">
                <a16:creationId xmlns:a16="http://schemas.microsoft.com/office/drawing/2014/main" id="{8B531F3C-28D1-4439-BE4A-3ECF0C12776D}"/>
              </a:ext>
            </a:extLst>
          </p:cNvPr>
          <p:cNvSpPr/>
          <p:nvPr userDrawn="1"/>
        </p:nvSpPr>
        <p:spPr>
          <a:xfrm>
            <a:off x="9" y="0"/>
            <a:ext cx="12191979" cy="3198561"/>
          </a:xfrm>
          <a:prstGeom prst="rect">
            <a:avLst/>
          </a:prstGeom>
          <a:gradFill>
            <a:gsLst>
              <a:gs pos="0">
                <a:srgbClr val="004099"/>
              </a:gs>
              <a:gs pos="100000">
                <a:srgbClr val="005AD1">
                  <a:alpha val="40000"/>
                </a:srgb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pic>
        <p:nvPicPr>
          <p:cNvPr id="12" name="图片 11" descr="文本&#10;&#10;中度可信度描述已自动生成">
            <a:extLst>
              <a:ext uri="{FF2B5EF4-FFF2-40B4-BE49-F238E27FC236}">
                <a16:creationId xmlns:a16="http://schemas.microsoft.com/office/drawing/2014/main" id="{3D5BB200-268A-35E8-6744-237DF90CE905}"/>
              </a:ext>
            </a:extLst>
          </p:cNvPr>
          <p:cNvPicPr>
            <a:picLocks noChangeAspect="1"/>
          </p:cNvPicPr>
          <p:nvPr userDrawn="1"/>
        </p:nvPicPr>
        <p:blipFill>
          <a:blip r:embed="rId5">
            <a:extLst>
              <a:ext uri="{BEBA8EAE-BF5A-486C-A8C5-ECC9F3942E4B}">
                <a14:imgProps xmlns:a14="http://schemas.microsoft.com/office/drawing/2010/main">
                  <a14:imgLayer r:embed="rId6">
                    <a14:imgEffect>
                      <a14:brightnessContrast bright="100000"/>
                    </a14:imgEffect>
                  </a14:imgLayer>
                </a14:imgProps>
              </a:ext>
              <a:ext uri="{28A0092B-C50C-407E-A947-70E740481C1C}">
                <a14:useLocalDpi xmlns:a14="http://schemas.microsoft.com/office/drawing/2010/main" val="0"/>
              </a:ext>
            </a:extLst>
          </a:blip>
          <a:srcRect l="30035" t="18076" b="14155"/>
          <a:stretch>
            <a:fillRect/>
          </a:stretch>
        </p:blipFill>
        <p:spPr>
          <a:xfrm>
            <a:off x="4123928" y="1776098"/>
            <a:ext cx="3944143" cy="1255890"/>
          </a:xfrm>
          <a:prstGeom prst="rect">
            <a:avLst/>
          </a:prstGeom>
        </p:spPr>
      </p:pic>
      <p:pic>
        <p:nvPicPr>
          <p:cNvPr id="10" name="图片 9" descr="文本&#10;&#10;中度可信度描述已自动生成">
            <a:extLst>
              <a:ext uri="{FF2B5EF4-FFF2-40B4-BE49-F238E27FC236}">
                <a16:creationId xmlns:a16="http://schemas.microsoft.com/office/drawing/2014/main" id="{B772B265-1A8C-FE55-1E67-FB31264977E7}"/>
              </a:ext>
            </a:extLst>
          </p:cNvPr>
          <p:cNvPicPr>
            <a:picLocks noChangeAspect="1"/>
          </p:cNvPicPr>
          <p:nvPr userDrawn="1"/>
        </p:nvPicPr>
        <p:blipFill>
          <a:blip r:embed="rId5">
            <a:extLst>
              <a:ext uri="{BEBA8EAE-BF5A-486C-A8C5-ECC9F3942E4B}">
                <a14:imgProps xmlns:a14="http://schemas.microsoft.com/office/drawing/2010/main">
                  <a14:imgLayer r:embed="rId6">
                    <a14:imgEffect>
                      <a14:brightnessContrast bright="100000"/>
                    </a14:imgEffect>
                  </a14:imgLayer>
                </a14:imgProps>
              </a:ext>
              <a:ext uri="{28A0092B-C50C-407E-A947-70E740481C1C}">
                <a14:useLocalDpi xmlns:a14="http://schemas.microsoft.com/office/drawing/2010/main" val="0"/>
              </a:ext>
            </a:extLst>
          </a:blip>
          <a:srcRect l="2564" t="9248" r="68050" b="6274"/>
          <a:stretch>
            <a:fillRect/>
          </a:stretch>
        </p:blipFill>
        <p:spPr>
          <a:xfrm>
            <a:off x="5243346" y="281270"/>
            <a:ext cx="1656528" cy="1565556"/>
          </a:xfrm>
          <a:prstGeom prst="rect">
            <a:avLst/>
          </a:prstGeom>
        </p:spPr>
      </p:pic>
    </p:spTree>
    <p:extLst>
      <p:ext uri="{BB962C8B-B14F-4D97-AF65-F5344CB8AC3E}">
        <p14:creationId xmlns:p14="http://schemas.microsoft.com/office/powerpoint/2010/main" val="326235350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页面">
    <p:spTree>
      <p:nvGrpSpPr>
        <p:cNvPr id="1" name=""/>
        <p:cNvGrpSpPr/>
        <p:nvPr/>
      </p:nvGrpSpPr>
      <p:grpSpPr>
        <a:xfrm>
          <a:off x="0" y="0"/>
          <a:ext cx="0" cy="0"/>
          <a:chOff x="0" y="0"/>
          <a:chExt cx="0" cy="0"/>
        </a:xfrm>
      </p:grpSpPr>
      <p:pic>
        <p:nvPicPr>
          <p:cNvPr id="2" name="图片 1">
            <a:extLst>
              <a:ext uri="{FF2B5EF4-FFF2-40B4-BE49-F238E27FC236}">
                <a16:creationId xmlns:a16="http://schemas.microsoft.com/office/drawing/2014/main" id="{5073E3F5-E44C-F731-0E52-918C01CC0286}"/>
              </a:ext>
            </a:extLst>
          </p:cNvPr>
          <p:cNvPicPr>
            <a:picLocks noChangeAspect="1"/>
          </p:cNvPicPr>
          <p:nvPr userDrawn="1"/>
        </p:nvPicPr>
        <p:blipFill>
          <a:blip r:embed="rId2"/>
          <a:stretch>
            <a:fillRect/>
          </a:stretch>
        </p:blipFill>
        <p:spPr>
          <a:xfrm>
            <a:off x="-24378" y="1305"/>
            <a:ext cx="12216372" cy="6856695"/>
          </a:xfrm>
          <a:prstGeom prst="rect">
            <a:avLst/>
          </a:prstGeom>
        </p:spPr>
      </p:pic>
      <p:sp>
        <p:nvSpPr>
          <p:cNvPr id="3" name="矩形 2">
            <a:extLst>
              <a:ext uri="{FF2B5EF4-FFF2-40B4-BE49-F238E27FC236}">
                <a16:creationId xmlns:a16="http://schemas.microsoft.com/office/drawing/2014/main" id="{4A60821C-ECA1-A816-4331-C47398990117}"/>
              </a:ext>
            </a:extLst>
          </p:cNvPr>
          <p:cNvSpPr/>
          <p:nvPr userDrawn="1"/>
        </p:nvSpPr>
        <p:spPr>
          <a:xfrm>
            <a:off x="-24384" y="0"/>
            <a:ext cx="12216372" cy="6857999"/>
          </a:xfrm>
          <a:prstGeom prst="rect">
            <a:avLst/>
          </a:prstGeom>
          <a:solidFill>
            <a:schemeClr val="bg1">
              <a:alpha val="65000"/>
            </a:schemeClr>
          </a:solidFill>
          <a:ln w="317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grpSp>
        <p:nvGrpSpPr>
          <p:cNvPr id="4" name="Group 4">
            <a:extLst>
              <a:ext uri="{FF2B5EF4-FFF2-40B4-BE49-F238E27FC236}">
                <a16:creationId xmlns:a16="http://schemas.microsoft.com/office/drawing/2014/main" id="{F139C77F-7D90-A40C-A349-F62329C98966}"/>
              </a:ext>
            </a:extLst>
          </p:cNvPr>
          <p:cNvGrpSpPr>
            <a:grpSpLocks noChangeAspect="1"/>
          </p:cNvGrpSpPr>
          <p:nvPr userDrawn="1"/>
        </p:nvGrpSpPr>
        <p:grpSpPr bwMode="auto">
          <a:xfrm>
            <a:off x="9345597" y="289127"/>
            <a:ext cx="2846403" cy="450233"/>
            <a:chOff x="768" y="1292"/>
            <a:chExt cx="5241" cy="829"/>
          </a:xfrm>
          <a:solidFill>
            <a:schemeClr val="accent1"/>
          </a:solidFill>
        </p:grpSpPr>
        <p:sp>
          <p:nvSpPr>
            <p:cNvPr id="5" name="Freeform 5">
              <a:extLst>
                <a:ext uri="{FF2B5EF4-FFF2-40B4-BE49-F238E27FC236}">
                  <a16:creationId xmlns:a16="http://schemas.microsoft.com/office/drawing/2014/main" id="{C96B0480-2074-4EEB-5101-1B134A1FD277}"/>
                </a:ext>
              </a:extLst>
            </p:cNvPr>
            <p:cNvSpPr>
              <a:spLocks/>
            </p:cNvSpPr>
            <p:nvPr/>
          </p:nvSpPr>
          <p:spPr bwMode="auto">
            <a:xfrm>
              <a:off x="4267" y="1292"/>
              <a:ext cx="1742" cy="829"/>
            </a:xfrm>
            <a:custGeom>
              <a:avLst/>
              <a:gdLst>
                <a:gd name="T0" fmla="*/ 1742 w 1742"/>
                <a:gd name="T1" fmla="*/ 829 h 829"/>
                <a:gd name="T2" fmla="*/ 851 w 1742"/>
                <a:gd name="T3" fmla="*/ 829 h 829"/>
                <a:gd name="T4" fmla="*/ 851 w 1742"/>
                <a:gd name="T5" fmla="*/ 9 h 829"/>
                <a:gd name="T6" fmla="*/ 751 w 1742"/>
                <a:gd name="T7" fmla="*/ 9 h 829"/>
                <a:gd name="T8" fmla="*/ 751 w 1742"/>
                <a:gd name="T9" fmla="*/ 24 h 829"/>
                <a:gd name="T10" fmla="*/ 724 w 1742"/>
                <a:gd name="T11" fmla="*/ 24 h 829"/>
                <a:gd name="T12" fmla="*/ 724 w 1742"/>
                <a:gd name="T13" fmla="*/ 9 h 829"/>
                <a:gd name="T14" fmla="*/ 258 w 1742"/>
                <a:gd name="T15" fmla="*/ 9 h 829"/>
                <a:gd name="T16" fmla="*/ 258 w 1742"/>
                <a:gd name="T17" fmla="*/ 24 h 829"/>
                <a:gd name="T18" fmla="*/ 231 w 1742"/>
                <a:gd name="T19" fmla="*/ 24 h 829"/>
                <a:gd name="T20" fmla="*/ 231 w 1742"/>
                <a:gd name="T21" fmla="*/ 9 h 829"/>
                <a:gd name="T22" fmla="*/ 132 w 1742"/>
                <a:gd name="T23" fmla="*/ 9 h 829"/>
                <a:gd name="T24" fmla="*/ 132 w 1742"/>
                <a:gd name="T25" fmla="*/ 829 h 829"/>
                <a:gd name="T26" fmla="*/ 0 w 1742"/>
                <a:gd name="T27" fmla="*/ 829 h 829"/>
                <a:gd name="T28" fmla="*/ 0 w 1742"/>
                <a:gd name="T29" fmla="*/ 820 h 829"/>
                <a:gd name="T30" fmla="*/ 123 w 1742"/>
                <a:gd name="T31" fmla="*/ 820 h 829"/>
                <a:gd name="T32" fmla="*/ 123 w 1742"/>
                <a:gd name="T33" fmla="*/ 0 h 829"/>
                <a:gd name="T34" fmla="*/ 239 w 1742"/>
                <a:gd name="T35" fmla="*/ 0 h 829"/>
                <a:gd name="T36" fmla="*/ 239 w 1742"/>
                <a:gd name="T37" fmla="*/ 14 h 829"/>
                <a:gd name="T38" fmla="*/ 250 w 1742"/>
                <a:gd name="T39" fmla="*/ 14 h 829"/>
                <a:gd name="T40" fmla="*/ 250 w 1742"/>
                <a:gd name="T41" fmla="*/ 0 h 829"/>
                <a:gd name="T42" fmla="*/ 732 w 1742"/>
                <a:gd name="T43" fmla="*/ 0 h 829"/>
                <a:gd name="T44" fmla="*/ 732 w 1742"/>
                <a:gd name="T45" fmla="*/ 14 h 829"/>
                <a:gd name="T46" fmla="*/ 743 w 1742"/>
                <a:gd name="T47" fmla="*/ 14 h 829"/>
                <a:gd name="T48" fmla="*/ 743 w 1742"/>
                <a:gd name="T49" fmla="*/ 0 h 829"/>
                <a:gd name="T50" fmla="*/ 861 w 1742"/>
                <a:gd name="T51" fmla="*/ 0 h 829"/>
                <a:gd name="T52" fmla="*/ 861 w 1742"/>
                <a:gd name="T53" fmla="*/ 820 h 829"/>
                <a:gd name="T54" fmla="*/ 1742 w 1742"/>
                <a:gd name="T55" fmla="*/ 820 h 829"/>
                <a:gd name="T56" fmla="*/ 1742 w 1742"/>
                <a:gd name="T57" fmla="*/ 829 h 8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1742" h="829">
                  <a:moveTo>
                    <a:pt x="1742" y="829"/>
                  </a:moveTo>
                  <a:lnTo>
                    <a:pt x="851" y="829"/>
                  </a:lnTo>
                  <a:lnTo>
                    <a:pt x="851" y="9"/>
                  </a:lnTo>
                  <a:lnTo>
                    <a:pt x="751" y="9"/>
                  </a:lnTo>
                  <a:lnTo>
                    <a:pt x="751" y="24"/>
                  </a:lnTo>
                  <a:lnTo>
                    <a:pt x="724" y="24"/>
                  </a:lnTo>
                  <a:lnTo>
                    <a:pt x="724" y="9"/>
                  </a:lnTo>
                  <a:lnTo>
                    <a:pt x="258" y="9"/>
                  </a:lnTo>
                  <a:lnTo>
                    <a:pt x="258" y="24"/>
                  </a:lnTo>
                  <a:lnTo>
                    <a:pt x="231" y="24"/>
                  </a:lnTo>
                  <a:lnTo>
                    <a:pt x="231" y="9"/>
                  </a:lnTo>
                  <a:lnTo>
                    <a:pt x="132" y="9"/>
                  </a:lnTo>
                  <a:lnTo>
                    <a:pt x="132" y="829"/>
                  </a:lnTo>
                  <a:lnTo>
                    <a:pt x="0" y="829"/>
                  </a:lnTo>
                  <a:lnTo>
                    <a:pt x="0" y="820"/>
                  </a:lnTo>
                  <a:lnTo>
                    <a:pt x="123" y="820"/>
                  </a:lnTo>
                  <a:lnTo>
                    <a:pt x="123" y="0"/>
                  </a:lnTo>
                  <a:lnTo>
                    <a:pt x="239" y="0"/>
                  </a:lnTo>
                  <a:lnTo>
                    <a:pt x="239" y="14"/>
                  </a:lnTo>
                  <a:lnTo>
                    <a:pt x="250" y="14"/>
                  </a:lnTo>
                  <a:lnTo>
                    <a:pt x="250" y="0"/>
                  </a:lnTo>
                  <a:lnTo>
                    <a:pt x="732" y="0"/>
                  </a:lnTo>
                  <a:lnTo>
                    <a:pt x="732" y="14"/>
                  </a:lnTo>
                  <a:lnTo>
                    <a:pt x="743" y="14"/>
                  </a:lnTo>
                  <a:lnTo>
                    <a:pt x="743" y="0"/>
                  </a:lnTo>
                  <a:lnTo>
                    <a:pt x="861" y="0"/>
                  </a:lnTo>
                  <a:lnTo>
                    <a:pt x="861" y="820"/>
                  </a:lnTo>
                  <a:lnTo>
                    <a:pt x="1742" y="820"/>
                  </a:lnTo>
                  <a:lnTo>
                    <a:pt x="1742" y="829"/>
                  </a:lnTo>
                  <a:close/>
                </a:path>
              </a:pathLst>
            </a:custGeom>
            <a:grpFill/>
            <a:ln w="9525">
              <a:solidFill>
                <a:schemeClr val="accent1"/>
              </a:solidFill>
              <a:round/>
              <a:headEnd/>
              <a:tailEnd/>
            </a:ln>
          </p:spPr>
          <p:txBody>
            <a:bodyPr vert="horz" wrap="square" lIns="91440" tIns="45720" rIns="91440" bIns="45720" numCol="1" anchor="t" anchorCtr="0" compatLnSpc="1">
              <a:prstTxWarp prst="textNoShape">
                <a:avLst/>
              </a:prstTxWarp>
            </a:bodyPr>
            <a:lstStyle/>
            <a:p>
              <a:endParaRPr lang="zh-CN" altLang="en-US"/>
            </a:p>
          </p:txBody>
        </p:sp>
        <p:sp>
          <p:nvSpPr>
            <p:cNvPr id="6" name="Freeform 6">
              <a:extLst>
                <a:ext uri="{FF2B5EF4-FFF2-40B4-BE49-F238E27FC236}">
                  <a16:creationId xmlns:a16="http://schemas.microsoft.com/office/drawing/2014/main" id="{D2F5CA54-EC83-1598-21D0-3DADEA950CAB}"/>
                </a:ext>
              </a:extLst>
            </p:cNvPr>
            <p:cNvSpPr>
              <a:spLocks/>
            </p:cNvSpPr>
            <p:nvPr/>
          </p:nvSpPr>
          <p:spPr bwMode="auto">
            <a:xfrm>
              <a:off x="4517" y="1471"/>
              <a:ext cx="482" cy="646"/>
            </a:xfrm>
            <a:custGeom>
              <a:avLst/>
              <a:gdLst>
                <a:gd name="T0" fmla="*/ 482 w 482"/>
                <a:gd name="T1" fmla="*/ 646 h 646"/>
                <a:gd name="T2" fmla="*/ 474 w 482"/>
                <a:gd name="T3" fmla="*/ 646 h 646"/>
                <a:gd name="T4" fmla="*/ 474 w 482"/>
                <a:gd name="T5" fmla="*/ 112 h 646"/>
                <a:gd name="T6" fmla="*/ 433 w 482"/>
                <a:gd name="T7" fmla="*/ 112 h 646"/>
                <a:gd name="T8" fmla="*/ 433 w 482"/>
                <a:gd name="T9" fmla="*/ 79 h 646"/>
                <a:gd name="T10" fmla="*/ 364 w 482"/>
                <a:gd name="T11" fmla="*/ 38 h 646"/>
                <a:gd name="T12" fmla="*/ 320 w 482"/>
                <a:gd name="T13" fmla="*/ 38 h 646"/>
                <a:gd name="T14" fmla="*/ 320 w 482"/>
                <a:gd name="T15" fmla="*/ 9 h 646"/>
                <a:gd name="T16" fmla="*/ 164 w 482"/>
                <a:gd name="T17" fmla="*/ 9 h 646"/>
                <a:gd name="T18" fmla="*/ 164 w 482"/>
                <a:gd name="T19" fmla="*/ 38 h 646"/>
                <a:gd name="T20" fmla="*/ 120 w 482"/>
                <a:gd name="T21" fmla="*/ 38 h 646"/>
                <a:gd name="T22" fmla="*/ 49 w 482"/>
                <a:gd name="T23" fmla="*/ 79 h 646"/>
                <a:gd name="T24" fmla="*/ 49 w 482"/>
                <a:gd name="T25" fmla="*/ 112 h 646"/>
                <a:gd name="T26" fmla="*/ 8 w 482"/>
                <a:gd name="T27" fmla="*/ 112 h 646"/>
                <a:gd name="T28" fmla="*/ 8 w 482"/>
                <a:gd name="T29" fmla="*/ 646 h 646"/>
                <a:gd name="T30" fmla="*/ 0 w 482"/>
                <a:gd name="T31" fmla="*/ 646 h 646"/>
                <a:gd name="T32" fmla="*/ 0 w 482"/>
                <a:gd name="T33" fmla="*/ 102 h 646"/>
                <a:gd name="T34" fmla="*/ 41 w 482"/>
                <a:gd name="T35" fmla="*/ 102 h 646"/>
                <a:gd name="T36" fmla="*/ 41 w 482"/>
                <a:gd name="T37" fmla="*/ 74 h 646"/>
                <a:gd name="T38" fmla="*/ 116 w 482"/>
                <a:gd name="T39" fmla="*/ 29 h 646"/>
                <a:gd name="T40" fmla="*/ 154 w 482"/>
                <a:gd name="T41" fmla="*/ 29 h 646"/>
                <a:gd name="T42" fmla="*/ 154 w 482"/>
                <a:gd name="T43" fmla="*/ 0 h 646"/>
                <a:gd name="T44" fmla="*/ 328 w 482"/>
                <a:gd name="T45" fmla="*/ 0 h 646"/>
                <a:gd name="T46" fmla="*/ 328 w 482"/>
                <a:gd name="T47" fmla="*/ 29 h 646"/>
                <a:gd name="T48" fmla="*/ 366 w 482"/>
                <a:gd name="T49" fmla="*/ 29 h 646"/>
                <a:gd name="T50" fmla="*/ 441 w 482"/>
                <a:gd name="T51" fmla="*/ 74 h 646"/>
                <a:gd name="T52" fmla="*/ 441 w 482"/>
                <a:gd name="T53" fmla="*/ 102 h 646"/>
                <a:gd name="T54" fmla="*/ 482 w 482"/>
                <a:gd name="T55" fmla="*/ 102 h 646"/>
                <a:gd name="T56" fmla="*/ 482 w 482"/>
                <a:gd name="T57" fmla="*/ 646 h 6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482" h="646">
                  <a:moveTo>
                    <a:pt x="482" y="646"/>
                  </a:moveTo>
                  <a:lnTo>
                    <a:pt x="474" y="646"/>
                  </a:lnTo>
                  <a:lnTo>
                    <a:pt x="474" y="112"/>
                  </a:lnTo>
                  <a:lnTo>
                    <a:pt x="433" y="112"/>
                  </a:lnTo>
                  <a:lnTo>
                    <a:pt x="433" y="79"/>
                  </a:lnTo>
                  <a:lnTo>
                    <a:pt x="364" y="38"/>
                  </a:lnTo>
                  <a:lnTo>
                    <a:pt x="320" y="38"/>
                  </a:lnTo>
                  <a:lnTo>
                    <a:pt x="320" y="9"/>
                  </a:lnTo>
                  <a:lnTo>
                    <a:pt x="164" y="9"/>
                  </a:lnTo>
                  <a:lnTo>
                    <a:pt x="164" y="38"/>
                  </a:lnTo>
                  <a:lnTo>
                    <a:pt x="120" y="38"/>
                  </a:lnTo>
                  <a:lnTo>
                    <a:pt x="49" y="79"/>
                  </a:lnTo>
                  <a:lnTo>
                    <a:pt x="49" y="112"/>
                  </a:lnTo>
                  <a:lnTo>
                    <a:pt x="8" y="112"/>
                  </a:lnTo>
                  <a:lnTo>
                    <a:pt x="8" y="646"/>
                  </a:lnTo>
                  <a:lnTo>
                    <a:pt x="0" y="646"/>
                  </a:lnTo>
                  <a:lnTo>
                    <a:pt x="0" y="102"/>
                  </a:lnTo>
                  <a:lnTo>
                    <a:pt x="41" y="102"/>
                  </a:lnTo>
                  <a:lnTo>
                    <a:pt x="41" y="74"/>
                  </a:lnTo>
                  <a:lnTo>
                    <a:pt x="116" y="29"/>
                  </a:lnTo>
                  <a:lnTo>
                    <a:pt x="154" y="29"/>
                  </a:lnTo>
                  <a:lnTo>
                    <a:pt x="154" y="0"/>
                  </a:lnTo>
                  <a:lnTo>
                    <a:pt x="328" y="0"/>
                  </a:lnTo>
                  <a:lnTo>
                    <a:pt x="328" y="29"/>
                  </a:lnTo>
                  <a:lnTo>
                    <a:pt x="366" y="29"/>
                  </a:lnTo>
                  <a:lnTo>
                    <a:pt x="441" y="74"/>
                  </a:lnTo>
                  <a:lnTo>
                    <a:pt x="441" y="102"/>
                  </a:lnTo>
                  <a:lnTo>
                    <a:pt x="482" y="102"/>
                  </a:lnTo>
                  <a:lnTo>
                    <a:pt x="482" y="646"/>
                  </a:lnTo>
                  <a:close/>
                </a:path>
              </a:pathLst>
            </a:custGeom>
            <a:grpFill/>
            <a:ln w="9525">
              <a:solidFill>
                <a:schemeClr val="accent1"/>
              </a:solidFill>
              <a:round/>
              <a:headEnd/>
              <a:tailEnd/>
            </a:ln>
          </p:spPr>
          <p:txBody>
            <a:bodyPr vert="horz" wrap="square" lIns="91440" tIns="45720" rIns="91440" bIns="45720" numCol="1" anchor="t" anchorCtr="0" compatLnSpc="1">
              <a:prstTxWarp prst="textNoShape">
                <a:avLst/>
              </a:prstTxWarp>
            </a:bodyPr>
            <a:lstStyle/>
            <a:p>
              <a:endParaRPr lang="zh-CN" altLang="en-US"/>
            </a:p>
          </p:txBody>
        </p:sp>
        <p:sp>
          <p:nvSpPr>
            <p:cNvPr id="7" name="Freeform 7">
              <a:extLst>
                <a:ext uri="{FF2B5EF4-FFF2-40B4-BE49-F238E27FC236}">
                  <a16:creationId xmlns:a16="http://schemas.microsoft.com/office/drawing/2014/main" id="{8981387C-07D5-E7E1-7A4B-5A981501B7A0}"/>
                </a:ext>
              </a:extLst>
            </p:cNvPr>
            <p:cNvSpPr>
              <a:spLocks noEditPoints="1"/>
            </p:cNvSpPr>
            <p:nvPr/>
          </p:nvSpPr>
          <p:spPr bwMode="auto">
            <a:xfrm>
              <a:off x="768" y="1614"/>
              <a:ext cx="2016" cy="507"/>
            </a:xfrm>
            <a:custGeom>
              <a:avLst/>
              <a:gdLst>
                <a:gd name="T0" fmla="*/ 1125 w 1178"/>
                <a:gd name="T1" fmla="*/ 294 h 294"/>
                <a:gd name="T2" fmla="*/ 1072 w 1178"/>
                <a:gd name="T3" fmla="*/ 231 h 294"/>
                <a:gd name="T4" fmla="*/ 959 w 1178"/>
                <a:gd name="T5" fmla="*/ 111 h 294"/>
                <a:gd name="T6" fmla="*/ 710 w 1178"/>
                <a:gd name="T7" fmla="*/ 53 h 294"/>
                <a:gd name="T8" fmla="*/ 647 w 1178"/>
                <a:gd name="T9" fmla="*/ 53 h 294"/>
                <a:gd name="T10" fmla="*/ 397 w 1178"/>
                <a:gd name="T11" fmla="*/ 111 h 294"/>
                <a:gd name="T12" fmla="*/ 284 w 1178"/>
                <a:gd name="T13" fmla="*/ 231 h 294"/>
                <a:gd name="T14" fmla="*/ 232 w 1178"/>
                <a:gd name="T15" fmla="*/ 294 h 294"/>
                <a:gd name="T16" fmla="*/ 0 w 1178"/>
                <a:gd name="T17" fmla="*/ 289 h 294"/>
                <a:gd name="T18" fmla="*/ 280 w 1178"/>
                <a:gd name="T19" fmla="*/ 227 h 294"/>
                <a:gd name="T20" fmla="*/ 394 w 1178"/>
                <a:gd name="T21" fmla="*/ 107 h 294"/>
                <a:gd name="T22" fmla="*/ 652 w 1178"/>
                <a:gd name="T23" fmla="*/ 51 h 294"/>
                <a:gd name="T24" fmla="*/ 705 w 1178"/>
                <a:gd name="T25" fmla="*/ 51 h 294"/>
                <a:gd name="T26" fmla="*/ 963 w 1178"/>
                <a:gd name="T27" fmla="*/ 107 h 294"/>
                <a:gd name="T28" fmla="*/ 1076 w 1178"/>
                <a:gd name="T29" fmla="*/ 227 h 294"/>
                <a:gd name="T30" fmla="*/ 1178 w 1178"/>
                <a:gd name="T31" fmla="*/ 289 h 294"/>
                <a:gd name="T32" fmla="*/ 1079 w 1178"/>
                <a:gd name="T33" fmla="*/ 294 h 294"/>
                <a:gd name="T34" fmla="*/ 1077 w 1178"/>
                <a:gd name="T35" fmla="*/ 293 h 294"/>
                <a:gd name="T36" fmla="*/ 1014 w 1178"/>
                <a:gd name="T37" fmla="*/ 214 h 294"/>
                <a:gd name="T38" fmla="*/ 838 w 1178"/>
                <a:gd name="T39" fmla="*/ 54 h 294"/>
                <a:gd name="T40" fmla="*/ 715 w 1178"/>
                <a:gd name="T41" fmla="*/ 94 h 294"/>
                <a:gd name="T42" fmla="*/ 690 w 1178"/>
                <a:gd name="T43" fmla="*/ 292 h 294"/>
                <a:gd name="T44" fmla="*/ 685 w 1178"/>
                <a:gd name="T45" fmla="*/ 283 h 294"/>
                <a:gd name="T46" fmla="*/ 760 w 1178"/>
                <a:gd name="T47" fmla="*/ 34 h 294"/>
                <a:gd name="T48" fmla="*/ 1000 w 1178"/>
                <a:gd name="T49" fmla="*/ 190 h 294"/>
                <a:gd name="T50" fmla="*/ 1057 w 1178"/>
                <a:gd name="T51" fmla="*/ 257 h 294"/>
                <a:gd name="T52" fmla="*/ 1081 w 1178"/>
                <a:gd name="T53" fmla="*/ 294 h 294"/>
                <a:gd name="T54" fmla="*/ 277 w 1178"/>
                <a:gd name="T55" fmla="*/ 294 h 294"/>
                <a:gd name="T56" fmla="*/ 300 w 1178"/>
                <a:gd name="T57" fmla="*/ 257 h 294"/>
                <a:gd name="T58" fmla="*/ 356 w 1178"/>
                <a:gd name="T59" fmla="*/ 190 h 294"/>
                <a:gd name="T60" fmla="*/ 597 w 1178"/>
                <a:gd name="T61" fmla="*/ 34 h 294"/>
                <a:gd name="T62" fmla="*/ 672 w 1178"/>
                <a:gd name="T63" fmla="*/ 283 h 294"/>
                <a:gd name="T64" fmla="*/ 666 w 1178"/>
                <a:gd name="T65" fmla="*/ 292 h 294"/>
                <a:gd name="T66" fmla="*/ 641 w 1178"/>
                <a:gd name="T67" fmla="*/ 94 h 294"/>
                <a:gd name="T68" fmla="*/ 519 w 1178"/>
                <a:gd name="T69" fmla="*/ 54 h 294"/>
                <a:gd name="T70" fmla="*/ 342 w 1178"/>
                <a:gd name="T71" fmla="*/ 214 h 294"/>
                <a:gd name="T72" fmla="*/ 280 w 1178"/>
                <a:gd name="T73" fmla="*/ 293 h 294"/>
                <a:gd name="T74" fmla="*/ 277 w 1178"/>
                <a:gd name="T75" fmla="*/ 292 h 2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1178" h="294">
                  <a:moveTo>
                    <a:pt x="1178" y="294"/>
                  </a:moveTo>
                  <a:cubicBezTo>
                    <a:pt x="1125" y="294"/>
                    <a:pt x="1125" y="294"/>
                    <a:pt x="1125" y="294"/>
                  </a:cubicBezTo>
                  <a:cubicBezTo>
                    <a:pt x="1124" y="293"/>
                    <a:pt x="1124" y="293"/>
                    <a:pt x="1124" y="293"/>
                  </a:cubicBezTo>
                  <a:cubicBezTo>
                    <a:pt x="1124" y="293"/>
                    <a:pt x="1082" y="242"/>
                    <a:pt x="1072" y="231"/>
                  </a:cubicBezTo>
                  <a:cubicBezTo>
                    <a:pt x="1068" y="226"/>
                    <a:pt x="1068" y="226"/>
                    <a:pt x="1068" y="226"/>
                  </a:cubicBezTo>
                  <a:cubicBezTo>
                    <a:pt x="1034" y="186"/>
                    <a:pt x="1000" y="145"/>
                    <a:pt x="959" y="111"/>
                  </a:cubicBezTo>
                  <a:cubicBezTo>
                    <a:pt x="918" y="76"/>
                    <a:pt x="877" y="43"/>
                    <a:pt x="833" y="28"/>
                  </a:cubicBezTo>
                  <a:cubicBezTo>
                    <a:pt x="769" y="6"/>
                    <a:pt x="728" y="14"/>
                    <a:pt x="710" y="53"/>
                  </a:cubicBezTo>
                  <a:cubicBezTo>
                    <a:pt x="705" y="63"/>
                    <a:pt x="683" y="64"/>
                    <a:pt x="678" y="64"/>
                  </a:cubicBezTo>
                  <a:cubicBezTo>
                    <a:pt x="674" y="64"/>
                    <a:pt x="652" y="63"/>
                    <a:pt x="647" y="53"/>
                  </a:cubicBezTo>
                  <a:cubicBezTo>
                    <a:pt x="629" y="14"/>
                    <a:pt x="587" y="6"/>
                    <a:pt x="524" y="28"/>
                  </a:cubicBezTo>
                  <a:cubicBezTo>
                    <a:pt x="479" y="43"/>
                    <a:pt x="439" y="76"/>
                    <a:pt x="397" y="111"/>
                  </a:cubicBezTo>
                  <a:cubicBezTo>
                    <a:pt x="357" y="145"/>
                    <a:pt x="322" y="186"/>
                    <a:pt x="289" y="226"/>
                  </a:cubicBezTo>
                  <a:cubicBezTo>
                    <a:pt x="284" y="231"/>
                    <a:pt x="284" y="231"/>
                    <a:pt x="284" y="231"/>
                  </a:cubicBezTo>
                  <a:cubicBezTo>
                    <a:pt x="275" y="242"/>
                    <a:pt x="233" y="293"/>
                    <a:pt x="232" y="293"/>
                  </a:cubicBezTo>
                  <a:cubicBezTo>
                    <a:pt x="232" y="294"/>
                    <a:pt x="232" y="294"/>
                    <a:pt x="232" y="294"/>
                  </a:cubicBezTo>
                  <a:cubicBezTo>
                    <a:pt x="0" y="294"/>
                    <a:pt x="0" y="294"/>
                    <a:pt x="0" y="294"/>
                  </a:cubicBezTo>
                  <a:cubicBezTo>
                    <a:pt x="0" y="289"/>
                    <a:pt x="0" y="289"/>
                    <a:pt x="0" y="289"/>
                  </a:cubicBezTo>
                  <a:cubicBezTo>
                    <a:pt x="229" y="289"/>
                    <a:pt x="229" y="289"/>
                    <a:pt x="229" y="289"/>
                  </a:cubicBezTo>
                  <a:cubicBezTo>
                    <a:pt x="235" y="282"/>
                    <a:pt x="271" y="238"/>
                    <a:pt x="280" y="227"/>
                  </a:cubicBezTo>
                  <a:cubicBezTo>
                    <a:pt x="285" y="222"/>
                    <a:pt x="285" y="222"/>
                    <a:pt x="285" y="222"/>
                  </a:cubicBezTo>
                  <a:cubicBezTo>
                    <a:pt x="318" y="183"/>
                    <a:pt x="353" y="141"/>
                    <a:pt x="394" y="107"/>
                  </a:cubicBezTo>
                  <a:cubicBezTo>
                    <a:pt x="436" y="72"/>
                    <a:pt x="477" y="39"/>
                    <a:pt x="522" y="23"/>
                  </a:cubicBezTo>
                  <a:cubicBezTo>
                    <a:pt x="589" y="0"/>
                    <a:pt x="632" y="9"/>
                    <a:pt x="652" y="51"/>
                  </a:cubicBezTo>
                  <a:cubicBezTo>
                    <a:pt x="654" y="56"/>
                    <a:pt x="667" y="58"/>
                    <a:pt x="678" y="58"/>
                  </a:cubicBezTo>
                  <a:cubicBezTo>
                    <a:pt x="690" y="58"/>
                    <a:pt x="703" y="56"/>
                    <a:pt x="705" y="51"/>
                  </a:cubicBezTo>
                  <a:cubicBezTo>
                    <a:pt x="724" y="9"/>
                    <a:pt x="768" y="0"/>
                    <a:pt x="834" y="23"/>
                  </a:cubicBezTo>
                  <a:cubicBezTo>
                    <a:pt x="880" y="39"/>
                    <a:pt x="921" y="72"/>
                    <a:pt x="963" y="107"/>
                  </a:cubicBezTo>
                  <a:cubicBezTo>
                    <a:pt x="1003" y="141"/>
                    <a:pt x="1038" y="183"/>
                    <a:pt x="1072" y="222"/>
                  </a:cubicBezTo>
                  <a:cubicBezTo>
                    <a:pt x="1076" y="227"/>
                    <a:pt x="1076" y="227"/>
                    <a:pt x="1076" y="227"/>
                  </a:cubicBezTo>
                  <a:cubicBezTo>
                    <a:pt x="1085" y="238"/>
                    <a:pt x="1122" y="282"/>
                    <a:pt x="1128" y="289"/>
                  </a:cubicBezTo>
                  <a:cubicBezTo>
                    <a:pt x="1178" y="289"/>
                    <a:pt x="1178" y="289"/>
                    <a:pt x="1178" y="289"/>
                  </a:cubicBezTo>
                  <a:lnTo>
                    <a:pt x="1178" y="294"/>
                  </a:lnTo>
                  <a:close/>
                  <a:moveTo>
                    <a:pt x="1079" y="294"/>
                  </a:moveTo>
                  <a:cubicBezTo>
                    <a:pt x="1079" y="292"/>
                    <a:pt x="1079" y="292"/>
                    <a:pt x="1079" y="292"/>
                  </a:cubicBezTo>
                  <a:cubicBezTo>
                    <a:pt x="1077" y="293"/>
                    <a:pt x="1077" y="293"/>
                    <a:pt x="1077" y="293"/>
                  </a:cubicBezTo>
                  <a:cubicBezTo>
                    <a:pt x="1076" y="290"/>
                    <a:pt x="1055" y="263"/>
                    <a:pt x="1053" y="260"/>
                  </a:cubicBezTo>
                  <a:cubicBezTo>
                    <a:pt x="1039" y="243"/>
                    <a:pt x="1026" y="228"/>
                    <a:pt x="1014" y="214"/>
                  </a:cubicBezTo>
                  <a:cubicBezTo>
                    <a:pt x="1008" y="208"/>
                    <a:pt x="1002" y="201"/>
                    <a:pt x="996" y="194"/>
                  </a:cubicBezTo>
                  <a:cubicBezTo>
                    <a:pt x="950" y="140"/>
                    <a:pt x="902" y="84"/>
                    <a:pt x="838" y="54"/>
                  </a:cubicBezTo>
                  <a:cubicBezTo>
                    <a:pt x="814" y="44"/>
                    <a:pt x="786" y="33"/>
                    <a:pt x="761" y="40"/>
                  </a:cubicBezTo>
                  <a:cubicBezTo>
                    <a:pt x="736" y="46"/>
                    <a:pt x="723" y="73"/>
                    <a:pt x="715" y="94"/>
                  </a:cubicBezTo>
                  <a:cubicBezTo>
                    <a:pt x="695" y="156"/>
                    <a:pt x="693" y="218"/>
                    <a:pt x="690" y="283"/>
                  </a:cubicBezTo>
                  <a:cubicBezTo>
                    <a:pt x="690" y="292"/>
                    <a:pt x="690" y="292"/>
                    <a:pt x="690" y="292"/>
                  </a:cubicBezTo>
                  <a:cubicBezTo>
                    <a:pt x="685" y="291"/>
                    <a:pt x="685" y="291"/>
                    <a:pt x="685" y="291"/>
                  </a:cubicBezTo>
                  <a:cubicBezTo>
                    <a:pt x="685" y="283"/>
                    <a:pt x="685" y="283"/>
                    <a:pt x="685" y="283"/>
                  </a:cubicBezTo>
                  <a:cubicBezTo>
                    <a:pt x="687" y="217"/>
                    <a:pt x="689" y="155"/>
                    <a:pt x="710" y="92"/>
                  </a:cubicBezTo>
                  <a:cubicBezTo>
                    <a:pt x="718" y="70"/>
                    <a:pt x="733" y="42"/>
                    <a:pt x="760" y="34"/>
                  </a:cubicBezTo>
                  <a:cubicBezTo>
                    <a:pt x="787" y="28"/>
                    <a:pt x="815" y="38"/>
                    <a:pt x="840" y="50"/>
                  </a:cubicBezTo>
                  <a:cubicBezTo>
                    <a:pt x="905" y="80"/>
                    <a:pt x="954" y="136"/>
                    <a:pt x="1000" y="190"/>
                  </a:cubicBezTo>
                  <a:cubicBezTo>
                    <a:pt x="1006" y="197"/>
                    <a:pt x="1012" y="204"/>
                    <a:pt x="1018" y="211"/>
                  </a:cubicBezTo>
                  <a:cubicBezTo>
                    <a:pt x="1030" y="225"/>
                    <a:pt x="1043" y="240"/>
                    <a:pt x="1057" y="257"/>
                  </a:cubicBezTo>
                  <a:cubicBezTo>
                    <a:pt x="1069" y="272"/>
                    <a:pt x="1083" y="290"/>
                    <a:pt x="1082" y="293"/>
                  </a:cubicBezTo>
                  <a:cubicBezTo>
                    <a:pt x="1081" y="294"/>
                    <a:pt x="1081" y="294"/>
                    <a:pt x="1081" y="294"/>
                  </a:cubicBezTo>
                  <a:lnTo>
                    <a:pt x="1079" y="294"/>
                  </a:lnTo>
                  <a:close/>
                  <a:moveTo>
                    <a:pt x="277" y="294"/>
                  </a:moveTo>
                  <a:cubicBezTo>
                    <a:pt x="275" y="293"/>
                    <a:pt x="275" y="293"/>
                    <a:pt x="275" y="293"/>
                  </a:cubicBezTo>
                  <a:cubicBezTo>
                    <a:pt x="274" y="290"/>
                    <a:pt x="292" y="267"/>
                    <a:pt x="300" y="257"/>
                  </a:cubicBezTo>
                  <a:cubicBezTo>
                    <a:pt x="314" y="240"/>
                    <a:pt x="326" y="225"/>
                    <a:pt x="338" y="211"/>
                  </a:cubicBezTo>
                  <a:cubicBezTo>
                    <a:pt x="344" y="204"/>
                    <a:pt x="350" y="197"/>
                    <a:pt x="356" y="190"/>
                  </a:cubicBezTo>
                  <a:cubicBezTo>
                    <a:pt x="403" y="136"/>
                    <a:pt x="451" y="80"/>
                    <a:pt x="517" y="50"/>
                  </a:cubicBezTo>
                  <a:cubicBezTo>
                    <a:pt x="541" y="38"/>
                    <a:pt x="570" y="28"/>
                    <a:pt x="597" y="34"/>
                  </a:cubicBezTo>
                  <a:cubicBezTo>
                    <a:pt x="624" y="42"/>
                    <a:pt x="639" y="70"/>
                    <a:pt x="646" y="92"/>
                  </a:cubicBezTo>
                  <a:cubicBezTo>
                    <a:pt x="667" y="155"/>
                    <a:pt x="669" y="217"/>
                    <a:pt x="672" y="283"/>
                  </a:cubicBezTo>
                  <a:cubicBezTo>
                    <a:pt x="672" y="291"/>
                    <a:pt x="672" y="291"/>
                    <a:pt x="672" y="291"/>
                  </a:cubicBezTo>
                  <a:cubicBezTo>
                    <a:pt x="666" y="292"/>
                    <a:pt x="666" y="292"/>
                    <a:pt x="666" y="292"/>
                  </a:cubicBezTo>
                  <a:cubicBezTo>
                    <a:pt x="666" y="283"/>
                    <a:pt x="666" y="283"/>
                    <a:pt x="666" y="283"/>
                  </a:cubicBezTo>
                  <a:cubicBezTo>
                    <a:pt x="664" y="218"/>
                    <a:pt x="662" y="156"/>
                    <a:pt x="641" y="94"/>
                  </a:cubicBezTo>
                  <a:cubicBezTo>
                    <a:pt x="634" y="73"/>
                    <a:pt x="620" y="46"/>
                    <a:pt x="595" y="40"/>
                  </a:cubicBezTo>
                  <a:cubicBezTo>
                    <a:pt x="570" y="33"/>
                    <a:pt x="543" y="44"/>
                    <a:pt x="519" y="54"/>
                  </a:cubicBezTo>
                  <a:cubicBezTo>
                    <a:pt x="455" y="84"/>
                    <a:pt x="407" y="140"/>
                    <a:pt x="360" y="194"/>
                  </a:cubicBezTo>
                  <a:cubicBezTo>
                    <a:pt x="354" y="201"/>
                    <a:pt x="348" y="208"/>
                    <a:pt x="342" y="214"/>
                  </a:cubicBezTo>
                  <a:cubicBezTo>
                    <a:pt x="330" y="228"/>
                    <a:pt x="318" y="243"/>
                    <a:pt x="304" y="260"/>
                  </a:cubicBezTo>
                  <a:cubicBezTo>
                    <a:pt x="302" y="263"/>
                    <a:pt x="281" y="290"/>
                    <a:pt x="280" y="293"/>
                  </a:cubicBezTo>
                  <a:cubicBezTo>
                    <a:pt x="278" y="291"/>
                    <a:pt x="278" y="291"/>
                    <a:pt x="278" y="291"/>
                  </a:cubicBezTo>
                  <a:cubicBezTo>
                    <a:pt x="277" y="292"/>
                    <a:pt x="277" y="292"/>
                    <a:pt x="277" y="292"/>
                  </a:cubicBezTo>
                  <a:lnTo>
                    <a:pt x="277" y="294"/>
                  </a:lnTo>
                  <a:close/>
                </a:path>
              </a:pathLst>
            </a:custGeom>
            <a:grpFill/>
            <a:ln w="9525">
              <a:solidFill>
                <a:schemeClr val="accent1"/>
              </a:solidFill>
              <a:round/>
              <a:headEnd/>
              <a:tailEnd/>
            </a:ln>
          </p:spPr>
          <p:txBody>
            <a:bodyPr vert="horz" wrap="square" lIns="91440" tIns="45720" rIns="91440" bIns="45720" numCol="1" anchor="t" anchorCtr="0" compatLnSpc="1">
              <a:prstTxWarp prst="textNoShape">
                <a:avLst/>
              </a:prstTxWarp>
            </a:bodyPr>
            <a:lstStyle/>
            <a:p>
              <a:endParaRPr lang="zh-CN" altLang="en-US"/>
            </a:p>
          </p:txBody>
        </p:sp>
        <p:sp>
          <p:nvSpPr>
            <p:cNvPr id="8" name="Freeform 8">
              <a:extLst>
                <a:ext uri="{FF2B5EF4-FFF2-40B4-BE49-F238E27FC236}">
                  <a16:creationId xmlns:a16="http://schemas.microsoft.com/office/drawing/2014/main" id="{807C9F47-7049-27B9-0001-B63DAB1C61E3}"/>
                </a:ext>
              </a:extLst>
            </p:cNvPr>
            <p:cNvSpPr>
              <a:spLocks/>
            </p:cNvSpPr>
            <p:nvPr/>
          </p:nvSpPr>
          <p:spPr bwMode="auto">
            <a:xfrm>
              <a:off x="2784" y="1893"/>
              <a:ext cx="1027" cy="228"/>
            </a:xfrm>
            <a:custGeom>
              <a:avLst/>
              <a:gdLst>
                <a:gd name="T0" fmla="*/ 1027 w 1027"/>
                <a:gd name="T1" fmla="*/ 228 h 228"/>
                <a:gd name="T2" fmla="*/ 879 w 1027"/>
                <a:gd name="T3" fmla="*/ 228 h 228"/>
                <a:gd name="T4" fmla="*/ 879 w 1027"/>
                <a:gd name="T5" fmla="*/ 11 h 228"/>
                <a:gd name="T6" fmla="*/ 67 w 1027"/>
                <a:gd name="T7" fmla="*/ 11 h 228"/>
                <a:gd name="T8" fmla="*/ 67 w 1027"/>
                <a:gd name="T9" fmla="*/ 228 h 228"/>
                <a:gd name="T10" fmla="*/ 0 w 1027"/>
                <a:gd name="T11" fmla="*/ 228 h 228"/>
                <a:gd name="T12" fmla="*/ 0 w 1027"/>
                <a:gd name="T13" fmla="*/ 219 h 228"/>
                <a:gd name="T14" fmla="*/ 57 w 1027"/>
                <a:gd name="T15" fmla="*/ 219 h 228"/>
                <a:gd name="T16" fmla="*/ 57 w 1027"/>
                <a:gd name="T17" fmla="*/ 0 h 228"/>
                <a:gd name="T18" fmla="*/ 887 w 1027"/>
                <a:gd name="T19" fmla="*/ 0 h 228"/>
                <a:gd name="T20" fmla="*/ 887 w 1027"/>
                <a:gd name="T21" fmla="*/ 219 h 228"/>
                <a:gd name="T22" fmla="*/ 1027 w 1027"/>
                <a:gd name="T23" fmla="*/ 219 h 228"/>
                <a:gd name="T24" fmla="*/ 1027 w 1027"/>
                <a:gd name="T25" fmla="*/ 228 h 2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027" h="228">
                  <a:moveTo>
                    <a:pt x="1027" y="228"/>
                  </a:moveTo>
                  <a:lnTo>
                    <a:pt x="879" y="228"/>
                  </a:lnTo>
                  <a:lnTo>
                    <a:pt x="879" y="11"/>
                  </a:lnTo>
                  <a:lnTo>
                    <a:pt x="67" y="11"/>
                  </a:lnTo>
                  <a:lnTo>
                    <a:pt x="67" y="228"/>
                  </a:lnTo>
                  <a:lnTo>
                    <a:pt x="0" y="228"/>
                  </a:lnTo>
                  <a:lnTo>
                    <a:pt x="0" y="219"/>
                  </a:lnTo>
                  <a:lnTo>
                    <a:pt x="57" y="219"/>
                  </a:lnTo>
                  <a:lnTo>
                    <a:pt x="57" y="0"/>
                  </a:lnTo>
                  <a:lnTo>
                    <a:pt x="887" y="0"/>
                  </a:lnTo>
                  <a:lnTo>
                    <a:pt x="887" y="219"/>
                  </a:lnTo>
                  <a:lnTo>
                    <a:pt x="1027" y="219"/>
                  </a:lnTo>
                  <a:lnTo>
                    <a:pt x="1027" y="228"/>
                  </a:lnTo>
                  <a:close/>
                </a:path>
              </a:pathLst>
            </a:custGeom>
            <a:grpFill/>
            <a:ln w="9525">
              <a:solidFill>
                <a:schemeClr val="accent1"/>
              </a:solidFill>
              <a:round/>
              <a:headEnd/>
              <a:tailEnd/>
            </a:ln>
          </p:spPr>
          <p:txBody>
            <a:bodyPr vert="horz" wrap="square" lIns="91440" tIns="45720" rIns="91440" bIns="45720" numCol="1" anchor="t" anchorCtr="0" compatLnSpc="1">
              <a:prstTxWarp prst="textNoShape">
                <a:avLst/>
              </a:prstTxWarp>
            </a:bodyPr>
            <a:lstStyle/>
            <a:p>
              <a:endParaRPr lang="zh-CN" altLang="en-US"/>
            </a:p>
          </p:txBody>
        </p:sp>
        <p:sp>
          <p:nvSpPr>
            <p:cNvPr id="9" name="Freeform 9">
              <a:extLst>
                <a:ext uri="{FF2B5EF4-FFF2-40B4-BE49-F238E27FC236}">
                  <a16:creationId xmlns:a16="http://schemas.microsoft.com/office/drawing/2014/main" id="{3620804C-E8C1-F91F-A888-B730A57A8380}"/>
                </a:ext>
              </a:extLst>
            </p:cNvPr>
            <p:cNvSpPr>
              <a:spLocks/>
            </p:cNvSpPr>
            <p:nvPr/>
          </p:nvSpPr>
          <p:spPr bwMode="auto">
            <a:xfrm>
              <a:off x="3159" y="1948"/>
              <a:ext cx="183" cy="169"/>
            </a:xfrm>
            <a:custGeom>
              <a:avLst/>
              <a:gdLst>
                <a:gd name="T0" fmla="*/ 5 w 107"/>
                <a:gd name="T1" fmla="*/ 98 h 98"/>
                <a:gd name="T2" fmla="*/ 0 w 107"/>
                <a:gd name="T3" fmla="*/ 98 h 98"/>
                <a:gd name="T4" fmla="*/ 0 w 107"/>
                <a:gd name="T5" fmla="*/ 13 h 98"/>
                <a:gd name="T6" fmla="*/ 6 w 107"/>
                <a:gd name="T7" fmla="*/ 7 h 98"/>
                <a:gd name="T8" fmla="*/ 11 w 107"/>
                <a:gd name="T9" fmla="*/ 6 h 98"/>
                <a:gd name="T10" fmla="*/ 19 w 107"/>
                <a:gd name="T11" fmla="*/ 4 h 98"/>
                <a:gd name="T12" fmla="*/ 28 w 107"/>
                <a:gd name="T13" fmla="*/ 0 h 98"/>
                <a:gd name="T14" fmla="*/ 29 w 107"/>
                <a:gd name="T15" fmla="*/ 0 h 98"/>
                <a:gd name="T16" fmla="*/ 59 w 107"/>
                <a:gd name="T17" fmla="*/ 0 h 98"/>
                <a:gd name="T18" fmla="*/ 78 w 107"/>
                <a:gd name="T19" fmla="*/ 0 h 98"/>
                <a:gd name="T20" fmla="*/ 86 w 107"/>
                <a:gd name="T21" fmla="*/ 4 h 98"/>
                <a:gd name="T22" fmla="*/ 91 w 107"/>
                <a:gd name="T23" fmla="*/ 5 h 98"/>
                <a:gd name="T24" fmla="*/ 94 w 107"/>
                <a:gd name="T25" fmla="*/ 5 h 98"/>
                <a:gd name="T26" fmla="*/ 94 w 107"/>
                <a:gd name="T27" fmla="*/ 6 h 98"/>
                <a:gd name="T28" fmla="*/ 107 w 107"/>
                <a:gd name="T29" fmla="*/ 20 h 98"/>
                <a:gd name="T30" fmla="*/ 107 w 107"/>
                <a:gd name="T31" fmla="*/ 74 h 98"/>
                <a:gd name="T32" fmla="*/ 107 w 107"/>
                <a:gd name="T33" fmla="*/ 97 h 98"/>
                <a:gd name="T34" fmla="*/ 102 w 107"/>
                <a:gd name="T35" fmla="*/ 97 h 98"/>
                <a:gd name="T36" fmla="*/ 101 w 107"/>
                <a:gd name="T37" fmla="*/ 74 h 98"/>
                <a:gd name="T38" fmla="*/ 101 w 107"/>
                <a:gd name="T39" fmla="*/ 20 h 98"/>
                <a:gd name="T40" fmla="*/ 94 w 107"/>
                <a:gd name="T41" fmla="*/ 11 h 98"/>
                <a:gd name="T42" fmla="*/ 93 w 107"/>
                <a:gd name="T43" fmla="*/ 11 h 98"/>
                <a:gd name="T44" fmla="*/ 91 w 107"/>
                <a:gd name="T45" fmla="*/ 11 h 98"/>
                <a:gd name="T46" fmla="*/ 82 w 107"/>
                <a:gd name="T47" fmla="*/ 7 h 98"/>
                <a:gd name="T48" fmla="*/ 78 w 107"/>
                <a:gd name="T49" fmla="*/ 6 h 98"/>
                <a:gd name="T50" fmla="*/ 59 w 107"/>
                <a:gd name="T51" fmla="*/ 6 h 98"/>
                <a:gd name="T52" fmla="*/ 29 w 107"/>
                <a:gd name="T53" fmla="*/ 6 h 98"/>
                <a:gd name="T54" fmla="*/ 27 w 107"/>
                <a:gd name="T55" fmla="*/ 6 h 98"/>
                <a:gd name="T56" fmla="*/ 24 w 107"/>
                <a:gd name="T57" fmla="*/ 7 h 98"/>
                <a:gd name="T58" fmla="*/ 20 w 107"/>
                <a:gd name="T59" fmla="*/ 10 h 98"/>
                <a:gd name="T60" fmla="*/ 13 w 107"/>
                <a:gd name="T61" fmla="*/ 11 h 98"/>
                <a:gd name="T62" fmla="*/ 6 w 107"/>
                <a:gd name="T63" fmla="*/ 12 h 98"/>
                <a:gd name="T64" fmla="*/ 5 w 107"/>
                <a:gd name="T65" fmla="*/ 12 h 98"/>
                <a:gd name="T66" fmla="*/ 5 w 107"/>
                <a:gd name="T67" fmla="*/ 13 h 98"/>
                <a:gd name="T68" fmla="*/ 5 w 107"/>
                <a:gd name="T69" fmla="*/ 98 h 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107" h="98">
                  <a:moveTo>
                    <a:pt x="5" y="98"/>
                  </a:moveTo>
                  <a:cubicBezTo>
                    <a:pt x="0" y="98"/>
                    <a:pt x="0" y="98"/>
                    <a:pt x="0" y="98"/>
                  </a:cubicBezTo>
                  <a:cubicBezTo>
                    <a:pt x="0" y="65"/>
                    <a:pt x="0" y="46"/>
                    <a:pt x="0" y="13"/>
                  </a:cubicBezTo>
                  <a:cubicBezTo>
                    <a:pt x="0" y="11"/>
                    <a:pt x="1" y="7"/>
                    <a:pt x="6" y="7"/>
                  </a:cubicBezTo>
                  <a:cubicBezTo>
                    <a:pt x="8" y="6"/>
                    <a:pt x="10" y="6"/>
                    <a:pt x="11" y="6"/>
                  </a:cubicBezTo>
                  <a:cubicBezTo>
                    <a:pt x="14" y="5"/>
                    <a:pt x="16" y="4"/>
                    <a:pt x="19" y="4"/>
                  </a:cubicBezTo>
                  <a:cubicBezTo>
                    <a:pt x="21" y="0"/>
                    <a:pt x="25" y="0"/>
                    <a:pt x="28" y="0"/>
                  </a:cubicBezTo>
                  <a:cubicBezTo>
                    <a:pt x="28" y="0"/>
                    <a:pt x="29" y="0"/>
                    <a:pt x="29" y="0"/>
                  </a:cubicBezTo>
                  <a:cubicBezTo>
                    <a:pt x="39" y="0"/>
                    <a:pt x="49" y="0"/>
                    <a:pt x="59" y="0"/>
                  </a:cubicBezTo>
                  <a:cubicBezTo>
                    <a:pt x="78" y="0"/>
                    <a:pt x="78" y="0"/>
                    <a:pt x="78" y="0"/>
                  </a:cubicBezTo>
                  <a:cubicBezTo>
                    <a:pt x="81" y="0"/>
                    <a:pt x="84" y="1"/>
                    <a:pt x="86" y="4"/>
                  </a:cubicBezTo>
                  <a:cubicBezTo>
                    <a:pt x="87" y="5"/>
                    <a:pt x="89" y="5"/>
                    <a:pt x="91" y="5"/>
                  </a:cubicBezTo>
                  <a:cubicBezTo>
                    <a:pt x="92" y="5"/>
                    <a:pt x="93" y="5"/>
                    <a:pt x="94" y="5"/>
                  </a:cubicBezTo>
                  <a:cubicBezTo>
                    <a:pt x="94" y="6"/>
                    <a:pt x="94" y="6"/>
                    <a:pt x="94" y="6"/>
                  </a:cubicBezTo>
                  <a:cubicBezTo>
                    <a:pt x="106" y="7"/>
                    <a:pt x="107" y="8"/>
                    <a:pt x="107" y="20"/>
                  </a:cubicBezTo>
                  <a:cubicBezTo>
                    <a:pt x="107" y="74"/>
                    <a:pt x="107" y="74"/>
                    <a:pt x="107" y="74"/>
                  </a:cubicBezTo>
                  <a:cubicBezTo>
                    <a:pt x="107" y="81"/>
                    <a:pt x="107" y="86"/>
                    <a:pt x="107" y="97"/>
                  </a:cubicBezTo>
                  <a:cubicBezTo>
                    <a:pt x="102" y="97"/>
                    <a:pt x="102" y="97"/>
                    <a:pt x="102" y="97"/>
                  </a:cubicBezTo>
                  <a:cubicBezTo>
                    <a:pt x="101" y="86"/>
                    <a:pt x="101" y="81"/>
                    <a:pt x="101" y="74"/>
                  </a:cubicBezTo>
                  <a:cubicBezTo>
                    <a:pt x="101" y="20"/>
                    <a:pt x="101" y="20"/>
                    <a:pt x="101" y="20"/>
                  </a:cubicBezTo>
                  <a:cubicBezTo>
                    <a:pt x="101" y="12"/>
                    <a:pt x="101" y="12"/>
                    <a:pt x="94" y="11"/>
                  </a:cubicBezTo>
                  <a:cubicBezTo>
                    <a:pt x="93" y="11"/>
                    <a:pt x="93" y="11"/>
                    <a:pt x="93" y="11"/>
                  </a:cubicBezTo>
                  <a:cubicBezTo>
                    <a:pt x="92" y="11"/>
                    <a:pt x="92" y="11"/>
                    <a:pt x="91" y="11"/>
                  </a:cubicBezTo>
                  <a:cubicBezTo>
                    <a:pt x="88" y="10"/>
                    <a:pt x="84" y="10"/>
                    <a:pt x="82" y="7"/>
                  </a:cubicBezTo>
                  <a:cubicBezTo>
                    <a:pt x="81" y="6"/>
                    <a:pt x="80" y="6"/>
                    <a:pt x="78" y="6"/>
                  </a:cubicBezTo>
                  <a:cubicBezTo>
                    <a:pt x="59" y="6"/>
                    <a:pt x="59" y="6"/>
                    <a:pt x="59" y="6"/>
                  </a:cubicBezTo>
                  <a:cubicBezTo>
                    <a:pt x="49" y="6"/>
                    <a:pt x="39" y="6"/>
                    <a:pt x="29" y="6"/>
                  </a:cubicBezTo>
                  <a:cubicBezTo>
                    <a:pt x="28" y="6"/>
                    <a:pt x="28" y="6"/>
                    <a:pt x="27" y="6"/>
                  </a:cubicBezTo>
                  <a:cubicBezTo>
                    <a:pt x="24" y="5"/>
                    <a:pt x="24" y="5"/>
                    <a:pt x="24" y="7"/>
                  </a:cubicBezTo>
                  <a:cubicBezTo>
                    <a:pt x="24" y="8"/>
                    <a:pt x="23" y="10"/>
                    <a:pt x="20" y="10"/>
                  </a:cubicBezTo>
                  <a:cubicBezTo>
                    <a:pt x="17" y="10"/>
                    <a:pt x="15" y="10"/>
                    <a:pt x="13" y="11"/>
                  </a:cubicBezTo>
                  <a:cubicBezTo>
                    <a:pt x="11" y="11"/>
                    <a:pt x="9" y="12"/>
                    <a:pt x="6" y="12"/>
                  </a:cubicBezTo>
                  <a:cubicBezTo>
                    <a:pt x="6" y="12"/>
                    <a:pt x="5" y="12"/>
                    <a:pt x="5" y="12"/>
                  </a:cubicBezTo>
                  <a:cubicBezTo>
                    <a:pt x="5" y="12"/>
                    <a:pt x="5" y="12"/>
                    <a:pt x="5" y="13"/>
                  </a:cubicBezTo>
                  <a:cubicBezTo>
                    <a:pt x="5" y="46"/>
                    <a:pt x="5" y="65"/>
                    <a:pt x="5" y="98"/>
                  </a:cubicBezTo>
                  <a:close/>
                </a:path>
              </a:pathLst>
            </a:custGeom>
            <a:grpFill/>
            <a:ln w="9525">
              <a:solidFill>
                <a:schemeClr val="accent1"/>
              </a:solidFill>
              <a:round/>
              <a:headEnd/>
              <a:tailEnd/>
            </a:ln>
          </p:spPr>
          <p:txBody>
            <a:bodyPr vert="horz" wrap="square" lIns="91440" tIns="45720" rIns="91440" bIns="45720" numCol="1" anchor="t" anchorCtr="0" compatLnSpc="1">
              <a:prstTxWarp prst="textNoShape">
                <a:avLst/>
              </a:prstTxWarp>
            </a:bodyPr>
            <a:lstStyle/>
            <a:p>
              <a:endParaRPr lang="zh-CN" altLang="en-US"/>
            </a:p>
          </p:txBody>
        </p:sp>
        <p:sp>
          <p:nvSpPr>
            <p:cNvPr id="10" name="Freeform 10">
              <a:extLst>
                <a:ext uri="{FF2B5EF4-FFF2-40B4-BE49-F238E27FC236}">
                  <a16:creationId xmlns:a16="http://schemas.microsoft.com/office/drawing/2014/main" id="{6E660067-2107-2932-3684-2B2EBC2D6E28}"/>
                </a:ext>
              </a:extLst>
            </p:cNvPr>
            <p:cNvSpPr>
              <a:spLocks noEditPoints="1"/>
            </p:cNvSpPr>
            <p:nvPr/>
          </p:nvSpPr>
          <p:spPr bwMode="auto">
            <a:xfrm>
              <a:off x="2647" y="1656"/>
              <a:ext cx="1226" cy="229"/>
            </a:xfrm>
            <a:custGeom>
              <a:avLst/>
              <a:gdLst>
                <a:gd name="T0" fmla="*/ 67 w 716"/>
                <a:gd name="T1" fmla="*/ 112 h 133"/>
                <a:gd name="T2" fmla="*/ 49 w 716"/>
                <a:gd name="T3" fmla="*/ 101 h 133"/>
                <a:gd name="T4" fmla="*/ 30 w 716"/>
                <a:gd name="T5" fmla="*/ 86 h 133"/>
                <a:gd name="T6" fmla="*/ 11 w 716"/>
                <a:gd name="T7" fmla="*/ 53 h 133"/>
                <a:gd name="T8" fmla="*/ 25 w 716"/>
                <a:gd name="T9" fmla="*/ 52 h 133"/>
                <a:gd name="T10" fmla="*/ 36 w 716"/>
                <a:gd name="T11" fmla="*/ 52 h 133"/>
                <a:gd name="T12" fmla="*/ 45 w 716"/>
                <a:gd name="T13" fmla="*/ 52 h 133"/>
                <a:gd name="T14" fmla="*/ 55 w 716"/>
                <a:gd name="T15" fmla="*/ 54 h 133"/>
                <a:gd name="T16" fmla="*/ 72 w 716"/>
                <a:gd name="T17" fmla="*/ 60 h 133"/>
                <a:gd name="T18" fmla="*/ 73 w 716"/>
                <a:gd name="T19" fmla="*/ 56 h 133"/>
                <a:gd name="T20" fmla="*/ 93 w 716"/>
                <a:gd name="T21" fmla="*/ 56 h 133"/>
                <a:gd name="T22" fmla="*/ 127 w 716"/>
                <a:gd name="T23" fmla="*/ 62 h 133"/>
                <a:gd name="T24" fmla="*/ 150 w 716"/>
                <a:gd name="T25" fmla="*/ 62 h 133"/>
                <a:gd name="T26" fmla="*/ 173 w 716"/>
                <a:gd name="T27" fmla="*/ 48 h 133"/>
                <a:gd name="T28" fmla="*/ 178 w 716"/>
                <a:gd name="T29" fmla="*/ 19 h 133"/>
                <a:gd name="T30" fmla="*/ 190 w 716"/>
                <a:gd name="T31" fmla="*/ 11 h 133"/>
                <a:gd name="T32" fmla="*/ 207 w 716"/>
                <a:gd name="T33" fmla="*/ 2 h 133"/>
                <a:gd name="T34" fmla="*/ 211 w 716"/>
                <a:gd name="T35" fmla="*/ 23 h 133"/>
                <a:gd name="T36" fmla="*/ 496 w 716"/>
                <a:gd name="T37" fmla="*/ 27 h 133"/>
                <a:gd name="T38" fmla="*/ 516 w 716"/>
                <a:gd name="T39" fmla="*/ 8 h 133"/>
                <a:gd name="T40" fmla="*/ 530 w 716"/>
                <a:gd name="T41" fmla="*/ 10 h 133"/>
                <a:gd name="T42" fmla="*/ 536 w 716"/>
                <a:gd name="T43" fmla="*/ 28 h 133"/>
                <a:gd name="T44" fmla="*/ 561 w 716"/>
                <a:gd name="T45" fmla="*/ 62 h 133"/>
                <a:gd name="T46" fmla="*/ 612 w 716"/>
                <a:gd name="T47" fmla="*/ 56 h 133"/>
                <a:gd name="T48" fmla="*/ 622 w 716"/>
                <a:gd name="T49" fmla="*/ 64 h 133"/>
                <a:gd name="T50" fmla="*/ 635 w 716"/>
                <a:gd name="T51" fmla="*/ 59 h 133"/>
                <a:gd name="T52" fmla="*/ 649 w 716"/>
                <a:gd name="T53" fmla="*/ 63 h 133"/>
                <a:gd name="T54" fmla="*/ 662 w 716"/>
                <a:gd name="T55" fmla="*/ 61 h 133"/>
                <a:gd name="T56" fmla="*/ 678 w 716"/>
                <a:gd name="T57" fmla="*/ 56 h 133"/>
                <a:gd name="T58" fmla="*/ 691 w 716"/>
                <a:gd name="T59" fmla="*/ 54 h 133"/>
                <a:gd name="T60" fmla="*/ 702 w 716"/>
                <a:gd name="T61" fmla="*/ 52 h 133"/>
                <a:gd name="T62" fmla="*/ 714 w 716"/>
                <a:gd name="T63" fmla="*/ 60 h 133"/>
                <a:gd name="T64" fmla="*/ 684 w 716"/>
                <a:gd name="T65" fmla="*/ 90 h 133"/>
                <a:gd name="T66" fmla="*/ 653 w 716"/>
                <a:gd name="T67" fmla="*/ 108 h 133"/>
                <a:gd name="T68" fmla="*/ 601 w 716"/>
                <a:gd name="T69" fmla="*/ 133 h 133"/>
                <a:gd name="T70" fmla="*/ 599 w 716"/>
                <a:gd name="T71" fmla="*/ 128 h 133"/>
                <a:gd name="T72" fmla="*/ 652 w 716"/>
                <a:gd name="T73" fmla="*/ 103 h 133"/>
                <a:gd name="T74" fmla="*/ 691 w 716"/>
                <a:gd name="T75" fmla="*/ 78 h 133"/>
                <a:gd name="T76" fmla="*/ 701 w 716"/>
                <a:gd name="T77" fmla="*/ 58 h 133"/>
                <a:gd name="T78" fmla="*/ 683 w 716"/>
                <a:gd name="T79" fmla="*/ 57 h 133"/>
                <a:gd name="T80" fmla="*/ 657 w 716"/>
                <a:gd name="T81" fmla="*/ 64 h 133"/>
                <a:gd name="T82" fmla="*/ 637 w 716"/>
                <a:gd name="T83" fmla="*/ 70 h 133"/>
                <a:gd name="T84" fmla="*/ 616 w 716"/>
                <a:gd name="T85" fmla="*/ 63 h 133"/>
                <a:gd name="T86" fmla="*/ 606 w 716"/>
                <a:gd name="T87" fmla="*/ 66 h 133"/>
                <a:gd name="T88" fmla="*/ 562 w 716"/>
                <a:gd name="T89" fmla="*/ 67 h 133"/>
                <a:gd name="T90" fmla="*/ 530 w 716"/>
                <a:gd name="T91" fmla="*/ 26 h 133"/>
                <a:gd name="T92" fmla="*/ 518 w 716"/>
                <a:gd name="T93" fmla="*/ 15 h 133"/>
                <a:gd name="T94" fmla="*/ 508 w 716"/>
                <a:gd name="T95" fmla="*/ 21 h 133"/>
                <a:gd name="T96" fmla="*/ 220 w 716"/>
                <a:gd name="T97" fmla="*/ 32 h 133"/>
                <a:gd name="T98" fmla="*/ 206 w 716"/>
                <a:gd name="T99" fmla="*/ 15 h 133"/>
                <a:gd name="T100" fmla="*/ 193 w 716"/>
                <a:gd name="T101" fmla="*/ 16 h 133"/>
                <a:gd name="T102" fmla="*/ 182 w 716"/>
                <a:gd name="T103" fmla="*/ 30 h 133"/>
                <a:gd name="T104" fmla="*/ 152 w 716"/>
                <a:gd name="T105" fmla="*/ 67 h 133"/>
                <a:gd name="T106" fmla="*/ 108 w 716"/>
                <a:gd name="T107" fmla="*/ 66 h 133"/>
                <a:gd name="T108" fmla="*/ 96 w 716"/>
                <a:gd name="T109" fmla="*/ 60 h 133"/>
                <a:gd name="T110" fmla="*/ 80 w 716"/>
                <a:gd name="T111" fmla="*/ 68 h 133"/>
                <a:gd name="T112" fmla="*/ 56 w 716"/>
                <a:gd name="T113" fmla="*/ 64 h 133"/>
                <a:gd name="T114" fmla="*/ 33 w 716"/>
                <a:gd name="T115" fmla="*/ 57 h 133"/>
                <a:gd name="T116" fmla="*/ 19 w 716"/>
                <a:gd name="T117" fmla="*/ 54 h 133"/>
                <a:gd name="T118" fmla="*/ 6 w 716"/>
                <a:gd name="T119" fmla="*/ 67 h 133"/>
                <a:gd name="T120" fmla="*/ 37 w 716"/>
                <a:gd name="T121" fmla="*/ 86 h 133"/>
                <a:gd name="T122" fmla="*/ 56 w 716"/>
                <a:gd name="T123" fmla="*/ 99 h 13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716" h="133">
                  <a:moveTo>
                    <a:pt x="113" y="133"/>
                  </a:moveTo>
                  <a:cubicBezTo>
                    <a:pt x="112" y="133"/>
                    <a:pt x="112" y="133"/>
                    <a:pt x="112" y="133"/>
                  </a:cubicBezTo>
                  <a:cubicBezTo>
                    <a:pt x="103" y="130"/>
                    <a:pt x="94" y="126"/>
                    <a:pt x="85" y="122"/>
                  </a:cubicBezTo>
                  <a:cubicBezTo>
                    <a:pt x="83" y="121"/>
                    <a:pt x="81" y="120"/>
                    <a:pt x="80" y="119"/>
                  </a:cubicBezTo>
                  <a:cubicBezTo>
                    <a:pt x="76" y="117"/>
                    <a:pt x="73" y="115"/>
                    <a:pt x="69" y="114"/>
                  </a:cubicBezTo>
                  <a:cubicBezTo>
                    <a:pt x="67" y="114"/>
                    <a:pt x="67" y="114"/>
                    <a:pt x="67" y="114"/>
                  </a:cubicBezTo>
                  <a:cubicBezTo>
                    <a:pt x="67" y="112"/>
                    <a:pt x="67" y="112"/>
                    <a:pt x="67" y="112"/>
                  </a:cubicBezTo>
                  <a:cubicBezTo>
                    <a:pt x="67" y="112"/>
                    <a:pt x="67" y="112"/>
                    <a:pt x="65" y="111"/>
                  </a:cubicBezTo>
                  <a:cubicBezTo>
                    <a:pt x="64" y="111"/>
                    <a:pt x="62" y="110"/>
                    <a:pt x="60" y="108"/>
                  </a:cubicBezTo>
                  <a:cubicBezTo>
                    <a:pt x="60" y="108"/>
                    <a:pt x="60" y="108"/>
                    <a:pt x="60" y="108"/>
                  </a:cubicBezTo>
                  <a:cubicBezTo>
                    <a:pt x="57" y="108"/>
                    <a:pt x="55" y="107"/>
                    <a:pt x="55" y="104"/>
                  </a:cubicBezTo>
                  <a:cubicBezTo>
                    <a:pt x="54" y="104"/>
                    <a:pt x="54" y="104"/>
                    <a:pt x="54" y="104"/>
                  </a:cubicBezTo>
                  <a:cubicBezTo>
                    <a:pt x="52" y="103"/>
                    <a:pt x="52" y="103"/>
                    <a:pt x="52" y="103"/>
                  </a:cubicBezTo>
                  <a:cubicBezTo>
                    <a:pt x="52" y="102"/>
                    <a:pt x="51" y="102"/>
                    <a:pt x="49" y="101"/>
                  </a:cubicBezTo>
                  <a:cubicBezTo>
                    <a:pt x="47" y="100"/>
                    <a:pt x="44" y="99"/>
                    <a:pt x="43" y="96"/>
                  </a:cubicBezTo>
                  <a:cubicBezTo>
                    <a:pt x="43" y="96"/>
                    <a:pt x="42" y="96"/>
                    <a:pt x="42" y="96"/>
                  </a:cubicBezTo>
                  <a:cubicBezTo>
                    <a:pt x="39" y="96"/>
                    <a:pt x="38" y="93"/>
                    <a:pt x="37" y="92"/>
                  </a:cubicBezTo>
                  <a:cubicBezTo>
                    <a:pt x="37" y="92"/>
                    <a:pt x="37" y="91"/>
                    <a:pt x="37" y="91"/>
                  </a:cubicBezTo>
                  <a:cubicBezTo>
                    <a:pt x="37" y="91"/>
                    <a:pt x="37" y="91"/>
                    <a:pt x="37" y="91"/>
                  </a:cubicBezTo>
                  <a:cubicBezTo>
                    <a:pt x="35" y="91"/>
                    <a:pt x="33" y="91"/>
                    <a:pt x="31" y="89"/>
                  </a:cubicBezTo>
                  <a:cubicBezTo>
                    <a:pt x="31" y="88"/>
                    <a:pt x="30" y="87"/>
                    <a:pt x="30" y="86"/>
                  </a:cubicBezTo>
                  <a:cubicBezTo>
                    <a:pt x="25" y="84"/>
                    <a:pt x="21" y="82"/>
                    <a:pt x="16" y="80"/>
                  </a:cubicBezTo>
                  <a:cubicBezTo>
                    <a:pt x="13" y="78"/>
                    <a:pt x="10" y="76"/>
                    <a:pt x="7" y="75"/>
                  </a:cubicBezTo>
                  <a:cubicBezTo>
                    <a:pt x="4" y="74"/>
                    <a:pt x="2" y="71"/>
                    <a:pt x="1" y="68"/>
                  </a:cubicBezTo>
                  <a:cubicBezTo>
                    <a:pt x="0" y="67"/>
                    <a:pt x="0" y="65"/>
                    <a:pt x="1" y="63"/>
                  </a:cubicBezTo>
                  <a:cubicBezTo>
                    <a:pt x="2" y="62"/>
                    <a:pt x="3" y="61"/>
                    <a:pt x="6" y="62"/>
                  </a:cubicBezTo>
                  <a:cubicBezTo>
                    <a:pt x="5" y="59"/>
                    <a:pt x="7" y="57"/>
                    <a:pt x="8" y="56"/>
                  </a:cubicBezTo>
                  <a:cubicBezTo>
                    <a:pt x="9" y="55"/>
                    <a:pt x="10" y="54"/>
                    <a:pt x="11" y="53"/>
                  </a:cubicBezTo>
                  <a:cubicBezTo>
                    <a:pt x="13" y="52"/>
                    <a:pt x="14" y="52"/>
                    <a:pt x="13" y="51"/>
                  </a:cubicBezTo>
                  <a:cubicBezTo>
                    <a:pt x="13" y="47"/>
                    <a:pt x="13" y="47"/>
                    <a:pt x="13" y="47"/>
                  </a:cubicBezTo>
                  <a:cubicBezTo>
                    <a:pt x="16" y="48"/>
                    <a:pt x="16" y="48"/>
                    <a:pt x="16" y="48"/>
                  </a:cubicBezTo>
                  <a:cubicBezTo>
                    <a:pt x="16" y="48"/>
                    <a:pt x="16" y="47"/>
                    <a:pt x="17" y="47"/>
                  </a:cubicBezTo>
                  <a:cubicBezTo>
                    <a:pt x="18" y="47"/>
                    <a:pt x="21" y="47"/>
                    <a:pt x="22" y="49"/>
                  </a:cubicBezTo>
                  <a:cubicBezTo>
                    <a:pt x="22" y="49"/>
                    <a:pt x="22" y="49"/>
                    <a:pt x="22" y="49"/>
                  </a:cubicBezTo>
                  <a:cubicBezTo>
                    <a:pt x="23" y="49"/>
                    <a:pt x="25" y="50"/>
                    <a:pt x="25" y="52"/>
                  </a:cubicBezTo>
                  <a:cubicBezTo>
                    <a:pt x="26" y="53"/>
                    <a:pt x="25" y="53"/>
                    <a:pt x="25" y="54"/>
                  </a:cubicBezTo>
                  <a:cubicBezTo>
                    <a:pt x="26" y="54"/>
                    <a:pt x="26" y="54"/>
                    <a:pt x="27" y="54"/>
                  </a:cubicBezTo>
                  <a:cubicBezTo>
                    <a:pt x="27" y="54"/>
                    <a:pt x="28" y="54"/>
                    <a:pt x="28" y="54"/>
                  </a:cubicBezTo>
                  <a:cubicBezTo>
                    <a:pt x="28" y="54"/>
                    <a:pt x="28" y="53"/>
                    <a:pt x="28" y="52"/>
                  </a:cubicBezTo>
                  <a:cubicBezTo>
                    <a:pt x="28" y="50"/>
                    <a:pt x="29" y="49"/>
                    <a:pt x="30" y="49"/>
                  </a:cubicBezTo>
                  <a:cubicBezTo>
                    <a:pt x="32" y="48"/>
                    <a:pt x="34" y="48"/>
                    <a:pt x="35" y="50"/>
                  </a:cubicBezTo>
                  <a:cubicBezTo>
                    <a:pt x="36" y="52"/>
                    <a:pt x="36" y="52"/>
                    <a:pt x="36" y="52"/>
                  </a:cubicBezTo>
                  <a:cubicBezTo>
                    <a:pt x="37" y="53"/>
                    <a:pt x="38" y="55"/>
                    <a:pt x="39" y="57"/>
                  </a:cubicBezTo>
                  <a:cubicBezTo>
                    <a:pt x="39" y="58"/>
                    <a:pt x="39" y="58"/>
                    <a:pt x="39" y="58"/>
                  </a:cubicBezTo>
                  <a:cubicBezTo>
                    <a:pt x="40" y="58"/>
                    <a:pt x="41" y="58"/>
                    <a:pt x="41" y="58"/>
                  </a:cubicBezTo>
                  <a:cubicBezTo>
                    <a:pt x="41" y="58"/>
                    <a:pt x="41" y="57"/>
                    <a:pt x="41" y="56"/>
                  </a:cubicBezTo>
                  <a:cubicBezTo>
                    <a:pt x="41" y="55"/>
                    <a:pt x="41" y="54"/>
                    <a:pt x="42" y="53"/>
                  </a:cubicBezTo>
                  <a:cubicBezTo>
                    <a:pt x="42" y="52"/>
                    <a:pt x="43" y="52"/>
                    <a:pt x="45" y="52"/>
                  </a:cubicBezTo>
                  <a:cubicBezTo>
                    <a:pt x="45" y="52"/>
                    <a:pt x="45" y="52"/>
                    <a:pt x="45" y="52"/>
                  </a:cubicBezTo>
                  <a:cubicBezTo>
                    <a:pt x="47" y="52"/>
                    <a:pt x="49" y="53"/>
                    <a:pt x="49" y="55"/>
                  </a:cubicBezTo>
                  <a:cubicBezTo>
                    <a:pt x="50" y="57"/>
                    <a:pt x="50" y="58"/>
                    <a:pt x="51" y="60"/>
                  </a:cubicBezTo>
                  <a:cubicBezTo>
                    <a:pt x="51" y="60"/>
                    <a:pt x="51" y="60"/>
                    <a:pt x="51" y="60"/>
                  </a:cubicBezTo>
                  <a:cubicBezTo>
                    <a:pt x="51" y="60"/>
                    <a:pt x="51" y="59"/>
                    <a:pt x="52" y="59"/>
                  </a:cubicBezTo>
                  <a:cubicBezTo>
                    <a:pt x="52" y="58"/>
                    <a:pt x="52" y="57"/>
                    <a:pt x="52" y="56"/>
                  </a:cubicBezTo>
                  <a:cubicBezTo>
                    <a:pt x="53" y="55"/>
                    <a:pt x="53" y="55"/>
                    <a:pt x="55" y="54"/>
                  </a:cubicBezTo>
                  <a:cubicBezTo>
                    <a:pt x="55" y="54"/>
                    <a:pt x="55" y="54"/>
                    <a:pt x="55" y="54"/>
                  </a:cubicBezTo>
                  <a:cubicBezTo>
                    <a:pt x="58" y="54"/>
                    <a:pt x="59" y="56"/>
                    <a:pt x="59" y="57"/>
                  </a:cubicBezTo>
                  <a:cubicBezTo>
                    <a:pt x="61" y="58"/>
                    <a:pt x="61" y="60"/>
                    <a:pt x="62" y="61"/>
                  </a:cubicBezTo>
                  <a:cubicBezTo>
                    <a:pt x="63" y="63"/>
                    <a:pt x="63" y="63"/>
                    <a:pt x="64" y="63"/>
                  </a:cubicBezTo>
                  <a:cubicBezTo>
                    <a:pt x="64" y="63"/>
                    <a:pt x="64" y="63"/>
                    <a:pt x="64" y="63"/>
                  </a:cubicBezTo>
                  <a:cubicBezTo>
                    <a:pt x="63" y="59"/>
                    <a:pt x="66" y="57"/>
                    <a:pt x="67" y="57"/>
                  </a:cubicBezTo>
                  <a:cubicBezTo>
                    <a:pt x="67" y="57"/>
                    <a:pt x="68" y="57"/>
                    <a:pt x="68" y="57"/>
                  </a:cubicBezTo>
                  <a:cubicBezTo>
                    <a:pt x="69" y="57"/>
                    <a:pt x="71" y="57"/>
                    <a:pt x="72" y="60"/>
                  </a:cubicBezTo>
                  <a:cubicBezTo>
                    <a:pt x="72" y="60"/>
                    <a:pt x="72" y="60"/>
                    <a:pt x="72" y="60"/>
                  </a:cubicBezTo>
                  <a:cubicBezTo>
                    <a:pt x="72" y="60"/>
                    <a:pt x="72" y="61"/>
                    <a:pt x="73" y="61"/>
                  </a:cubicBezTo>
                  <a:cubicBezTo>
                    <a:pt x="74" y="63"/>
                    <a:pt x="75" y="64"/>
                    <a:pt x="76" y="64"/>
                  </a:cubicBezTo>
                  <a:cubicBezTo>
                    <a:pt x="76" y="64"/>
                    <a:pt x="76" y="64"/>
                    <a:pt x="76" y="64"/>
                  </a:cubicBezTo>
                  <a:cubicBezTo>
                    <a:pt x="76" y="64"/>
                    <a:pt x="76" y="64"/>
                    <a:pt x="76" y="64"/>
                  </a:cubicBezTo>
                  <a:cubicBezTo>
                    <a:pt x="76" y="64"/>
                    <a:pt x="76" y="63"/>
                    <a:pt x="75" y="62"/>
                  </a:cubicBezTo>
                  <a:cubicBezTo>
                    <a:pt x="73" y="56"/>
                    <a:pt x="73" y="56"/>
                    <a:pt x="73" y="56"/>
                  </a:cubicBezTo>
                  <a:cubicBezTo>
                    <a:pt x="79" y="58"/>
                    <a:pt x="79" y="58"/>
                    <a:pt x="79" y="58"/>
                  </a:cubicBezTo>
                  <a:cubicBezTo>
                    <a:pt x="82" y="59"/>
                    <a:pt x="83" y="61"/>
                    <a:pt x="85" y="63"/>
                  </a:cubicBezTo>
                  <a:cubicBezTo>
                    <a:pt x="85" y="63"/>
                    <a:pt x="86" y="64"/>
                    <a:pt x="86" y="64"/>
                  </a:cubicBezTo>
                  <a:cubicBezTo>
                    <a:pt x="87" y="65"/>
                    <a:pt x="90" y="66"/>
                    <a:pt x="92" y="66"/>
                  </a:cubicBezTo>
                  <a:cubicBezTo>
                    <a:pt x="92" y="66"/>
                    <a:pt x="92" y="65"/>
                    <a:pt x="91" y="65"/>
                  </a:cubicBezTo>
                  <a:cubicBezTo>
                    <a:pt x="91" y="64"/>
                    <a:pt x="91" y="63"/>
                    <a:pt x="91" y="61"/>
                  </a:cubicBezTo>
                  <a:cubicBezTo>
                    <a:pt x="90" y="59"/>
                    <a:pt x="91" y="57"/>
                    <a:pt x="93" y="56"/>
                  </a:cubicBezTo>
                  <a:cubicBezTo>
                    <a:pt x="94" y="55"/>
                    <a:pt x="94" y="55"/>
                    <a:pt x="94" y="55"/>
                  </a:cubicBezTo>
                  <a:cubicBezTo>
                    <a:pt x="95" y="54"/>
                    <a:pt x="96" y="54"/>
                    <a:pt x="97" y="54"/>
                  </a:cubicBezTo>
                  <a:cubicBezTo>
                    <a:pt x="99" y="54"/>
                    <a:pt x="100" y="55"/>
                    <a:pt x="101" y="57"/>
                  </a:cubicBezTo>
                  <a:cubicBezTo>
                    <a:pt x="101" y="57"/>
                    <a:pt x="101" y="57"/>
                    <a:pt x="101" y="57"/>
                  </a:cubicBezTo>
                  <a:cubicBezTo>
                    <a:pt x="104" y="55"/>
                    <a:pt x="107" y="55"/>
                    <a:pt x="108" y="57"/>
                  </a:cubicBezTo>
                  <a:cubicBezTo>
                    <a:pt x="109" y="58"/>
                    <a:pt x="109" y="59"/>
                    <a:pt x="109" y="61"/>
                  </a:cubicBezTo>
                  <a:cubicBezTo>
                    <a:pt x="115" y="61"/>
                    <a:pt x="121" y="62"/>
                    <a:pt x="127" y="62"/>
                  </a:cubicBezTo>
                  <a:cubicBezTo>
                    <a:pt x="136" y="63"/>
                    <a:pt x="136" y="63"/>
                    <a:pt x="136" y="63"/>
                  </a:cubicBezTo>
                  <a:cubicBezTo>
                    <a:pt x="138" y="63"/>
                    <a:pt x="138" y="62"/>
                    <a:pt x="138" y="62"/>
                  </a:cubicBezTo>
                  <a:cubicBezTo>
                    <a:pt x="139" y="60"/>
                    <a:pt x="141" y="59"/>
                    <a:pt x="141" y="59"/>
                  </a:cubicBezTo>
                  <a:cubicBezTo>
                    <a:pt x="142" y="59"/>
                    <a:pt x="143" y="60"/>
                    <a:pt x="143" y="60"/>
                  </a:cubicBezTo>
                  <a:cubicBezTo>
                    <a:pt x="144" y="59"/>
                    <a:pt x="145" y="58"/>
                    <a:pt x="146" y="58"/>
                  </a:cubicBezTo>
                  <a:cubicBezTo>
                    <a:pt x="148" y="58"/>
                    <a:pt x="150" y="61"/>
                    <a:pt x="151" y="62"/>
                  </a:cubicBezTo>
                  <a:cubicBezTo>
                    <a:pt x="151" y="62"/>
                    <a:pt x="150" y="62"/>
                    <a:pt x="150" y="62"/>
                  </a:cubicBezTo>
                  <a:cubicBezTo>
                    <a:pt x="151" y="65"/>
                    <a:pt x="151" y="65"/>
                    <a:pt x="151" y="65"/>
                  </a:cubicBezTo>
                  <a:cubicBezTo>
                    <a:pt x="151" y="62"/>
                    <a:pt x="151" y="62"/>
                    <a:pt x="151" y="62"/>
                  </a:cubicBezTo>
                  <a:cubicBezTo>
                    <a:pt x="152" y="65"/>
                    <a:pt x="152" y="65"/>
                    <a:pt x="152" y="65"/>
                  </a:cubicBezTo>
                  <a:cubicBezTo>
                    <a:pt x="152" y="62"/>
                    <a:pt x="152" y="62"/>
                    <a:pt x="152" y="62"/>
                  </a:cubicBezTo>
                  <a:cubicBezTo>
                    <a:pt x="152" y="62"/>
                    <a:pt x="152" y="62"/>
                    <a:pt x="152" y="62"/>
                  </a:cubicBezTo>
                  <a:cubicBezTo>
                    <a:pt x="157" y="62"/>
                    <a:pt x="160" y="61"/>
                    <a:pt x="163" y="58"/>
                  </a:cubicBezTo>
                  <a:cubicBezTo>
                    <a:pt x="167" y="54"/>
                    <a:pt x="170" y="51"/>
                    <a:pt x="173" y="48"/>
                  </a:cubicBezTo>
                  <a:cubicBezTo>
                    <a:pt x="173" y="47"/>
                    <a:pt x="173" y="47"/>
                    <a:pt x="173" y="47"/>
                  </a:cubicBezTo>
                  <a:cubicBezTo>
                    <a:pt x="174" y="46"/>
                    <a:pt x="174" y="46"/>
                    <a:pt x="174" y="46"/>
                  </a:cubicBezTo>
                  <a:cubicBezTo>
                    <a:pt x="175" y="44"/>
                    <a:pt x="175" y="42"/>
                    <a:pt x="176" y="40"/>
                  </a:cubicBezTo>
                  <a:cubicBezTo>
                    <a:pt x="177" y="37"/>
                    <a:pt x="178" y="34"/>
                    <a:pt x="177" y="31"/>
                  </a:cubicBezTo>
                  <a:cubicBezTo>
                    <a:pt x="177" y="31"/>
                    <a:pt x="177" y="30"/>
                    <a:pt x="177" y="29"/>
                  </a:cubicBezTo>
                  <a:cubicBezTo>
                    <a:pt x="176" y="27"/>
                    <a:pt x="175" y="24"/>
                    <a:pt x="178" y="20"/>
                  </a:cubicBezTo>
                  <a:cubicBezTo>
                    <a:pt x="178" y="20"/>
                    <a:pt x="178" y="19"/>
                    <a:pt x="178" y="19"/>
                  </a:cubicBezTo>
                  <a:cubicBezTo>
                    <a:pt x="178" y="17"/>
                    <a:pt x="178" y="15"/>
                    <a:pt x="181" y="13"/>
                  </a:cubicBezTo>
                  <a:cubicBezTo>
                    <a:pt x="181" y="13"/>
                    <a:pt x="181" y="13"/>
                    <a:pt x="181" y="12"/>
                  </a:cubicBezTo>
                  <a:cubicBezTo>
                    <a:pt x="181" y="12"/>
                    <a:pt x="181" y="11"/>
                    <a:pt x="181" y="11"/>
                  </a:cubicBezTo>
                  <a:cubicBezTo>
                    <a:pt x="181" y="7"/>
                    <a:pt x="183" y="6"/>
                    <a:pt x="185" y="6"/>
                  </a:cubicBezTo>
                  <a:cubicBezTo>
                    <a:pt x="185" y="6"/>
                    <a:pt x="185" y="6"/>
                    <a:pt x="185" y="6"/>
                  </a:cubicBezTo>
                  <a:cubicBezTo>
                    <a:pt x="186" y="6"/>
                    <a:pt x="188" y="6"/>
                    <a:pt x="188" y="7"/>
                  </a:cubicBezTo>
                  <a:cubicBezTo>
                    <a:pt x="190" y="8"/>
                    <a:pt x="190" y="10"/>
                    <a:pt x="190" y="11"/>
                  </a:cubicBezTo>
                  <a:cubicBezTo>
                    <a:pt x="189" y="11"/>
                    <a:pt x="189" y="11"/>
                    <a:pt x="189" y="12"/>
                  </a:cubicBezTo>
                  <a:cubicBezTo>
                    <a:pt x="190" y="12"/>
                    <a:pt x="190" y="12"/>
                    <a:pt x="190" y="12"/>
                  </a:cubicBezTo>
                  <a:cubicBezTo>
                    <a:pt x="190" y="12"/>
                    <a:pt x="190" y="12"/>
                    <a:pt x="190" y="12"/>
                  </a:cubicBezTo>
                  <a:cubicBezTo>
                    <a:pt x="190" y="12"/>
                    <a:pt x="191" y="11"/>
                    <a:pt x="192" y="11"/>
                  </a:cubicBezTo>
                  <a:cubicBezTo>
                    <a:pt x="194" y="10"/>
                    <a:pt x="195" y="8"/>
                    <a:pt x="196" y="5"/>
                  </a:cubicBezTo>
                  <a:cubicBezTo>
                    <a:pt x="197" y="2"/>
                    <a:pt x="199" y="1"/>
                    <a:pt x="202" y="1"/>
                  </a:cubicBezTo>
                  <a:cubicBezTo>
                    <a:pt x="204" y="1"/>
                    <a:pt x="206" y="1"/>
                    <a:pt x="207" y="2"/>
                  </a:cubicBezTo>
                  <a:cubicBezTo>
                    <a:pt x="211" y="4"/>
                    <a:pt x="213" y="11"/>
                    <a:pt x="211" y="16"/>
                  </a:cubicBezTo>
                  <a:cubicBezTo>
                    <a:pt x="211" y="17"/>
                    <a:pt x="211" y="17"/>
                    <a:pt x="211" y="18"/>
                  </a:cubicBezTo>
                  <a:cubicBezTo>
                    <a:pt x="210" y="19"/>
                    <a:pt x="210" y="20"/>
                    <a:pt x="210" y="20"/>
                  </a:cubicBezTo>
                  <a:cubicBezTo>
                    <a:pt x="209" y="21"/>
                    <a:pt x="209" y="22"/>
                    <a:pt x="209" y="22"/>
                  </a:cubicBezTo>
                  <a:cubicBezTo>
                    <a:pt x="209" y="22"/>
                    <a:pt x="209" y="23"/>
                    <a:pt x="209" y="23"/>
                  </a:cubicBezTo>
                  <a:cubicBezTo>
                    <a:pt x="209" y="23"/>
                    <a:pt x="209" y="23"/>
                    <a:pt x="209" y="23"/>
                  </a:cubicBezTo>
                  <a:cubicBezTo>
                    <a:pt x="211" y="23"/>
                    <a:pt x="211" y="23"/>
                    <a:pt x="211" y="23"/>
                  </a:cubicBezTo>
                  <a:cubicBezTo>
                    <a:pt x="211" y="25"/>
                    <a:pt x="211" y="25"/>
                    <a:pt x="211" y="25"/>
                  </a:cubicBezTo>
                  <a:cubicBezTo>
                    <a:pt x="212" y="28"/>
                    <a:pt x="213" y="28"/>
                    <a:pt x="214" y="28"/>
                  </a:cubicBezTo>
                  <a:cubicBezTo>
                    <a:pt x="215" y="28"/>
                    <a:pt x="216" y="28"/>
                    <a:pt x="217" y="27"/>
                  </a:cubicBezTo>
                  <a:cubicBezTo>
                    <a:pt x="218" y="27"/>
                    <a:pt x="219" y="27"/>
                    <a:pt x="220" y="27"/>
                  </a:cubicBezTo>
                  <a:cubicBezTo>
                    <a:pt x="275" y="27"/>
                    <a:pt x="329" y="27"/>
                    <a:pt x="384" y="27"/>
                  </a:cubicBezTo>
                  <a:cubicBezTo>
                    <a:pt x="420" y="27"/>
                    <a:pt x="456" y="27"/>
                    <a:pt x="492" y="27"/>
                  </a:cubicBezTo>
                  <a:cubicBezTo>
                    <a:pt x="493" y="27"/>
                    <a:pt x="495" y="27"/>
                    <a:pt x="496" y="27"/>
                  </a:cubicBezTo>
                  <a:cubicBezTo>
                    <a:pt x="497" y="27"/>
                    <a:pt x="498" y="27"/>
                    <a:pt x="499" y="27"/>
                  </a:cubicBezTo>
                  <a:cubicBezTo>
                    <a:pt x="499" y="27"/>
                    <a:pt x="499" y="27"/>
                    <a:pt x="499" y="27"/>
                  </a:cubicBezTo>
                  <a:cubicBezTo>
                    <a:pt x="499" y="24"/>
                    <a:pt x="501" y="23"/>
                    <a:pt x="503" y="22"/>
                  </a:cubicBezTo>
                  <a:cubicBezTo>
                    <a:pt x="502" y="20"/>
                    <a:pt x="501" y="18"/>
                    <a:pt x="500" y="16"/>
                  </a:cubicBezTo>
                  <a:cubicBezTo>
                    <a:pt x="498" y="11"/>
                    <a:pt x="499" y="6"/>
                    <a:pt x="503" y="3"/>
                  </a:cubicBezTo>
                  <a:cubicBezTo>
                    <a:pt x="506" y="0"/>
                    <a:pt x="508" y="0"/>
                    <a:pt x="511" y="1"/>
                  </a:cubicBezTo>
                  <a:cubicBezTo>
                    <a:pt x="515" y="2"/>
                    <a:pt x="517" y="5"/>
                    <a:pt x="516" y="8"/>
                  </a:cubicBezTo>
                  <a:cubicBezTo>
                    <a:pt x="516" y="8"/>
                    <a:pt x="516" y="9"/>
                    <a:pt x="516" y="9"/>
                  </a:cubicBezTo>
                  <a:cubicBezTo>
                    <a:pt x="517" y="9"/>
                    <a:pt x="517" y="9"/>
                    <a:pt x="517" y="9"/>
                  </a:cubicBezTo>
                  <a:cubicBezTo>
                    <a:pt x="519" y="9"/>
                    <a:pt x="520" y="10"/>
                    <a:pt x="521" y="11"/>
                  </a:cubicBezTo>
                  <a:cubicBezTo>
                    <a:pt x="521" y="10"/>
                    <a:pt x="521" y="10"/>
                    <a:pt x="521" y="9"/>
                  </a:cubicBezTo>
                  <a:cubicBezTo>
                    <a:pt x="521" y="7"/>
                    <a:pt x="523" y="5"/>
                    <a:pt x="526" y="5"/>
                  </a:cubicBezTo>
                  <a:cubicBezTo>
                    <a:pt x="528" y="5"/>
                    <a:pt x="529" y="6"/>
                    <a:pt x="529" y="6"/>
                  </a:cubicBezTo>
                  <a:cubicBezTo>
                    <a:pt x="531" y="8"/>
                    <a:pt x="530" y="9"/>
                    <a:pt x="530" y="10"/>
                  </a:cubicBezTo>
                  <a:cubicBezTo>
                    <a:pt x="530" y="11"/>
                    <a:pt x="530" y="11"/>
                    <a:pt x="530" y="12"/>
                  </a:cubicBezTo>
                  <a:cubicBezTo>
                    <a:pt x="530" y="12"/>
                    <a:pt x="530" y="13"/>
                    <a:pt x="530" y="13"/>
                  </a:cubicBezTo>
                  <a:cubicBezTo>
                    <a:pt x="531" y="13"/>
                    <a:pt x="534" y="13"/>
                    <a:pt x="534" y="17"/>
                  </a:cubicBezTo>
                  <a:cubicBezTo>
                    <a:pt x="534" y="18"/>
                    <a:pt x="534" y="19"/>
                    <a:pt x="534" y="20"/>
                  </a:cubicBezTo>
                  <a:cubicBezTo>
                    <a:pt x="534" y="22"/>
                    <a:pt x="534" y="22"/>
                    <a:pt x="535" y="23"/>
                  </a:cubicBezTo>
                  <a:cubicBezTo>
                    <a:pt x="536" y="23"/>
                    <a:pt x="536" y="24"/>
                    <a:pt x="536" y="25"/>
                  </a:cubicBezTo>
                  <a:cubicBezTo>
                    <a:pt x="536" y="26"/>
                    <a:pt x="536" y="27"/>
                    <a:pt x="536" y="28"/>
                  </a:cubicBezTo>
                  <a:cubicBezTo>
                    <a:pt x="534" y="30"/>
                    <a:pt x="534" y="32"/>
                    <a:pt x="535" y="36"/>
                  </a:cubicBezTo>
                  <a:cubicBezTo>
                    <a:pt x="535" y="37"/>
                    <a:pt x="535" y="38"/>
                    <a:pt x="536" y="39"/>
                  </a:cubicBezTo>
                  <a:cubicBezTo>
                    <a:pt x="537" y="49"/>
                    <a:pt x="544" y="54"/>
                    <a:pt x="551" y="60"/>
                  </a:cubicBezTo>
                  <a:cubicBezTo>
                    <a:pt x="552" y="61"/>
                    <a:pt x="552" y="61"/>
                    <a:pt x="552" y="61"/>
                  </a:cubicBezTo>
                  <a:cubicBezTo>
                    <a:pt x="553" y="62"/>
                    <a:pt x="554" y="62"/>
                    <a:pt x="556" y="62"/>
                  </a:cubicBezTo>
                  <a:cubicBezTo>
                    <a:pt x="557" y="62"/>
                    <a:pt x="558" y="62"/>
                    <a:pt x="559" y="62"/>
                  </a:cubicBezTo>
                  <a:cubicBezTo>
                    <a:pt x="559" y="62"/>
                    <a:pt x="560" y="62"/>
                    <a:pt x="561" y="62"/>
                  </a:cubicBezTo>
                  <a:cubicBezTo>
                    <a:pt x="561" y="62"/>
                    <a:pt x="561" y="61"/>
                    <a:pt x="561" y="61"/>
                  </a:cubicBezTo>
                  <a:cubicBezTo>
                    <a:pt x="562" y="60"/>
                    <a:pt x="563" y="57"/>
                    <a:pt x="569" y="59"/>
                  </a:cubicBezTo>
                  <a:cubicBezTo>
                    <a:pt x="569" y="60"/>
                    <a:pt x="570" y="60"/>
                    <a:pt x="571" y="60"/>
                  </a:cubicBezTo>
                  <a:cubicBezTo>
                    <a:pt x="572" y="61"/>
                    <a:pt x="574" y="62"/>
                    <a:pt x="575" y="62"/>
                  </a:cubicBezTo>
                  <a:cubicBezTo>
                    <a:pt x="584" y="62"/>
                    <a:pt x="595" y="61"/>
                    <a:pt x="605" y="60"/>
                  </a:cubicBezTo>
                  <a:cubicBezTo>
                    <a:pt x="605" y="58"/>
                    <a:pt x="605" y="57"/>
                    <a:pt x="606" y="56"/>
                  </a:cubicBezTo>
                  <a:cubicBezTo>
                    <a:pt x="607" y="55"/>
                    <a:pt x="609" y="54"/>
                    <a:pt x="612" y="56"/>
                  </a:cubicBezTo>
                  <a:cubicBezTo>
                    <a:pt x="613" y="56"/>
                    <a:pt x="613" y="56"/>
                    <a:pt x="613" y="56"/>
                  </a:cubicBezTo>
                  <a:cubicBezTo>
                    <a:pt x="614" y="56"/>
                    <a:pt x="614" y="56"/>
                    <a:pt x="614" y="56"/>
                  </a:cubicBezTo>
                  <a:cubicBezTo>
                    <a:pt x="615" y="54"/>
                    <a:pt x="617" y="54"/>
                    <a:pt x="618" y="54"/>
                  </a:cubicBezTo>
                  <a:cubicBezTo>
                    <a:pt x="619" y="54"/>
                    <a:pt x="620" y="55"/>
                    <a:pt x="620" y="55"/>
                  </a:cubicBezTo>
                  <a:cubicBezTo>
                    <a:pt x="622" y="56"/>
                    <a:pt x="623" y="57"/>
                    <a:pt x="623" y="58"/>
                  </a:cubicBezTo>
                  <a:cubicBezTo>
                    <a:pt x="624" y="59"/>
                    <a:pt x="623" y="61"/>
                    <a:pt x="623" y="61"/>
                  </a:cubicBezTo>
                  <a:cubicBezTo>
                    <a:pt x="622" y="62"/>
                    <a:pt x="622" y="63"/>
                    <a:pt x="622" y="64"/>
                  </a:cubicBezTo>
                  <a:cubicBezTo>
                    <a:pt x="621" y="64"/>
                    <a:pt x="621" y="64"/>
                    <a:pt x="621" y="64"/>
                  </a:cubicBezTo>
                  <a:cubicBezTo>
                    <a:pt x="621" y="65"/>
                    <a:pt x="621" y="65"/>
                    <a:pt x="621" y="65"/>
                  </a:cubicBezTo>
                  <a:cubicBezTo>
                    <a:pt x="621" y="65"/>
                    <a:pt x="622" y="66"/>
                    <a:pt x="623" y="66"/>
                  </a:cubicBezTo>
                  <a:cubicBezTo>
                    <a:pt x="626" y="66"/>
                    <a:pt x="628" y="64"/>
                    <a:pt x="630" y="61"/>
                  </a:cubicBezTo>
                  <a:cubicBezTo>
                    <a:pt x="631" y="61"/>
                    <a:pt x="631" y="60"/>
                    <a:pt x="632" y="59"/>
                  </a:cubicBezTo>
                  <a:cubicBezTo>
                    <a:pt x="633" y="58"/>
                    <a:pt x="633" y="58"/>
                    <a:pt x="633" y="58"/>
                  </a:cubicBezTo>
                  <a:cubicBezTo>
                    <a:pt x="635" y="59"/>
                    <a:pt x="635" y="59"/>
                    <a:pt x="635" y="59"/>
                  </a:cubicBezTo>
                  <a:cubicBezTo>
                    <a:pt x="636" y="59"/>
                    <a:pt x="638" y="61"/>
                    <a:pt x="637" y="64"/>
                  </a:cubicBezTo>
                  <a:cubicBezTo>
                    <a:pt x="638" y="64"/>
                    <a:pt x="639" y="64"/>
                    <a:pt x="639" y="64"/>
                  </a:cubicBezTo>
                  <a:cubicBezTo>
                    <a:pt x="640" y="62"/>
                    <a:pt x="641" y="61"/>
                    <a:pt x="642" y="61"/>
                  </a:cubicBezTo>
                  <a:cubicBezTo>
                    <a:pt x="642" y="60"/>
                    <a:pt x="643" y="60"/>
                    <a:pt x="643" y="59"/>
                  </a:cubicBezTo>
                  <a:cubicBezTo>
                    <a:pt x="643" y="57"/>
                    <a:pt x="646" y="56"/>
                    <a:pt x="648" y="57"/>
                  </a:cubicBezTo>
                  <a:cubicBezTo>
                    <a:pt x="649" y="57"/>
                    <a:pt x="650" y="59"/>
                    <a:pt x="650" y="61"/>
                  </a:cubicBezTo>
                  <a:cubicBezTo>
                    <a:pt x="650" y="62"/>
                    <a:pt x="650" y="62"/>
                    <a:pt x="649" y="63"/>
                  </a:cubicBezTo>
                  <a:cubicBezTo>
                    <a:pt x="651" y="63"/>
                    <a:pt x="651" y="63"/>
                    <a:pt x="652" y="62"/>
                  </a:cubicBezTo>
                  <a:cubicBezTo>
                    <a:pt x="652" y="60"/>
                    <a:pt x="653" y="59"/>
                    <a:pt x="654" y="58"/>
                  </a:cubicBezTo>
                  <a:cubicBezTo>
                    <a:pt x="654" y="58"/>
                    <a:pt x="655" y="58"/>
                    <a:pt x="655" y="57"/>
                  </a:cubicBezTo>
                  <a:cubicBezTo>
                    <a:pt x="656" y="56"/>
                    <a:pt x="656" y="54"/>
                    <a:pt x="659" y="54"/>
                  </a:cubicBezTo>
                  <a:cubicBezTo>
                    <a:pt x="659" y="54"/>
                    <a:pt x="660" y="55"/>
                    <a:pt x="660" y="55"/>
                  </a:cubicBezTo>
                  <a:cubicBezTo>
                    <a:pt x="661" y="55"/>
                    <a:pt x="663" y="56"/>
                    <a:pt x="662" y="59"/>
                  </a:cubicBezTo>
                  <a:cubicBezTo>
                    <a:pt x="663" y="59"/>
                    <a:pt x="663" y="60"/>
                    <a:pt x="662" y="61"/>
                  </a:cubicBezTo>
                  <a:cubicBezTo>
                    <a:pt x="663" y="61"/>
                    <a:pt x="664" y="60"/>
                    <a:pt x="665" y="60"/>
                  </a:cubicBezTo>
                  <a:cubicBezTo>
                    <a:pt x="666" y="59"/>
                    <a:pt x="667" y="57"/>
                    <a:pt x="668" y="56"/>
                  </a:cubicBezTo>
                  <a:cubicBezTo>
                    <a:pt x="668" y="52"/>
                    <a:pt x="670" y="52"/>
                    <a:pt x="671" y="52"/>
                  </a:cubicBezTo>
                  <a:cubicBezTo>
                    <a:pt x="672" y="52"/>
                    <a:pt x="672" y="52"/>
                    <a:pt x="672" y="52"/>
                  </a:cubicBezTo>
                  <a:cubicBezTo>
                    <a:pt x="673" y="52"/>
                    <a:pt x="675" y="53"/>
                    <a:pt x="675" y="56"/>
                  </a:cubicBezTo>
                  <a:cubicBezTo>
                    <a:pt x="675" y="57"/>
                    <a:pt x="675" y="57"/>
                    <a:pt x="675" y="58"/>
                  </a:cubicBezTo>
                  <a:cubicBezTo>
                    <a:pt x="677" y="58"/>
                    <a:pt x="678" y="58"/>
                    <a:pt x="678" y="56"/>
                  </a:cubicBezTo>
                  <a:cubicBezTo>
                    <a:pt x="678" y="54"/>
                    <a:pt x="679" y="53"/>
                    <a:pt x="681" y="51"/>
                  </a:cubicBezTo>
                  <a:cubicBezTo>
                    <a:pt x="681" y="50"/>
                    <a:pt x="682" y="50"/>
                    <a:pt x="682" y="49"/>
                  </a:cubicBezTo>
                  <a:cubicBezTo>
                    <a:pt x="685" y="45"/>
                    <a:pt x="685" y="45"/>
                    <a:pt x="685" y="45"/>
                  </a:cubicBezTo>
                  <a:cubicBezTo>
                    <a:pt x="687" y="50"/>
                    <a:pt x="687" y="50"/>
                    <a:pt x="687" y="50"/>
                  </a:cubicBezTo>
                  <a:cubicBezTo>
                    <a:pt x="687" y="50"/>
                    <a:pt x="688" y="51"/>
                    <a:pt x="688" y="51"/>
                  </a:cubicBezTo>
                  <a:cubicBezTo>
                    <a:pt x="688" y="53"/>
                    <a:pt x="689" y="54"/>
                    <a:pt x="689" y="54"/>
                  </a:cubicBezTo>
                  <a:cubicBezTo>
                    <a:pt x="689" y="54"/>
                    <a:pt x="690" y="54"/>
                    <a:pt x="691" y="54"/>
                  </a:cubicBezTo>
                  <a:cubicBezTo>
                    <a:pt x="690" y="53"/>
                    <a:pt x="690" y="52"/>
                    <a:pt x="691" y="51"/>
                  </a:cubicBezTo>
                  <a:cubicBezTo>
                    <a:pt x="692" y="49"/>
                    <a:pt x="694" y="49"/>
                    <a:pt x="695" y="48"/>
                  </a:cubicBezTo>
                  <a:cubicBezTo>
                    <a:pt x="695" y="48"/>
                    <a:pt x="695" y="48"/>
                    <a:pt x="695" y="48"/>
                  </a:cubicBezTo>
                  <a:cubicBezTo>
                    <a:pt x="696" y="48"/>
                    <a:pt x="697" y="47"/>
                    <a:pt x="698" y="47"/>
                  </a:cubicBezTo>
                  <a:cubicBezTo>
                    <a:pt x="699" y="47"/>
                    <a:pt x="699" y="47"/>
                    <a:pt x="699" y="47"/>
                  </a:cubicBezTo>
                  <a:cubicBezTo>
                    <a:pt x="701" y="48"/>
                    <a:pt x="701" y="48"/>
                    <a:pt x="701" y="48"/>
                  </a:cubicBezTo>
                  <a:cubicBezTo>
                    <a:pt x="702" y="49"/>
                    <a:pt x="702" y="50"/>
                    <a:pt x="702" y="52"/>
                  </a:cubicBezTo>
                  <a:cubicBezTo>
                    <a:pt x="702" y="52"/>
                    <a:pt x="702" y="52"/>
                    <a:pt x="703" y="53"/>
                  </a:cubicBezTo>
                  <a:cubicBezTo>
                    <a:pt x="704" y="54"/>
                    <a:pt x="705" y="55"/>
                    <a:pt x="706" y="57"/>
                  </a:cubicBezTo>
                  <a:cubicBezTo>
                    <a:pt x="706" y="57"/>
                    <a:pt x="707" y="57"/>
                    <a:pt x="707" y="58"/>
                  </a:cubicBezTo>
                  <a:cubicBezTo>
                    <a:pt x="707" y="59"/>
                    <a:pt x="708" y="59"/>
                    <a:pt x="708" y="60"/>
                  </a:cubicBezTo>
                  <a:cubicBezTo>
                    <a:pt x="708" y="62"/>
                    <a:pt x="709" y="62"/>
                    <a:pt x="709" y="62"/>
                  </a:cubicBezTo>
                  <a:cubicBezTo>
                    <a:pt x="709" y="62"/>
                    <a:pt x="710" y="62"/>
                    <a:pt x="711" y="62"/>
                  </a:cubicBezTo>
                  <a:cubicBezTo>
                    <a:pt x="714" y="60"/>
                    <a:pt x="714" y="60"/>
                    <a:pt x="714" y="60"/>
                  </a:cubicBezTo>
                  <a:cubicBezTo>
                    <a:pt x="715" y="63"/>
                    <a:pt x="715" y="63"/>
                    <a:pt x="715" y="63"/>
                  </a:cubicBezTo>
                  <a:cubicBezTo>
                    <a:pt x="716" y="69"/>
                    <a:pt x="714" y="72"/>
                    <a:pt x="709" y="75"/>
                  </a:cubicBezTo>
                  <a:cubicBezTo>
                    <a:pt x="707" y="76"/>
                    <a:pt x="705" y="77"/>
                    <a:pt x="704" y="77"/>
                  </a:cubicBezTo>
                  <a:cubicBezTo>
                    <a:pt x="701" y="78"/>
                    <a:pt x="699" y="79"/>
                    <a:pt x="697" y="81"/>
                  </a:cubicBezTo>
                  <a:cubicBezTo>
                    <a:pt x="695" y="82"/>
                    <a:pt x="694" y="82"/>
                    <a:pt x="693" y="83"/>
                  </a:cubicBezTo>
                  <a:cubicBezTo>
                    <a:pt x="689" y="84"/>
                    <a:pt x="686" y="86"/>
                    <a:pt x="684" y="89"/>
                  </a:cubicBezTo>
                  <a:cubicBezTo>
                    <a:pt x="684" y="90"/>
                    <a:pt x="684" y="90"/>
                    <a:pt x="684" y="90"/>
                  </a:cubicBezTo>
                  <a:cubicBezTo>
                    <a:pt x="682" y="90"/>
                    <a:pt x="682" y="90"/>
                    <a:pt x="682" y="90"/>
                  </a:cubicBezTo>
                  <a:cubicBezTo>
                    <a:pt x="680" y="90"/>
                    <a:pt x="679" y="91"/>
                    <a:pt x="678" y="93"/>
                  </a:cubicBezTo>
                  <a:cubicBezTo>
                    <a:pt x="676" y="94"/>
                    <a:pt x="675" y="95"/>
                    <a:pt x="673" y="96"/>
                  </a:cubicBezTo>
                  <a:cubicBezTo>
                    <a:pt x="671" y="97"/>
                    <a:pt x="670" y="98"/>
                    <a:pt x="668" y="99"/>
                  </a:cubicBezTo>
                  <a:cubicBezTo>
                    <a:pt x="666" y="101"/>
                    <a:pt x="665" y="101"/>
                    <a:pt x="663" y="102"/>
                  </a:cubicBezTo>
                  <a:cubicBezTo>
                    <a:pt x="662" y="103"/>
                    <a:pt x="661" y="104"/>
                    <a:pt x="660" y="104"/>
                  </a:cubicBezTo>
                  <a:cubicBezTo>
                    <a:pt x="659" y="106"/>
                    <a:pt x="656" y="108"/>
                    <a:pt x="653" y="108"/>
                  </a:cubicBezTo>
                  <a:cubicBezTo>
                    <a:pt x="651" y="109"/>
                    <a:pt x="648" y="110"/>
                    <a:pt x="647" y="112"/>
                  </a:cubicBezTo>
                  <a:cubicBezTo>
                    <a:pt x="645" y="114"/>
                    <a:pt x="641" y="116"/>
                    <a:pt x="639" y="117"/>
                  </a:cubicBezTo>
                  <a:cubicBezTo>
                    <a:pt x="637" y="117"/>
                    <a:pt x="636" y="118"/>
                    <a:pt x="635" y="119"/>
                  </a:cubicBezTo>
                  <a:cubicBezTo>
                    <a:pt x="634" y="119"/>
                    <a:pt x="632" y="120"/>
                    <a:pt x="631" y="120"/>
                  </a:cubicBezTo>
                  <a:cubicBezTo>
                    <a:pt x="628" y="122"/>
                    <a:pt x="625" y="123"/>
                    <a:pt x="622" y="125"/>
                  </a:cubicBezTo>
                  <a:cubicBezTo>
                    <a:pt x="616" y="127"/>
                    <a:pt x="610" y="130"/>
                    <a:pt x="604" y="132"/>
                  </a:cubicBezTo>
                  <a:cubicBezTo>
                    <a:pt x="603" y="132"/>
                    <a:pt x="602" y="133"/>
                    <a:pt x="601" y="133"/>
                  </a:cubicBezTo>
                  <a:cubicBezTo>
                    <a:pt x="601" y="133"/>
                    <a:pt x="601" y="133"/>
                    <a:pt x="601" y="133"/>
                  </a:cubicBezTo>
                  <a:lnTo>
                    <a:pt x="113" y="133"/>
                  </a:lnTo>
                  <a:close/>
                  <a:moveTo>
                    <a:pt x="71" y="110"/>
                  </a:moveTo>
                  <a:cubicBezTo>
                    <a:pt x="75" y="111"/>
                    <a:pt x="79" y="112"/>
                    <a:pt x="82" y="114"/>
                  </a:cubicBezTo>
                  <a:cubicBezTo>
                    <a:pt x="84" y="115"/>
                    <a:pt x="85" y="116"/>
                    <a:pt x="87" y="117"/>
                  </a:cubicBezTo>
                  <a:cubicBezTo>
                    <a:pt x="96" y="121"/>
                    <a:pt x="105" y="125"/>
                    <a:pt x="113" y="128"/>
                  </a:cubicBezTo>
                  <a:cubicBezTo>
                    <a:pt x="599" y="128"/>
                    <a:pt x="599" y="128"/>
                    <a:pt x="599" y="128"/>
                  </a:cubicBezTo>
                  <a:cubicBezTo>
                    <a:pt x="600" y="128"/>
                    <a:pt x="601" y="127"/>
                    <a:pt x="602" y="127"/>
                  </a:cubicBezTo>
                  <a:cubicBezTo>
                    <a:pt x="608" y="125"/>
                    <a:pt x="614" y="123"/>
                    <a:pt x="620" y="120"/>
                  </a:cubicBezTo>
                  <a:cubicBezTo>
                    <a:pt x="623" y="118"/>
                    <a:pt x="626" y="117"/>
                    <a:pt x="629" y="116"/>
                  </a:cubicBezTo>
                  <a:cubicBezTo>
                    <a:pt x="630" y="115"/>
                    <a:pt x="631" y="114"/>
                    <a:pt x="632" y="114"/>
                  </a:cubicBezTo>
                  <a:cubicBezTo>
                    <a:pt x="634" y="113"/>
                    <a:pt x="635" y="112"/>
                    <a:pt x="637" y="112"/>
                  </a:cubicBezTo>
                  <a:cubicBezTo>
                    <a:pt x="638" y="111"/>
                    <a:pt x="641" y="110"/>
                    <a:pt x="643" y="108"/>
                  </a:cubicBezTo>
                  <a:cubicBezTo>
                    <a:pt x="645" y="106"/>
                    <a:pt x="649" y="104"/>
                    <a:pt x="652" y="103"/>
                  </a:cubicBezTo>
                  <a:cubicBezTo>
                    <a:pt x="654" y="103"/>
                    <a:pt x="655" y="102"/>
                    <a:pt x="657" y="100"/>
                  </a:cubicBezTo>
                  <a:cubicBezTo>
                    <a:pt x="658" y="99"/>
                    <a:pt x="659" y="98"/>
                    <a:pt x="661" y="98"/>
                  </a:cubicBezTo>
                  <a:cubicBezTo>
                    <a:pt x="662" y="97"/>
                    <a:pt x="663" y="96"/>
                    <a:pt x="665" y="95"/>
                  </a:cubicBezTo>
                  <a:cubicBezTo>
                    <a:pt x="667" y="94"/>
                    <a:pt x="669" y="92"/>
                    <a:pt x="671" y="91"/>
                  </a:cubicBezTo>
                  <a:cubicBezTo>
                    <a:pt x="672" y="91"/>
                    <a:pt x="673" y="90"/>
                    <a:pt x="674" y="89"/>
                  </a:cubicBezTo>
                  <a:cubicBezTo>
                    <a:pt x="676" y="87"/>
                    <a:pt x="677" y="86"/>
                    <a:pt x="680" y="85"/>
                  </a:cubicBezTo>
                  <a:cubicBezTo>
                    <a:pt x="683" y="81"/>
                    <a:pt x="687" y="79"/>
                    <a:pt x="691" y="78"/>
                  </a:cubicBezTo>
                  <a:cubicBezTo>
                    <a:pt x="692" y="77"/>
                    <a:pt x="693" y="77"/>
                    <a:pt x="694" y="76"/>
                  </a:cubicBezTo>
                  <a:cubicBezTo>
                    <a:pt x="697" y="75"/>
                    <a:pt x="699" y="74"/>
                    <a:pt x="701" y="73"/>
                  </a:cubicBezTo>
                  <a:cubicBezTo>
                    <a:pt x="703" y="72"/>
                    <a:pt x="705" y="71"/>
                    <a:pt x="706" y="70"/>
                  </a:cubicBezTo>
                  <a:cubicBezTo>
                    <a:pt x="708" y="70"/>
                    <a:pt x="709" y="69"/>
                    <a:pt x="709" y="68"/>
                  </a:cubicBezTo>
                  <a:cubicBezTo>
                    <a:pt x="707" y="68"/>
                    <a:pt x="704" y="67"/>
                    <a:pt x="703" y="62"/>
                  </a:cubicBezTo>
                  <a:cubicBezTo>
                    <a:pt x="703" y="62"/>
                    <a:pt x="702" y="61"/>
                    <a:pt x="702" y="60"/>
                  </a:cubicBezTo>
                  <a:cubicBezTo>
                    <a:pt x="702" y="60"/>
                    <a:pt x="701" y="59"/>
                    <a:pt x="701" y="58"/>
                  </a:cubicBezTo>
                  <a:cubicBezTo>
                    <a:pt x="701" y="58"/>
                    <a:pt x="700" y="57"/>
                    <a:pt x="700" y="57"/>
                  </a:cubicBezTo>
                  <a:cubicBezTo>
                    <a:pt x="699" y="56"/>
                    <a:pt x="698" y="55"/>
                    <a:pt x="697" y="54"/>
                  </a:cubicBezTo>
                  <a:cubicBezTo>
                    <a:pt x="697" y="55"/>
                    <a:pt x="697" y="55"/>
                    <a:pt x="697" y="55"/>
                  </a:cubicBezTo>
                  <a:cubicBezTo>
                    <a:pt x="697" y="57"/>
                    <a:pt x="695" y="57"/>
                    <a:pt x="695" y="58"/>
                  </a:cubicBezTo>
                  <a:cubicBezTo>
                    <a:pt x="693" y="59"/>
                    <a:pt x="691" y="60"/>
                    <a:pt x="689" y="60"/>
                  </a:cubicBezTo>
                  <a:cubicBezTo>
                    <a:pt x="687" y="60"/>
                    <a:pt x="685" y="59"/>
                    <a:pt x="684" y="56"/>
                  </a:cubicBezTo>
                  <a:cubicBezTo>
                    <a:pt x="683" y="56"/>
                    <a:pt x="683" y="57"/>
                    <a:pt x="683" y="57"/>
                  </a:cubicBezTo>
                  <a:cubicBezTo>
                    <a:pt x="682" y="63"/>
                    <a:pt x="677" y="63"/>
                    <a:pt x="675" y="63"/>
                  </a:cubicBezTo>
                  <a:cubicBezTo>
                    <a:pt x="674" y="63"/>
                    <a:pt x="674" y="63"/>
                    <a:pt x="674" y="63"/>
                  </a:cubicBezTo>
                  <a:cubicBezTo>
                    <a:pt x="672" y="63"/>
                    <a:pt x="671" y="63"/>
                    <a:pt x="671" y="62"/>
                  </a:cubicBezTo>
                  <a:cubicBezTo>
                    <a:pt x="671" y="62"/>
                    <a:pt x="670" y="62"/>
                    <a:pt x="670" y="62"/>
                  </a:cubicBezTo>
                  <a:cubicBezTo>
                    <a:pt x="670" y="62"/>
                    <a:pt x="670" y="63"/>
                    <a:pt x="669" y="63"/>
                  </a:cubicBezTo>
                  <a:cubicBezTo>
                    <a:pt x="667" y="66"/>
                    <a:pt x="663" y="67"/>
                    <a:pt x="660" y="66"/>
                  </a:cubicBezTo>
                  <a:cubicBezTo>
                    <a:pt x="658" y="66"/>
                    <a:pt x="657" y="65"/>
                    <a:pt x="657" y="64"/>
                  </a:cubicBezTo>
                  <a:cubicBezTo>
                    <a:pt x="657" y="64"/>
                    <a:pt x="657" y="64"/>
                    <a:pt x="657" y="64"/>
                  </a:cubicBezTo>
                  <a:cubicBezTo>
                    <a:pt x="656" y="67"/>
                    <a:pt x="653" y="68"/>
                    <a:pt x="650" y="68"/>
                  </a:cubicBezTo>
                  <a:cubicBezTo>
                    <a:pt x="649" y="68"/>
                    <a:pt x="648" y="68"/>
                    <a:pt x="647" y="68"/>
                  </a:cubicBezTo>
                  <a:cubicBezTo>
                    <a:pt x="645" y="68"/>
                    <a:pt x="645" y="67"/>
                    <a:pt x="644" y="66"/>
                  </a:cubicBezTo>
                  <a:cubicBezTo>
                    <a:pt x="644" y="66"/>
                    <a:pt x="644" y="66"/>
                    <a:pt x="644" y="66"/>
                  </a:cubicBezTo>
                  <a:cubicBezTo>
                    <a:pt x="644" y="66"/>
                    <a:pt x="644" y="66"/>
                    <a:pt x="644" y="66"/>
                  </a:cubicBezTo>
                  <a:cubicBezTo>
                    <a:pt x="643" y="69"/>
                    <a:pt x="639" y="70"/>
                    <a:pt x="637" y="70"/>
                  </a:cubicBezTo>
                  <a:cubicBezTo>
                    <a:pt x="637" y="70"/>
                    <a:pt x="636" y="70"/>
                    <a:pt x="636" y="70"/>
                  </a:cubicBezTo>
                  <a:cubicBezTo>
                    <a:pt x="636" y="70"/>
                    <a:pt x="636" y="70"/>
                    <a:pt x="636" y="70"/>
                  </a:cubicBezTo>
                  <a:cubicBezTo>
                    <a:pt x="634" y="70"/>
                    <a:pt x="633" y="69"/>
                    <a:pt x="633" y="69"/>
                  </a:cubicBezTo>
                  <a:cubicBezTo>
                    <a:pt x="632" y="68"/>
                    <a:pt x="632" y="68"/>
                    <a:pt x="632" y="67"/>
                  </a:cubicBezTo>
                  <a:cubicBezTo>
                    <a:pt x="630" y="69"/>
                    <a:pt x="627" y="71"/>
                    <a:pt x="622" y="71"/>
                  </a:cubicBezTo>
                  <a:cubicBezTo>
                    <a:pt x="620" y="71"/>
                    <a:pt x="618" y="70"/>
                    <a:pt x="616" y="69"/>
                  </a:cubicBezTo>
                  <a:cubicBezTo>
                    <a:pt x="615" y="67"/>
                    <a:pt x="615" y="65"/>
                    <a:pt x="616" y="63"/>
                  </a:cubicBezTo>
                  <a:cubicBezTo>
                    <a:pt x="616" y="62"/>
                    <a:pt x="617" y="61"/>
                    <a:pt x="617" y="61"/>
                  </a:cubicBezTo>
                  <a:cubicBezTo>
                    <a:pt x="617" y="60"/>
                    <a:pt x="617" y="60"/>
                    <a:pt x="618" y="60"/>
                  </a:cubicBezTo>
                  <a:cubicBezTo>
                    <a:pt x="618" y="60"/>
                    <a:pt x="618" y="60"/>
                    <a:pt x="618" y="60"/>
                  </a:cubicBezTo>
                  <a:cubicBezTo>
                    <a:pt x="616" y="61"/>
                    <a:pt x="615" y="61"/>
                    <a:pt x="613" y="61"/>
                  </a:cubicBezTo>
                  <a:cubicBezTo>
                    <a:pt x="612" y="61"/>
                    <a:pt x="611" y="61"/>
                    <a:pt x="610" y="61"/>
                  </a:cubicBezTo>
                  <a:cubicBezTo>
                    <a:pt x="610" y="62"/>
                    <a:pt x="610" y="63"/>
                    <a:pt x="609" y="64"/>
                  </a:cubicBezTo>
                  <a:cubicBezTo>
                    <a:pt x="608" y="65"/>
                    <a:pt x="607" y="65"/>
                    <a:pt x="606" y="66"/>
                  </a:cubicBezTo>
                  <a:cubicBezTo>
                    <a:pt x="595" y="67"/>
                    <a:pt x="585" y="67"/>
                    <a:pt x="576" y="67"/>
                  </a:cubicBezTo>
                  <a:cubicBezTo>
                    <a:pt x="576" y="67"/>
                    <a:pt x="576" y="67"/>
                    <a:pt x="576" y="67"/>
                  </a:cubicBezTo>
                  <a:cubicBezTo>
                    <a:pt x="572" y="67"/>
                    <a:pt x="570" y="66"/>
                    <a:pt x="568" y="65"/>
                  </a:cubicBezTo>
                  <a:cubicBezTo>
                    <a:pt x="568" y="65"/>
                    <a:pt x="567" y="64"/>
                    <a:pt x="567" y="64"/>
                  </a:cubicBezTo>
                  <a:cubicBezTo>
                    <a:pt x="566" y="64"/>
                    <a:pt x="566" y="64"/>
                    <a:pt x="566" y="64"/>
                  </a:cubicBezTo>
                  <a:cubicBezTo>
                    <a:pt x="566" y="64"/>
                    <a:pt x="566" y="64"/>
                    <a:pt x="565" y="64"/>
                  </a:cubicBezTo>
                  <a:cubicBezTo>
                    <a:pt x="565" y="65"/>
                    <a:pt x="564" y="67"/>
                    <a:pt x="562" y="67"/>
                  </a:cubicBezTo>
                  <a:cubicBezTo>
                    <a:pt x="561" y="67"/>
                    <a:pt x="560" y="67"/>
                    <a:pt x="559" y="67"/>
                  </a:cubicBezTo>
                  <a:cubicBezTo>
                    <a:pt x="558" y="67"/>
                    <a:pt x="557" y="67"/>
                    <a:pt x="556" y="67"/>
                  </a:cubicBezTo>
                  <a:cubicBezTo>
                    <a:pt x="554" y="67"/>
                    <a:pt x="551" y="67"/>
                    <a:pt x="549" y="65"/>
                  </a:cubicBezTo>
                  <a:cubicBezTo>
                    <a:pt x="547" y="64"/>
                    <a:pt x="547" y="64"/>
                    <a:pt x="547" y="64"/>
                  </a:cubicBezTo>
                  <a:cubicBezTo>
                    <a:pt x="540" y="58"/>
                    <a:pt x="532" y="52"/>
                    <a:pt x="530" y="40"/>
                  </a:cubicBezTo>
                  <a:cubicBezTo>
                    <a:pt x="530" y="39"/>
                    <a:pt x="530" y="38"/>
                    <a:pt x="530" y="37"/>
                  </a:cubicBezTo>
                  <a:cubicBezTo>
                    <a:pt x="529" y="34"/>
                    <a:pt x="528" y="30"/>
                    <a:pt x="530" y="26"/>
                  </a:cubicBezTo>
                  <a:cubicBezTo>
                    <a:pt x="529" y="24"/>
                    <a:pt x="529" y="22"/>
                    <a:pt x="529" y="20"/>
                  </a:cubicBezTo>
                  <a:cubicBezTo>
                    <a:pt x="529" y="19"/>
                    <a:pt x="529" y="19"/>
                    <a:pt x="529" y="18"/>
                  </a:cubicBezTo>
                  <a:cubicBezTo>
                    <a:pt x="529" y="18"/>
                    <a:pt x="529" y="18"/>
                    <a:pt x="529" y="18"/>
                  </a:cubicBezTo>
                  <a:cubicBezTo>
                    <a:pt x="528" y="18"/>
                    <a:pt x="527" y="17"/>
                    <a:pt x="526" y="16"/>
                  </a:cubicBezTo>
                  <a:cubicBezTo>
                    <a:pt x="526" y="17"/>
                    <a:pt x="525" y="17"/>
                    <a:pt x="525" y="17"/>
                  </a:cubicBezTo>
                  <a:cubicBezTo>
                    <a:pt x="522" y="19"/>
                    <a:pt x="520" y="17"/>
                    <a:pt x="519" y="17"/>
                  </a:cubicBezTo>
                  <a:cubicBezTo>
                    <a:pt x="518" y="16"/>
                    <a:pt x="518" y="15"/>
                    <a:pt x="518" y="15"/>
                  </a:cubicBezTo>
                  <a:cubicBezTo>
                    <a:pt x="517" y="14"/>
                    <a:pt x="517" y="14"/>
                    <a:pt x="517" y="14"/>
                  </a:cubicBezTo>
                  <a:cubicBezTo>
                    <a:pt x="516" y="14"/>
                    <a:pt x="514" y="14"/>
                    <a:pt x="512" y="12"/>
                  </a:cubicBezTo>
                  <a:cubicBezTo>
                    <a:pt x="511" y="11"/>
                    <a:pt x="511" y="9"/>
                    <a:pt x="511" y="8"/>
                  </a:cubicBezTo>
                  <a:cubicBezTo>
                    <a:pt x="511" y="7"/>
                    <a:pt x="511" y="7"/>
                    <a:pt x="509" y="6"/>
                  </a:cubicBezTo>
                  <a:cubicBezTo>
                    <a:pt x="509" y="6"/>
                    <a:pt x="508" y="5"/>
                    <a:pt x="507" y="7"/>
                  </a:cubicBezTo>
                  <a:cubicBezTo>
                    <a:pt x="505" y="9"/>
                    <a:pt x="504" y="11"/>
                    <a:pt x="505" y="14"/>
                  </a:cubicBezTo>
                  <a:cubicBezTo>
                    <a:pt x="506" y="16"/>
                    <a:pt x="507" y="19"/>
                    <a:pt x="508" y="21"/>
                  </a:cubicBezTo>
                  <a:cubicBezTo>
                    <a:pt x="508" y="22"/>
                    <a:pt x="509" y="24"/>
                    <a:pt x="507" y="26"/>
                  </a:cubicBezTo>
                  <a:cubicBezTo>
                    <a:pt x="507" y="26"/>
                    <a:pt x="506" y="27"/>
                    <a:pt x="504" y="27"/>
                  </a:cubicBezTo>
                  <a:cubicBezTo>
                    <a:pt x="504" y="30"/>
                    <a:pt x="503" y="32"/>
                    <a:pt x="499" y="32"/>
                  </a:cubicBezTo>
                  <a:cubicBezTo>
                    <a:pt x="498" y="32"/>
                    <a:pt x="497" y="32"/>
                    <a:pt x="496" y="32"/>
                  </a:cubicBezTo>
                  <a:cubicBezTo>
                    <a:pt x="495" y="32"/>
                    <a:pt x="494" y="33"/>
                    <a:pt x="492" y="33"/>
                  </a:cubicBezTo>
                  <a:cubicBezTo>
                    <a:pt x="456" y="32"/>
                    <a:pt x="420" y="32"/>
                    <a:pt x="384" y="32"/>
                  </a:cubicBezTo>
                  <a:cubicBezTo>
                    <a:pt x="329" y="33"/>
                    <a:pt x="275" y="33"/>
                    <a:pt x="220" y="32"/>
                  </a:cubicBezTo>
                  <a:cubicBezTo>
                    <a:pt x="220" y="32"/>
                    <a:pt x="219" y="33"/>
                    <a:pt x="218" y="33"/>
                  </a:cubicBezTo>
                  <a:cubicBezTo>
                    <a:pt x="217" y="33"/>
                    <a:pt x="215" y="33"/>
                    <a:pt x="214" y="33"/>
                  </a:cubicBezTo>
                  <a:cubicBezTo>
                    <a:pt x="210" y="33"/>
                    <a:pt x="208" y="31"/>
                    <a:pt x="207" y="28"/>
                  </a:cubicBezTo>
                  <a:cubicBezTo>
                    <a:pt x="205" y="27"/>
                    <a:pt x="205" y="27"/>
                    <a:pt x="204" y="26"/>
                  </a:cubicBezTo>
                  <a:cubicBezTo>
                    <a:pt x="203" y="24"/>
                    <a:pt x="204" y="22"/>
                    <a:pt x="204" y="21"/>
                  </a:cubicBezTo>
                  <a:cubicBezTo>
                    <a:pt x="204" y="20"/>
                    <a:pt x="204" y="20"/>
                    <a:pt x="204" y="20"/>
                  </a:cubicBezTo>
                  <a:cubicBezTo>
                    <a:pt x="205" y="18"/>
                    <a:pt x="205" y="17"/>
                    <a:pt x="206" y="15"/>
                  </a:cubicBezTo>
                  <a:cubicBezTo>
                    <a:pt x="206" y="15"/>
                    <a:pt x="206" y="14"/>
                    <a:pt x="206" y="14"/>
                  </a:cubicBezTo>
                  <a:cubicBezTo>
                    <a:pt x="207" y="12"/>
                    <a:pt x="206" y="8"/>
                    <a:pt x="204" y="7"/>
                  </a:cubicBezTo>
                  <a:cubicBezTo>
                    <a:pt x="203" y="6"/>
                    <a:pt x="202" y="6"/>
                    <a:pt x="202" y="6"/>
                  </a:cubicBezTo>
                  <a:cubicBezTo>
                    <a:pt x="201" y="6"/>
                    <a:pt x="201" y="6"/>
                    <a:pt x="201" y="6"/>
                  </a:cubicBezTo>
                  <a:cubicBezTo>
                    <a:pt x="200" y="11"/>
                    <a:pt x="198" y="14"/>
                    <a:pt x="194" y="15"/>
                  </a:cubicBezTo>
                  <a:cubicBezTo>
                    <a:pt x="194" y="15"/>
                    <a:pt x="194" y="16"/>
                    <a:pt x="194" y="16"/>
                  </a:cubicBezTo>
                  <a:cubicBezTo>
                    <a:pt x="193" y="16"/>
                    <a:pt x="193" y="16"/>
                    <a:pt x="193" y="16"/>
                  </a:cubicBezTo>
                  <a:cubicBezTo>
                    <a:pt x="192" y="17"/>
                    <a:pt x="190" y="19"/>
                    <a:pt x="187" y="18"/>
                  </a:cubicBezTo>
                  <a:cubicBezTo>
                    <a:pt x="186" y="18"/>
                    <a:pt x="186" y="17"/>
                    <a:pt x="185" y="17"/>
                  </a:cubicBezTo>
                  <a:cubicBezTo>
                    <a:pt x="185" y="17"/>
                    <a:pt x="184" y="17"/>
                    <a:pt x="184" y="17"/>
                  </a:cubicBezTo>
                  <a:cubicBezTo>
                    <a:pt x="183" y="18"/>
                    <a:pt x="183" y="18"/>
                    <a:pt x="183" y="20"/>
                  </a:cubicBezTo>
                  <a:cubicBezTo>
                    <a:pt x="183" y="21"/>
                    <a:pt x="183" y="22"/>
                    <a:pt x="182" y="23"/>
                  </a:cubicBezTo>
                  <a:cubicBezTo>
                    <a:pt x="181" y="25"/>
                    <a:pt x="181" y="26"/>
                    <a:pt x="182" y="28"/>
                  </a:cubicBezTo>
                  <a:cubicBezTo>
                    <a:pt x="182" y="29"/>
                    <a:pt x="182" y="30"/>
                    <a:pt x="182" y="30"/>
                  </a:cubicBezTo>
                  <a:cubicBezTo>
                    <a:pt x="183" y="35"/>
                    <a:pt x="182" y="38"/>
                    <a:pt x="181" y="42"/>
                  </a:cubicBezTo>
                  <a:cubicBezTo>
                    <a:pt x="180" y="43"/>
                    <a:pt x="180" y="45"/>
                    <a:pt x="180" y="47"/>
                  </a:cubicBezTo>
                  <a:cubicBezTo>
                    <a:pt x="179" y="48"/>
                    <a:pt x="178" y="49"/>
                    <a:pt x="178" y="50"/>
                  </a:cubicBezTo>
                  <a:cubicBezTo>
                    <a:pt x="177" y="51"/>
                    <a:pt x="177" y="51"/>
                    <a:pt x="177" y="51"/>
                  </a:cubicBezTo>
                  <a:cubicBezTo>
                    <a:pt x="174" y="54"/>
                    <a:pt x="171" y="58"/>
                    <a:pt x="167" y="62"/>
                  </a:cubicBezTo>
                  <a:cubicBezTo>
                    <a:pt x="163" y="65"/>
                    <a:pt x="158" y="67"/>
                    <a:pt x="152" y="67"/>
                  </a:cubicBezTo>
                  <a:cubicBezTo>
                    <a:pt x="152" y="67"/>
                    <a:pt x="152" y="67"/>
                    <a:pt x="152" y="67"/>
                  </a:cubicBezTo>
                  <a:cubicBezTo>
                    <a:pt x="151" y="65"/>
                    <a:pt x="151" y="65"/>
                    <a:pt x="151" y="65"/>
                  </a:cubicBezTo>
                  <a:cubicBezTo>
                    <a:pt x="151" y="67"/>
                    <a:pt x="151" y="67"/>
                    <a:pt x="151" y="67"/>
                  </a:cubicBezTo>
                  <a:cubicBezTo>
                    <a:pt x="150" y="67"/>
                    <a:pt x="147" y="67"/>
                    <a:pt x="146" y="65"/>
                  </a:cubicBezTo>
                  <a:cubicBezTo>
                    <a:pt x="144" y="66"/>
                    <a:pt x="143" y="66"/>
                    <a:pt x="142" y="65"/>
                  </a:cubicBezTo>
                  <a:cubicBezTo>
                    <a:pt x="141" y="67"/>
                    <a:pt x="140" y="68"/>
                    <a:pt x="137" y="68"/>
                  </a:cubicBezTo>
                  <a:cubicBezTo>
                    <a:pt x="127" y="67"/>
                    <a:pt x="127" y="67"/>
                    <a:pt x="127" y="67"/>
                  </a:cubicBezTo>
                  <a:cubicBezTo>
                    <a:pt x="121" y="67"/>
                    <a:pt x="115" y="67"/>
                    <a:pt x="108" y="66"/>
                  </a:cubicBezTo>
                  <a:cubicBezTo>
                    <a:pt x="108" y="66"/>
                    <a:pt x="106" y="66"/>
                    <a:pt x="105" y="65"/>
                  </a:cubicBezTo>
                  <a:cubicBezTo>
                    <a:pt x="104" y="64"/>
                    <a:pt x="104" y="62"/>
                    <a:pt x="104" y="61"/>
                  </a:cubicBezTo>
                  <a:cubicBezTo>
                    <a:pt x="104" y="61"/>
                    <a:pt x="104" y="61"/>
                    <a:pt x="104" y="61"/>
                  </a:cubicBezTo>
                  <a:cubicBezTo>
                    <a:pt x="104" y="61"/>
                    <a:pt x="104" y="61"/>
                    <a:pt x="104" y="61"/>
                  </a:cubicBezTo>
                  <a:cubicBezTo>
                    <a:pt x="103" y="62"/>
                    <a:pt x="101" y="62"/>
                    <a:pt x="100" y="62"/>
                  </a:cubicBezTo>
                  <a:cubicBezTo>
                    <a:pt x="98" y="62"/>
                    <a:pt x="97" y="61"/>
                    <a:pt x="96" y="60"/>
                  </a:cubicBezTo>
                  <a:cubicBezTo>
                    <a:pt x="96" y="60"/>
                    <a:pt x="96" y="60"/>
                    <a:pt x="96" y="60"/>
                  </a:cubicBezTo>
                  <a:cubicBezTo>
                    <a:pt x="96" y="61"/>
                    <a:pt x="96" y="62"/>
                    <a:pt x="97" y="63"/>
                  </a:cubicBezTo>
                  <a:cubicBezTo>
                    <a:pt x="97" y="64"/>
                    <a:pt x="97" y="65"/>
                    <a:pt x="97" y="66"/>
                  </a:cubicBezTo>
                  <a:cubicBezTo>
                    <a:pt x="98" y="68"/>
                    <a:pt x="97" y="70"/>
                    <a:pt x="96" y="71"/>
                  </a:cubicBezTo>
                  <a:cubicBezTo>
                    <a:pt x="95" y="71"/>
                    <a:pt x="94" y="71"/>
                    <a:pt x="93" y="71"/>
                  </a:cubicBezTo>
                  <a:cubicBezTo>
                    <a:pt x="90" y="71"/>
                    <a:pt x="84" y="70"/>
                    <a:pt x="82" y="68"/>
                  </a:cubicBezTo>
                  <a:cubicBezTo>
                    <a:pt x="82" y="68"/>
                    <a:pt x="81" y="67"/>
                    <a:pt x="81" y="67"/>
                  </a:cubicBezTo>
                  <a:cubicBezTo>
                    <a:pt x="81" y="67"/>
                    <a:pt x="81" y="68"/>
                    <a:pt x="80" y="68"/>
                  </a:cubicBezTo>
                  <a:cubicBezTo>
                    <a:pt x="79" y="70"/>
                    <a:pt x="77" y="70"/>
                    <a:pt x="74" y="69"/>
                  </a:cubicBezTo>
                  <a:cubicBezTo>
                    <a:pt x="72" y="69"/>
                    <a:pt x="71" y="67"/>
                    <a:pt x="70" y="66"/>
                  </a:cubicBezTo>
                  <a:cubicBezTo>
                    <a:pt x="69" y="66"/>
                    <a:pt x="69" y="66"/>
                    <a:pt x="69" y="66"/>
                  </a:cubicBezTo>
                  <a:cubicBezTo>
                    <a:pt x="68" y="68"/>
                    <a:pt x="66" y="68"/>
                    <a:pt x="64" y="68"/>
                  </a:cubicBezTo>
                  <a:cubicBezTo>
                    <a:pt x="60" y="68"/>
                    <a:pt x="58" y="65"/>
                    <a:pt x="57" y="63"/>
                  </a:cubicBezTo>
                  <a:cubicBezTo>
                    <a:pt x="57" y="63"/>
                    <a:pt x="57" y="63"/>
                    <a:pt x="57" y="63"/>
                  </a:cubicBezTo>
                  <a:cubicBezTo>
                    <a:pt x="57" y="63"/>
                    <a:pt x="57" y="64"/>
                    <a:pt x="56" y="64"/>
                  </a:cubicBezTo>
                  <a:cubicBezTo>
                    <a:pt x="56" y="65"/>
                    <a:pt x="55" y="66"/>
                    <a:pt x="53" y="66"/>
                  </a:cubicBezTo>
                  <a:cubicBezTo>
                    <a:pt x="52" y="66"/>
                    <a:pt x="52" y="66"/>
                    <a:pt x="52" y="66"/>
                  </a:cubicBezTo>
                  <a:cubicBezTo>
                    <a:pt x="49" y="66"/>
                    <a:pt x="47" y="65"/>
                    <a:pt x="46" y="62"/>
                  </a:cubicBezTo>
                  <a:cubicBezTo>
                    <a:pt x="46" y="61"/>
                    <a:pt x="46" y="61"/>
                    <a:pt x="45" y="61"/>
                  </a:cubicBezTo>
                  <a:cubicBezTo>
                    <a:pt x="44" y="63"/>
                    <a:pt x="42" y="64"/>
                    <a:pt x="37" y="62"/>
                  </a:cubicBezTo>
                  <a:cubicBezTo>
                    <a:pt x="35" y="61"/>
                    <a:pt x="35" y="60"/>
                    <a:pt x="34" y="59"/>
                  </a:cubicBezTo>
                  <a:cubicBezTo>
                    <a:pt x="34" y="58"/>
                    <a:pt x="34" y="58"/>
                    <a:pt x="33" y="57"/>
                  </a:cubicBezTo>
                  <a:cubicBezTo>
                    <a:pt x="33" y="58"/>
                    <a:pt x="33" y="58"/>
                    <a:pt x="32" y="59"/>
                  </a:cubicBezTo>
                  <a:cubicBezTo>
                    <a:pt x="32" y="59"/>
                    <a:pt x="31" y="60"/>
                    <a:pt x="30" y="60"/>
                  </a:cubicBezTo>
                  <a:cubicBezTo>
                    <a:pt x="28" y="60"/>
                    <a:pt x="27" y="60"/>
                    <a:pt x="25" y="59"/>
                  </a:cubicBezTo>
                  <a:cubicBezTo>
                    <a:pt x="24" y="59"/>
                    <a:pt x="24" y="59"/>
                    <a:pt x="24" y="59"/>
                  </a:cubicBezTo>
                  <a:cubicBezTo>
                    <a:pt x="23" y="58"/>
                    <a:pt x="22" y="58"/>
                    <a:pt x="22" y="58"/>
                  </a:cubicBezTo>
                  <a:cubicBezTo>
                    <a:pt x="21" y="58"/>
                    <a:pt x="19" y="57"/>
                    <a:pt x="19" y="55"/>
                  </a:cubicBezTo>
                  <a:cubicBezTo>
                    <a:pt x="19" y="54"/>
                    <a:pt x="19" y="54"/>
                    <a:pt x="19" y="54"/>
                  </a:cubicBezTo>
                  <a:cubicBezTo>
                    <a:pt x="19" y="53"/>
                    <a:pt x="19" y="53"/>
                    <a:pt x="19" y="53"/>
                  </a:cubicBezTo>
                  <a:cubicBezTo>
                    <a:pt x="19" y="53"/>
                    <a:pt x="19" y="53"/>
                    <a:pt x="18" y="53"/>
                  </a:cubicBezTo>
                  <a:cubicBezTo>
                    <a:pt x="18" y="56"/>
                    <a:pt x="15" y="57"/>
                    <a:pt x="14" y="58"/>
                  </a:cubicBezTo>
                  <a:cubicBezTo>
                    <a:pt x="13" y="58"/>
                    <a:pt x="12" y="59"/>
                    <a:pt x="12" y="59"/>
                  </a:cubicBezTo>
                  <a:cubicBezTo>
                    <a:pt x="11" y="60"/>
                    <a:pt x="11" y="60"/>
                    <a:pt x="11" y="60"/>
                  </a:cubicBezTo>
                  <a:cubicBezTo>
                    <a:pt x="12" y="62"/>
                    <a:pt x="12" y="64"/>
                    <a:pt x="11" y="65"/>
                  </a:cubicBezTo>
                  <a:cubicBezTo>
                    <a:pt x="11" y="66"/>
                    <a:pt x="9" y="67"/>
                    <a:pt x="6" y="67"/>
                  </a:cubicBezTo>
                  <a:cubicBezTo>
                    <a:pt x="7" y="69"/>
                    <a:pt x="8" y="69"/>
                    <a:pt x="9" y="70"/>
                  </a:cubicBezTo>
                  <a:cubicBezTo>
                    <a:pt x="12" y="71"/>
                    <a:pt x="16" y="73"/>
                    <a:pt x="19" y="75"/>
                  </a:cubicBezTo>
                  <a:cubicBezTo>
                    <a:pt x="23" y="77"/>
                    <a:pt x="27" y="79"/>
                    <a:pt x="32" y="81"/>
                  </a:cubicBezTo>
                  <a:cubicBezTo>
                    <a:pt x="35" y="82"/>
                    <a:pt x="35" y="84"/>
                    <a:pt x="35" y="85"/>
                  </a:cubicBezTo>
                  <a:cubicBezTo>
                    <a:pt x="35" y="85"/>
                    <a:pt x="35" y="86"/>
                    <a:pt x="35" y="86"/>
                  </a:cubicBezTo>
                  <a:cubicBezTo>
                    <a:pt x="35" y="86"/>
                    <a:pt x="36" y="86"/>
                    <a:pt x="37" y="86"/>
                  </a:cubicBezTo>
                  <a:cubicBezTo>
                    <a:pt x="37" y="86"/>
                    <a:pt x="37" y="86"/>
                    <a:pt x="37" y="86"/>
                  </a:cubicBezTo>
                  <a:cubicBezTo>
                    <a:pt x="41" y="86"/>
                    <a:pt x="42" y="89"/>
                    <a:pt x="42" y="90"/>
                  </a:cubicBezTo>
                  <a:cubicBezTo>
                    <a:pt x="42" y="90"/>
                    <a:pt x="42" y="90"/>
                    <a:pt x="42" y="90"/>
                  </a:cubicBezTo>
                  <a:cubicBezTo>
                    <a:pt x="43" y="90"/>
                    <a:pt x="43" y="90"/>
                    <a:pt x="43" y="90"/>
                  </a:cubicBezTo>
                  <a:cubicBezTo>
                    <a:pt x="43" y="90"/>
                    <a:pt x="44" y="90"/>
                    <a:pt x="44" y="90"/>
                  </a:cubicBezTo>
                  <a:cubicBezTo>
                    <a:pt x="45" y="91"/>
                    <a:pt x="47" y="91"/>
                    <a:pt x="47" y="93"/>
                  </a:cubicBezTo>
                  <a:cubicBezTo>
                    <a:pt x="48" y="95"/>
                    <a:pt x="49" y="95"/>
                    <a:pt x="51" y="96"/>
                  </a:cubicBezTo>
                  <a:cubicBezTo>
                    <a:pt x="53" y="97"/>
                    <a:pt x="55" y="97"/>
                    <a:pt x="56" y="99"/>
                  </a:cubicBezTo>
                  <a:cubicBezTo>
                    <a:pt x="59" y="100"/>
                    <a:pt x="60" y="102"/>
                    <a:pt x="60" y="103"/>
                  </a:cubicBezTo>
                  <a:cubicBezTo>
                    <a:pt x="60" y="103"/>
                    <a:pt x="61" y="103"/>
                    <a:pt x="61" y="103"/>
                  </a:cubicBezTo>
                  <a:cubicBezTo>
                    <a:pt x="64" y="103"/>
                    <a:pt x="65" y="104"/>
                    <a:pt x="65" y="106"/>
                  </a:cubicBezTo>
                  <a:cubicBezTo>
                    <a:pt x="65" y="106"/>
                    <a:pt x="65" y="106"/>
                    <a:pt x="67" y="106"/>
                  </a:cubicBezTo>
                  <a:cubicBezTo>
                    <a:pt x="68" y="107"/>
                    <a:pt x="70" y="108"/>
                    <a:pt x="71" y="110"/>
                  </a:cubicBezTo>
                  <a:close/>
                </a:path>
              </a:pathLst>
            </a:custGeom>
            <a:grpFill/>
            <a:ln w="9525">
              <a:solidFill>
                <a:schemeClr val="accent1"/>
              </a:solidFill>
              <a:round/>
              <a:headEnd/>
              <a:tailEnd/>
            </a:ln>
          </p:spPr>
          <p:txBody>
            <a:bodyPr vert="horz" wrap="square" lIns="91440" tIns="45720" rIns="91440" bIns="45720" numCol="1" anchor="t" anchorCtr="0" compatLnSpc="1">
              <a:prstTxWarp prst="textNoShape">
                <a:avLst/>
              </a:prstTxWarp>
            </a:bodyPr>
            <a:lstStyle/>
            <a:p>
              <a:endParaRPr lang="zh-CN" altLang="en-US" dirty="0"/>
            </a:p>
          </p:txBody>
        </p:sp>
        <p:sp>
          <p:nvSpPr>
            <p:cNvPr id="11" name="Freeform 11">
              <a:extLst>
                <a:ext uri="{FF2B5EF4-FFF2-40B4-BE49-F238E27FC236}">
                  <a16:creationId xmlns:a16="http://schemas.microsoft.com/office/drawing/2014/main" id="{1801575B-7CAE-F32E-7937-7CB58125E9BB}"/>
                </a:ext>
              </a:extLst>
            </p:cNvPr>
            <p:cNvSpPr>
              <a:spLocks/>
            </p:cNvSpPr>
            <p:nvPr/>
          </p:nvSpPr>
          <p:spPr bwMode="auto">
            <a:xfrm>
              <a:off x="3757" y="1938"/>
              <a:ext cx="130" cy="183"/>
            </a:xfrm>
            <a:custGeom>
              <a:avLst/>
              <a:gdLst>
                <a:gd name="T0" fmla="*/ 62 w 76"/>
                <a:gd name="T1" fmla="*/ 8 h 106"/>
                <a:gd name="T2" fmla="*/ 73 w 76"/>
                <a:gd name="T3" fmla="*/ 32 h 106"/>
                <a:gd name="T4" fmla="*/ 70 w 76"/>
                <a:gd name="T5" fmla="*/ 32 h 106"/>
                <a:gd name="T6" fmla="*/ 60 w 76"/>
                <a:gd name="T7" fmla="*/ 11 h 106"/>
                <a:gd name="T8" fmla="*/ 37 w 76"/>
                <a:gd name="T9" fmla="*/ 3 h 106"/>
                <a:gd name="T10" fmla="*/ 14 w 76"/>
                <a:gd name="T11" fmla="*/ 9 h 106"/>
                <a:gd name="T12" fmla="*/ 5 w 76"/>
                <a:gd name="T13" fmla="*/ 25 h 106"/>
                <a:gd name="T14" fmla="*/ 17 w 76"/>
                <a:gd name="T15" fmla="*/ 41 h 106"/>
                <a:gd name="T16" fmla="*/ 38 w 76"/>
                <a:gd name="T17" fmla="*/ 48 h 106"/>
                <a:gd name="T18" fmla="*/ 64 w 76"/>
                <a:gd name="T19" fmla="*/ 57 h 106"/>
                <a:gd name="T20" fmla="*/ 76 w 76"/>
                <a:gd name="T21" fmla="*/ 78 h 106"/>
                <a:gd name="T22" fmla="*/ 65 w 76"/>
                <a:gd name="T23" fmla="*/ 99 h 106"/>
                <a:gd name="T24" fmla="*/ 38 w 76"/>
                <a:gd name="T25" fmla="*/ 106 h 106"/>
                <a:gd name="T26" fmla="*/ 12 w 76"/>
                <a:gd name="T27" fmla="*/ 97 h 106"/>
                <a:gd name="T28" fmla="*/ 0 w 76"/>
                <a:gd name="T29" fmla="*/ 70 h 106"/>
                <a:gd name="T30" fmla="*/ 3 w 76"/>
                <a:gd name="T31" fmla="*/ 70 h 106"/>
                <a:gd name="T32" fmla="*/ 14 w 76"/>
                <a:gd name="T33" fmla="*/ 94 h 106"/>
                <a:gd name="T34" fmla="*/ 38 w 76"/>
                <a:gd name="T35" fmla="*/ 102 h 106"/>
                <a:gd name="T36" fmla="*/ 63 w 76"/>
                <a:gd name="T37" fmla="*/ 96 h 106"/>
                <a:gd name="T38" fmla="*/ 72 w 76"/>
                <a:gd name="T39" fmla="*/ 78 h 106"/>
                <a:gd name="T40" fmla="*/ 61 w 76"/>
                <a:gd name="T41" fmla="*/ 60 h 106"/>
                <a:gd name="T42" fmla="*/ 37 w 76"/>
                <a:gd name="T43" fmla="*/ 51 h 106"/>
                <a:gd name="T44" fmla="*/ 14 w 76"/>
                <a:gd name="T45" fmla="*/ 44 h 106"/>
                <a:gd name="T46" fmla="*/ 2 w 76"/>
                <a:gd name="T47" fmla="*/ 25 h 106"/>
                <a:gd name="T48" fmla="*/ 13 w 76"/>
                <a:gd name="T49" fmla="*/ 6 h 106"/>
                <a:gd name="T50" fmla="*/ 37 w 76"/>
                <a:gd name="T51" fmla="*/ 0 h 106"/>
                <a:gd name="T52" fmla="*/ 62 w 76"/>
                <a:gd name="T53" fmla="*/ 8 h 10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76" h="106">
                  <a:moveTo>
                    <a:pt x="62" y="8"/>
                  </a:moveTo>
                  <a:cubicBezTo>
                    <a:pt x="69" y="14"/>
                    <a:pt x="72" y="22"/>
                    <a:pt x="73" y="32"/>
                  </a:cubicBezTo>
                  <a:cubicBezTo>
                    <a:pt x="70" y="32"/>
                    <a:pt x="70" y="32"/>
                    <a:pt x="70" y="32"/>
                  </a:cubicBezTo>
                  <a:cubicBezTo>
                    <a:pt x="69" y="23"/>
                    <a:pt x="66" y="16"/>
                    <a:pt x="60" y="11"/>
                  </a:cubicBezTo>
                  <a:cubicBezTo>
                    <a:pt x="55" y="6"/>
                    <a:pt x="47" y="3"/>
                    <a:pt x="37" y="3"/>
                  </a:cubicBezTo>
                  <a:cubicBezTo>
                    <a:pt x="27" y="3"/>
                    <a:pt x="20" y="5"/>
                    <a:pt x="14" y="9"/>
                  </a:cubicBezTo>
                  <a:cubicBezTo>
                    <a:pt x="8" y="12"/>
                    <a:pt x="5" y="18"/>
                    <a:pt x="5" y="25"/>
                  </a:cubicBezTo>
                  <a:cubicBezTo>
                    <a:pt x="5" y="32"/>
                    <a:pt x="9" y="37"/>
                    <a:pt x="17" y="41"/>
                  </a:cubicBezTo>
                  <a:cubicBezTo>
                    <a:pt x="20" y="43"/>
                    <a:pt x="27" y="45"/>
                    <a:pt x="38" y="48"/>
                  </a:cubicBezTo>
                  <a:cubicBezTo>
                    <a:pt x="50" y="51"/>
                    <a:pt x="59" y="54"/>
                    <a:pt x="64" y="57"/>
                  </a:cubicBezTo>
                  <a:cubicBezTo>
                    <a:pt x="72" y="62"/>
                    <a:pt x="76" y="69"/>
                    <a:pt x="76" y="78"/>
                  </a:cubicBezTo>
                  <a:cubicBezTo>
                    <a:pt x="76" y="87"/>
                    <a:pt x="72" y="94"/>
                    <a:pt x="65" y="99"/>
                  </a:cubicBezTo>
                  <a:cubicBezTo>
                    <a:pt x="58" y="103"/>
                    <a:pt x="49" y="106"/>
                    <a:pt x="38" y="106"/>
                  </a:cubicBezTo>
                  <a:cubicBezTo>
                    <a:pt x="27" y="106"/>
                    <a:pt x="18" y="103"/>
                    <a:pt x="12" y="97"/>
                  </a:cubicBezTo>
                  <a:cubicBezTo>
                    <a:pt x="5" y="91"/>
                    <a:pt x="1" y="82"/>
                    <a:pt x="0" y="70"/>
                  </a:cubicBezTo>
                  <a:cubicBezTo>
                    <a:pt x="3" y="70"/>
                    <a:pt x="3" y="70"/>
                    <a:pt x="3" y="70"/>
                  </a:cubicBezTo>
                  <a:cubicBezTo>
                    <a:pt x="4" y="81"/>
                    <a:pt x="8" y="89"/>
                    <a:pt x="14" y="94"/>
                  </a:cubicBezTo>
                  <a:cubicBezTo>
                    <a:pt x="20" y="100"/>
                    <a:pt x="28" y="102"/>
                    <a:pt x="38" y="102"/>
                  </a:cubicBezTo>
                  <a:cubicBezTo>
                    <a:pt x="48" y="102"/>
                    <a:pt x="56" y="100"/>
                    <a:pt x="63" y="96"/>
                  </a:cubicBezTo>
                  <a:cubicBezTo>
                    <a:pt x="69" y="91"/>
                    <a:pt x="72" y="86"/>
                    <a:pt x="72" y="78"/>
                  </a:cubicBezTo>
                  <a:cubicBezTo>
                    <a:pt x="72" y="70"/>
                    <a:pt x="69" y="64"/>
                    <a:pt x="61" y="60"/>
                  </a:cubicBezTo>
                  <a:cubicBezTo>
                    <a:pt x="57" y="57"/>
                    <a:pt x="49" y="54"/>
                    <a:pt x="37" y="51"/>
                  </a:cubicBezTo>
                  <a:cubicBezTo>
                    <a:pt x="25" y="48"/>
                    <a:pt x="18" y="46"/>
                    <a:pt x="14" y="44"/>
                  </a:cubicBezTo>
                  <a:cubicBezTo>
                    <a:pt x="6" y="39"/>
                    <a:pt x="2" y="33"/>
                    <a:pt x="2" y="25"/>
                  </a:cubicBezTo>
                  <a:cubicBezTo>
                    <a:pt x="2" y="17"/>
                    <a:pt x="6" y="10"/>
                    <a:pt x="13" y="6"/>
                  </a:cubicBezTo>
                  <a:cubicBezTo>
                    <a:pt x="19" y="2"/>
                    <a:pt x="27" y="0"/>
                    <a:pt x="37" y="0"/>
                  </a:cubicBezTo>
                  <a:cubicBezTo>
                    <a:pt x="48" y="0"/>
                    <a:pt x="56" y="3"/>
                    <a:pt x="62" y="8"/>
                  </a:cubicBezTo>
                  <a:close/>
                </a:path>
              </a:pathLst>
            </a:custGeom>
            <a:grpFill/>
            <a:ln w="9525">
              <a:solidFill>
                <a:schemeClr val="accent1"/>
              </a:solidFill>
              <a:round/>
              <a:headEnd/>
              <a:tailEnd/>
            </a:ln>
          </p:spPr>
          <p:txBody>
            <a:bodyPr vert="horz" wrap="square" lIns="91440" tIns="45720" rIns="91440" bIns="45720" numCol="1" anchor="t" anchorCtr="0" compatLnSpc="1">
              <a:prstTxWarp prst="textNoShape">
                <a:avLst/>
              </a:prstTxWarp>
            </a:bodyPr>
            <a:lstStyle/>
            <a:p>
              <a:endParaRPr lang="zh-CN" altLang="en-US"/>
            </a:p>
          </p:txBody>
        </p:sp>
        <p:sp>
          <p:nvSpPr>
            <p:cNvPr id="12" name="Freeform 12">
              <a:extLst>
                <a:ext uri="{FF2B5EF4-FFF2-40B4-BE49-F238E27FC236}">
                  <a16:creationId xmlns:a16="http://schemas.microsoft.com/office/drawing/2014/main" id="{23B3139B-04AF-4AF1-B4D3-14D30FFDB01F}"/>
                </a:ext>
              </a:extLst>
            </p:cNvPr>
            <p:cNvSpPr>
              <a:spLocks/>
            </p:cNvSpPr>
            <p:nvPr/>
          </p:nvSpPr>
          <p:spPr bwMode="auto">
            <a:xfrm>
              <a:off x="3899" y="1942"/>
              <a:ext cx="96" cy="179"/>
            </a:xfrm>
            <a:custGeom>
              <a:avLst/>
              <a:gdLst>
                <a:gd name="T0" fmla="*/ 53 w 56"/>
                <a:gd name="T1" fmla="*/ 0 h 104"/>
                <a:gd name="T2" fmla="*/ 56 w 56"/>
                <a:gd name="T3" fmla="*/ 0 h 104"/>
                <a:gd name="T4" fmla="*/ 56 w 56"/>
                <a:gd name="T5" fmla="*/ 70 h 104"/>
                <a:gd name="T6" fmla="*/ 50 w 56"/>
                <a:gd name="T7" fmla="*/ 94 h 104"/>
                <a:gd name="T8" fmla="*/ 27 w 56"/>
                <a:gd name="T9" fmla="*/ 104 h 104"/>
                <a:gd name="T10" fmla="*/ 8 w 56"/>
                <a:gd name="T11" fmla="*/ 97 h 104"/>
                <a:gd name="T12" fmla="*/ 0 w 56"/>
                <a:gd name="T13" fmla="*/ 75 h 104"/>
                <a:gd name="T14" fmla="*/ 0 w 56"/>
                <a:gd name="T15" fmla="*/ 70 h 104"/>
                <a:gd name="T16" fmla="*/ 3 w 56"/>
                <a:gd name="T17" fmla="*/ 70 h 104"/>
                <a:gd name="T18" fmla="*/ 3 w 56"/>
                <a:gd name="T19" fmla="*/ 75 h 104"/>
                <a:gd name="T20" fmla="*/ 27 w 56"/>
                <a:gd name="T21" fmla="*/ 100 h 104"/>
                <a:gd name="T22" fmla="*/ 47 w 56"/>
                <a:gd name="T23" fmla="*/ 92 h 104"/>
                <a:gd name="T24" fmla="*/ 53 w 56"/>
                <a:gd name="T25" fmla="*/ 70 h 104"/>
                <a:gd name="T26" fmla="*/ 53 w 56"/>
                <a:gd name="T27" fmla="*/ 0 h 10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56" h="104">
                  <a:moveTo>
                    <a:pt x="53" y="0"/>
                  </a:moveTo>
                  <a:cubicBezTo>
                    <a:pt x="56" y="0"/>
                    <a:pt x="56" y="0"/>
                    <a:pt x="56" y="0"/>
                  </a:cubicBezTo>
                  <a:cubicBezTo>
                    <a:pt x="56" y="70"/>
                    <a:pt x="56" y="70"/>
                    <a:pt x="56" y="70"/>
                  </a:cubicBezTo>
                  <a:cubicBezTo>
                    <a:pt x="56" y="80"/>
                    <a:pt x="54" y="88"/>
                    <a:pt x="50" y="94"/>
                  </a:cubicBezTo>
                  <a:cubicBezTo>
                    <a:pt x="45" y="100"/>
                    <a:pt x="37" y="104"/>
                    <a:pt x="27" y="104"/>
                  </a:cubicBezTo>
                  <a:cubicBezTo>
                    <a:pt x="19" y="104"/>
                    <a:pt x="12" y="101"/>
                    <a:pt x="8" y="97"/>
                  </a:cubicBezTo>
                  <a:cubicBezTo>
                    <a:pt x="2" y="92"/>
                    <a:pt x="0" y="84"/>
                    <a:pt x="0" y="75"/>
                  </a:cubicBezTo>
                  <a:cubicBezTo>
                    <a:pt x="0" y="70"/>
                    <a:pt x="0" y="70"/>
                    <a:pt x="0" y="70"/>
                  </a:cubicBezTo>
                  <a:cubicBezTo>
                    <a:pt x="3" y="70"/>
                    <a:pt x="3" y="70"/>
                    <a:pt x="3" y="70"/>
                  </a:cubicBezTo>
                  <a:cubicBezTo>
                    <a:pt x="3" y="75"/>
                    <a:pt x="3" y="75"/>
                    <a:pt x="3" y="75"/>
                  </a:cubicBezTo>
                  <a:cubicBezTo>
                    <a:pt x="3" y="92"/>
                    <a:pt x="11" y="100"/>
                    <a:pt x="27" y="100"/>
                  </a:cubicBezTo>
                  <a:cubicBezTo>
                    <a:pt x="36" y="100"/>
                    <a:pt x="43" y="97"/>
                    <a:pt x="47" y="92"/>
                  </a:cubicBezTo>
                  <a:cubicBezTo>
                    <a:pt x="51" y="87"/>
                    <a:pt x="53" y="80"/>
                    <a:pt x="53" y="70"/>
                  </a:cubicBezTo>
                  <a:lnTo>
                    <a:pt x="53" y="0"/>
                  </a:lnTo>
                  <a:close/>
                </a:path>
              </a:pathLst>
            </a:custGeom>
            <a:grpFill/>
            <a:ln w="9525">
              <a:solidFill>
                <a:schemeClr val="accent1"/>
              </a:solidFill>
              <a:round/>
              <a:headEnd/>
              <a:tailEnd/>
            </a:ln>
          </p:spPr>
          <p:txBody>
            <a:bodyPr vert="horz" wrap="square" lIns="91440" tIns="45720" rIns="91440" bIns="45720" numCol="1" anchor="t" anchorCtr="0" compatLnSpc="1">
              <a:prstTxWarp prst="textNoShape">
                <a:avLst/>
              </a:prstTxWarp>
            </a:bodyPr>
            <a:lstStyle/>
            <a:p>
              <a:endParaRPr lang="zh-CN" altLang="en-US"/>
            </a:p>
          </p:txBody>
        </p:sp>
        <p:sp>
          <p:nvSpPr>
            <p:cNvPr id="13" name="Freeform 13">
              <a:extLst>
                <a:ext uri="{FF2B5EF4-FFF2-40B4-BE49-F238E27FC236}">
                  <a16:creationId xmlns:a16="http://schemas.microsoft.com/office/drawing/2014/main" id="{40C7DC5B-F464-B89C-0AE5-96A349936FFB}"/>
                </a:ext>
              </a:extLst>
            </p:cNvPr>
            <p:cNvSpPr>
              <a:spLocks/>
            </p:cNvSpPr>
            <p:nvPr/>
          </p:nvSpPr>
          <p:spPr bwMode="auto">
            <a:xfrm>
              <a:off x="4019" y="1942"/>
              <a:ext cx="142" cy="175"/>
            </a:xfrm>
            <a:custGeom>
              <a:avLst/>
              <a:gdLst>
                <a:gd name="T0" fmla="*/ 0 w 142"/>
                <a:gd name="T1" fmla="*/ 0 h 175"/>
                <a:gd name="T2" fmla="*/ 142 w 142"/>
                <a:gd name="T3" fmla="*/ 0 h 175"/>
                <a:gd name="T4" fmla="*/ 142 w 142"/>
                <a:gd name="T5" fmla="*/ 5 h 175"/>
                <a:gd name="T6" fmla="*/ 73 w 142"/>
                <a:gd name="T7" fmla="*/ 5 h 175"/>
                <a:gd name="T8" fmla="*/ 73 w 142"/>
                <a:gd name="T9" fmla="*/ 175 h 175"/>
                <a:gd name="T10" fmla="*/ 68 w 142"/>
                <a:gd name="T11" fmla="*/ 175 h 175"/>
                <a:gd name="T12" fmla="*/ 68 w 142"/>
                <a:gd name="T13" fmla="*/ 5 h 175"/>
                <a:gd name="T14" fmla="*/ 0 w 142"/>
                <a:gd name="T15" fmla="*/ 5 h 175"/>
                <a:gd name="T16" fmla="*/ 0 w 142"/>
                <a:gd name="T17" fmla="*/ 0 h 1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42" h="175">
                  <a:moveTo>
                    <a:pt x="0" y="0"/>
                  </a:moveTo>
                  <a:lnTo>
                    <a:pt x="142" y="0"/>
                  </a:lnTo>
                  <a:lnTo>
                    <a:pt x="142" y="5"/>
                  </a:lnTo>
                  <a:lnTo>
                    <a:pt x="73" y="5"/>
                  </a:lnTo>
                  <a:lnTo>
                    <a:pt x="73" y="175"/>
                  </a:lnTo>
                  <a:lnTo>
                    <a:pt x="68" y="175"/>
                  </a:lnTo>
                  <a:lnTo>
                    <a:pt x="68" y="5"/>
                  </a:lnTo>
                  <a:lnTo>
                    <a:pt x="0" y="5"/>
                  </a:lnTo>
                  <a:lnTo>
                    <a:pt x="0" y="0"/>
                  </a:lnTo>
                  <a:close/>
                </a:path>
              </a:pathLst>
            </a:custGeom>
            <a:grpFill/>
            <a:ln w="9525">
              <a:solidFill>
                <a:schemeClr val="accent1"/>
              </a:solidFill>
              <a:round/>
              <a:headEnd/>
              <a:tailEnd/>
            </a:ln>
          </p:spPr>
          <p:txBody>
            <a:bodyPr vert="horz" wrap="square" lIns="91440" tIns="45720" rIns="91440" bIns="45720" numCol="1" anchor="t" anchorCtr="0" compatLnSpc="1">
              <a:prstTxWarp prst="textNoShape">
                <a:avLst/>
              </a:prstTxWarp>
            </a:bodyPr>
            <a:lstStyle/>
            <a:p>
              <a:endParaRPr lang="zh-CN" altLang="en-US"/>
            </a:p>
          </p:txBody>
        </p:sp>
        <p:sp>
          <p:nvSpPr>
            <p:cNvPr id="14" name="Freeform 14">
              <a:extLst>
                <a:ext uri="{FF2B5EF4-FFF2-40B4-BE49-F238E27FC236}">
                  <a16:creationId xmlns:a16="http://schemas.microsoft.com/office/drawing/2014/main" id="{8DD24AFE-DB7C-41A7-648D-065EBC6330A9}"/>
                </a:ext>
              </a:extLst>
            </p:cNvPr>
            <p:cNvSpPr>
              <a:spLocks/>
            </p:cNvSpPr>
            <p:nvPr/>
          </p:nvSpPr>
          <p:spPr bwMode="auto">
            <a:xfrm>
              <a:off x="4183" y="1942"/>
              <a:ext cx="130" cy="179"/>
            </a:xfrm>
            <a:custGeom>
              <a:avLst/>
              <a:gdLst>
                <a:gd name="T0" fmla="*/ 0 w 76"/>
                <a:gd name="T1" fmla="*/ 0 h 104"/>
                <a:gd name="T2" fmla="*/ 4 w 76"/>
                <a:gd name="T3" fmla="*/ 0 h 104"/>
                <a:gd name="T4" fmla="*/ 4 w 76"/>
                <a:gd name="T5" fmla="*/ 62 h 104"/>
                <a:gd name="T6" fmla="*/ 12 w 76"/>
                <a:gd name="T7" fmla="*/ 90 h 104"/>
                <a:gd name="T8" fmla="*/ 38 w 76"/>
                <a:gd name="T9" fmla="*/ 100 h 104"/>
                <a:gd name="T10" fmla="*/ 65 w 76"/>
                <a:gd name="T11" fmla="*/ 90 h 104"/>
                <a:gd name="T12" fmla="*/ 73 w 76"/>
                <a:gd name="T13" fmla="*/ 62 h 104"/>
                <a:gd name="T14" fmla="*/ 73 w 76"/>
                <a:gd name="T15" fmla="*/ 0 h 104"/>
                <a:gd name="T16" fmla="*/ 76 w 76"/>
                <a:gd name="T17" fmla="*/ 0 h 104"/>
                <a:gd name="T18" fmla="*/ 76 w 76"/>
                <a:gd name="T19" fmla="*/ 62 h 104"/>
                <a:gd name="T20" fmla="*/ 68 w 76"/>
                <a:gd name="T21" fmla="*/ 92 h 104"/>
                <a:gd name="T22" fmla="*/ 38 w 76"/>
                <a:gd name="T23" fmla="*/ 104 h 104"/>
                <a:gd name="T24" fmla="*/ 9 w 76"/>
                <a:gd name="T25" fmla="*/ 92 h 104"/>
                <a:gd name="T26" fmla="*/ 0 w 76"/>
                <a:gd name="T27" fmla="*/ 62 h 104"/>
                <a:gd name="T28" fmla="*/ 0 w 76"/>
                <a:gd name="T29" fmla="*/ 0 h 10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76" h="104">
                  <a:moveTo>
                    <a:pt x="0" y="0"/>
                  </a:moveTo>
                  <a:cubicBezTo>
                    <a:pt x="4" y="0"/>
                    <a:pt x="4" y="0"/>
                    <a:pt x="4" y="0"/>
                  </a:cubicBezTo>
                  <a:cubicBezTo>
                    <a:pt x="4" y="62"/>
                    <a:pt x="4" y="62"/>
                    <a:pt x="4" y="62"/>
                  </a:cubicBezTo>
                  <a:cubicBezTo>
                    <a:pt x="4" y="74"/>
                    <a:pt x="6" y="83"/>
                    <a:pt x="12" y="90"/>
                  </a:cubicBezTo>
                  <a:cubicBezTo>
                    <a:pt x="17" y="97"/>
                    <a:pt x="26" y="100"/>
                    <a:pt x="38" y="100"/>
                  </a:cubicBezTo>
                  <a:cubicBezTo>
                    <a:pt x="50" y="100"/>
                    <a:pt x="59" y="97"/>
                    <a:pt x="65" y="90"/>
                  </a:cubicBezTo>
                  <a:cubicBezTo>
                    <a:pt x="70" y="83"/>
                    <a:pt x="73" y="74"/>
                    <a:pt x="73" y="62"/>
                  </a:cubicBezTo>
                  <a:cubicBezTo>
                    <a:pt x="73" y="0"/>
                    <a:pt x="73" y="0"/>
                    <a:pt x="73" y="0"/>
                  </a:cubicBezTo>
                  <a:cubicBezTo>
                    <a:pt x="76" y="0"/>
                    <a:pt x="76" y="0"/>
                    <a:pt x="76" y="0"/>
                  </a:cubicBezTo>
                  <a:cubicBezTo>
                    <a:pt x="76" y="62"/>
                    <a:pt x="76" y="62"/>
                    <a:pt x="76" y="62"/>
                  </a:cubicBezTo>
                  <a:cubicBezTo>
                    <a:pt x="76" y="75"/>
                    <a:pt x="73" y="85"/>
                    <a:pt x="68" y="92"/>
                  </a:cubicBezTo>
                  <a:cubicBezTo>
                    <a:pt x="61" y="100"/>
                    <a:pt x="52" y="104"/>
                    <a:pt x="38" y="104"/>
                  </a:cubicBezTo>
                  <a:cubicBezTo>
                    <a:pt x="25" y="104"/>
                    <a:pt x="15" y="100"/>
                    <a:pt x="9" y="92"/>
                  </a:cubicBezTo>
                  <a:cubicBezTo>
                    <a:pt x="3" y="85"/>
                    <a:pt x="0" y="75"/>
                    <a:pt x="0" y="62"/>
                  </a:cubicBezTo>
                  <a:lnTo>
                    <a:pt x="0" y="0"/>
                  </a:lnTo>
                  <a:close/>
                </a:path>
              </a:pathLst>
            </a:custGeom>
            <a:grpFill/>
            <a:ln w="9525">
              <a:solidFill>
                <a:schemeClr val="accent1"/>
              </a:solidFill>
              <a:round/>
              <a:headEnd/>
              <a:tailEnd/>
            </a:ln>
          </p:spPr>
          <p:txBody>
            <a:bodyPr vert="horz" wrap="square" lIns="91440" tIns="45720" rIns="91440" bIns="45720" numCol="1" anchor="t" anchorCtr="0" compatLnSpc="1">
              <a:prstTxWarp prst="textNoShape">
                <a:avLst/>
              </a:prstTxWarp>
            </a:bodyPr>
            <a:lstStyle/>
            <a:p>
              <a:endParaRPr lang="zh-CN" altLang="en-US"/>
            </a:p>
          </p:txBody>
        </p:sp>
      </p:grpSp>
      <p:cxnSp>
        <p:nvCxnSpPr>
          <p:cNvPr id="15" name="直接连接符 17">
            <a:extLst>
              <a:ext uri="{FF2B5EF4-FFF2-40B4-BE49-F238E27FC236}">
                <a16:creationId xmlns:a16="http://schemas.microsoft.com/office/drawing/2014/main" id="{3F36BA57-757F-6801-E22B-9A2E3C4F887B}"/>
              </a:ext>
            </a:extLst>
          </p:cNvPr>
          <p:cNvCxnSpPr>
            <a:cxnSpLocks/>
            <a:stCxn id="7" idx="36"/>
          </p:cNvCxnSpPr>
          <p:nvPr userDrawn="1"/>
        </p:nvCxnSpPr>
        <p:spPr>
          <a:xfrm flipH="1">
            <a:off x="-24384" y="738423"/>
            <a:ext cx="9630228" cy="0"/>
          </a:xfrm>
          <a:prstGeom prst="line">
            <a:avLst/>
          </a:prstGeom>
          <a:ln w="25400"/>
        </p:spPr>
        <p:style>
          <a:lnRef idx="1">
            <a:schemeClr val="accent1"/>
          </a:lnRef>
          <a:fillRef idx="0">
            <a:schemeClr val="accent1"/>
          </a:fillRef>
          <a:effectRef idx="0">
            <a:schemeClr val="accent1"/>
          </a:effectRef>
          <a:fontRef idx="minor">
            <a:schemeClr val="tx1"/>
          </a:fontRef>
        </p:style>
      </p:cxnSp>
      <p:sp>
        <p:nvSpPr>
          <p:cNvPr id="19" name="矩形 18">
            <a:extLst>
              <a:ext uri="{FF2B5EF4-FFF2-40B4-BE49-F238E27FC236}">
                <a16:creationId xmlns:a16="http://schemas.microsoft.com/office/drawing/2014/main" id="{E710279A-60E4-3F80-6851-51115AF903DC}"/>
              </a:ext>
            </a:extLst>
          </p:cNvPr>
          <p:cNvSpPr/>
          <p:nvPr userDrawn="1"/>
        </p:nvSpPr>
        <p:spPr>
          <a:xfrm>
            <a:off x="-24390" y="6600859"/>
            <a:ext cx="12216368" cy="266722"/>
          </a:xfrm>
          <a:prstGeom prst="rect">
            <a:avLst/>
          </a:prstGeom>
          <a:gradFill>
            <a:gsLst>
              <a:gs pos="0">
                <a:srgbClr val="004099"/>
              </a:gs>
              <a:gs pos="100000">
                <a:srgbClr val="316EE2"/>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solidFill>
                <a:prstClr val="white"/>
              </a:solidFill>
              <a:latin typeface="Arial" panose="020B0604020202020204"/>
              <a:ea typeface="微软雅黑" panose="020B0503020204020204" charset="-122"/>
            </a:endParaRPr>
          </a:p>
        </p:txBody>
      </p:sp>
      <p:sp>
        <p:nvSpPr>
          <p:cNvPr id="20" name="文本框 19">
            <a:extLst>
              <a:ext uri="{FF2B5EF4-FFF2-40B4-BE49-F238E27FC236}">
                <a16:creationId xmlns:a16="http://schemas.microsoft.com/office/drawing/2014/main" id="{B90E7174-A6EE-0EF6-87DA-36200E8DF441}"/>
              </a:ext>
            </a:extLst>
          </p:cNvPr>
          <p:cNvSpPr txBox="1"/>
          <p:nvPr userDrawn="1"/>
        </p:nvSpPr>
        <p:spPr>
          <a:xfrm>
            <a:off x="8529289" y="6658827"/>
            <a:ext cx="3448059" cy="153888"/>
          </a:xfrm>
          <a:prstGeom prst="rect">
            <a:avLst/>
          </a:prstGeom>
          <a:noFill/>
        </p:spPr>
        <p:txBody>
          <a:bodyPr wrap="none" lIns="0" tIns="0" rIns="0" bIns="0" rtlCol="0">
            <a:spAutoFit/>
          </a:bodyPr>
          <a:lstStyle/>
          <a:p>
            <a:pPr marL="0" marR="0" lvl="0" indent="0" algn="r" defTabSz="914400" rtl="0" eaLnBrk="1" fontAlgn="auto" latinLnBrk="0" hangingPunct="1">
              <a:lnSpc>
                <a:spcPct val="100000"/>
              </a:lnSpc>
              <a:spcBef>
                <a:spcPts val="0"/>
              </a:spcBef>
              <a:spcAft>
                <a:spcPts val="0"/>
              </a:spcAft>
              <a:buClrTx/>
              <a:buSzTx/>
              <a:buFontTx/>
              <a:buNone/>
              <a:defRPr/>
            </a:pPr>
            <a:r>
              <a:rPr lang="en-US" altLang="zh-CN" sz="1000" b="1" spc="300" dirty="0">
                <a:solidFill>
                  <a:prstClr val="white"/>
                </a:solidFill>
                <a:latin typeface="微软雅黑" panose="020B0503020204020204" charset="-122"/>
                <a:ea typeface="微软雅黑" panose="020B0503020204020204" charset="-122"/>
                <a:cs typeface="Arial" panose="020B0604020202020204" pitchFamily="34" charset="0"/>
              </a:rPr>
              <a:t>SHANGHAI JIAO TONG UNIVERSITY</a:t>
            </a:r>
          </a:p>
        </p:txBody>
      </p:sp>
      <p:sp>
        <p:nvSpPr>
          <p:cNvPr id="21" name="文本框 20">
            <a:extLst>
              <a:ext uri="{FF2B5EF4-FFF2-40B4-BE49-F238E27FC236}">
                <a16:creationId xmlns:a16="http://schemas.microsoft.com/office/drawing/2014/main" id="{047425CF-36A3-44B4-91F2-4AC5034C5ABC}"/>
              </a:ext>
            </a:extLst>
          </p:cNvPr>
          <p:cNvSpPr txBox="1"/>
          <p:nvPr userDrawn="1"/>
        </p:nvSpPr>
        <p:spPr>
          <a:xfrm>
            <a:off x="561142" y="6654203"/>
            <a:ext cx="1516441" cy="169277"/>
          </a:xfrm>
          <a:prstGeom prst="rect">
            <a:avLst/>
          </a:prstGeom>
          <a:noFill/>
        </p:spPr>
        <p:txBody>
          <a:bodyPr wrap="none" lIns="0" tIns="0" rIns="0" bIns="0" rtlCol="0">
            <a:spAutoFit/>
          </a:bodyPr>
          <a:lstStyle/>
          <a:p>
            <a:pPr marL="0" marR="0" lvl="0" indent="0" algn="r" defTabSz="914400" rtl="0" eaLnBrk="1" fontAlgn="auto" latinLnBrk="0" hangingPunct="1">
              <a:lnSpc>
                <a:spcPct val="100000"/>
              </a:lnSpc>
              <a:spcBef>
                <a:spcPts val="0"/>
              </a:spcBef>
              <a:spcAft>
                <a:spcPts val="0"/>
              </a:spcAft>
              <a:buClrTx/>
              <a:buSzTx/>
              <a:buFontTx/>
              <a:buNone/>
              <a:defRPr/>
            </a:pPr>
            <a:r>
              <a:rPr lang="zh-CN" altLang="en-US" sz="1100" b="1" kern="1200" spc="300" dirty="0">
                <a:solidFill>
                  <a:prstClr val="white"/>
                </a:solidFill>
                <a:latin typeface="微软雅黑" panose="020B0503020204020204" charset="-122"/>
                <a:ea typeface="微软雅黑" panose="020B0503020204020204" charset="-122"/>
                <a:cs typeface="Arial" panose="020B0604020202020204" pitchFamily="34" charset="0"/>
              </a:rPr>
              <a:t>饮水思源 爱国荣校</a:t>
            </a:r>
          </a:p>
        </p:txBody>
      </p:sp>
      <p:sp>
        <p:nvSpPr>
          <p:cNvPr id="30" name="Slide Number Placeholder 3">
            <a:extLst>
              <a:ext uri="{FF2B5EF4-FFF2-40B4-BE49-F238E27FC236}">
                <a16:creationId xmlns:a16="http://schemas.microsoft.com/office/drawing/2014/main" id="{E784E10A-CE8B-5BC2-04ED-D3EF7F1CC5C9}"/>
              </a:ext>
            </a:extLst>
          </p:cNvPr>
          <p:cNvSpPr txBox="1">
            <a:spLocks/>
          </p:cNvSpPr>
          <p:nvPr userDrawn="1"/>
        </p:nvSpPr>
        <p:spPr>
          <a:xfrm>
            <a:off x="10155019" y="6224187"/>
            <a:ext cx="1989531" cy="293992"/>
          </a:xfrm>
          <a:prstGeom prst="rect">
            <a:avLst/>
          </a:prstGeom>
        </p:spPr>
        <p:txBody>
          <a:bodyPr anchor="ctr"/>
          <a:lstStyle>
            <a:defPPr>
              <a:defRPr lang="en-US"/>
            </a:defPPr>
            <a:lvl1pPr marL="0" algn="l" defTabSz="457200" rtl="0" eaLnBrk="1" latinLnBrk="0" hangingPunct="1">
              <a:defRPr sz="1400" b="1" kern="1200">
                <a:solidFill>
                  <a:schemeClr val="bg1">
                    <a:lumMod val="95000"/>
                  </a:schemeClr>
                </a:solidFill>
                <a:latin typeface="微软雅黑" panose="020B0503020204020204" pitchFamily="34" charset="-122"/>
                <a:ea typeface="微软雅黑" panose="020B0503020204020204" pitchFamily="34" charset="-122"/>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r"/>
            <a:fld id="{9BD7ADC6-30BD-4A57-B412-79A6F3368C20}" type="slidenum">
              <a:rPr lang="zh-CN" altLang="en-US" sz="2800" smtClean="0">
                <a:solidFill>
                  <a:schemeClr val="tx1"/>
                </a:solidFill>
              </a:rPr>
              <a:pPr algn="r"/>
              <a:t>‹#›</a:t>
            </a:fld>
            <a:endParaRPr lang="zh-CN" altLang="en-US" sz="2800" dirty="0">
              <a:solidFill>
                <a:schemeClr val="tx1"/>
              </a:solidFill>
            </a:endParaRPr>
          </a:p>
        </p:txBody>
      </p:sp>
    </p:spTree>
    <p:extLst>
      <p:ext uri="{BB962C8B-B14F-4D97-AF65-F5344CB8AC3E}">
        <p14:creationId xmlns:p14="http://schemas.microsoft.com/office/powerpoint/2010/main" val="144629477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章节标题">
    <p:spTree>
      <p:nvGrpSpPr>
        <p:cNvPr id="1" name=""/>
        <p:cNvGrpSpPr/>
        <p:nvPr/>
      </p:nvGrpSpPr>
      <p:grpSpPr>
        <a:xfrm>
          <a:off x="0" y="0"/>
          <a:ext cx="0" cy="0"/>
          <a:chOff x="0" y="0"/>
          <a:chExt cx="0" cy="0"/>
        </a:xfrm>
      </p:grpSpPr>
      <p:cxnSp>
        <p:nvCxnSpPr>
          <p:cNvPr id="3" name="直接连接符 2">
            <a:extLst>
              <a:ext uri="{FF2B5EF4-FFF2-40B4-BE49-F238E27FC236}">
                <a16:creationId xmlns:a16="http://schemas.microsoft.com/office/drawing/2014/main" id="{B00DD0E0-C0EF-BE37-B086-B7286743C9E0}"/>
              </a:ext>
            </a:extLst>
          </p:cNvPr>
          <p:cNvCxnSpPr>
            <a:cxnSpLocks/>
          </p:cNvCxnSpPr>
          <p:nvPr userDrawn="1"/>
        </p:nvCxnSpPr>
        <p:spPr>
          <a:xfrm flipV="1">
            <a:off x="794" y="859906"/>
            <a:ext cx="12190413" cy="13994"/>
          </a:xfrm>
          <a:prstGeom prst="line">
            <a:avLst/>
          </a:prstGeom>
          <a:ln w="57150">
            <a:gradFill flip="none" rotWithShape="1">
              <a:gsLst>
                <a:gs pos="0">
                  <a:srgbClr val="E24C53"/>
                </a:gs>
                <a:gs pos="100000">
                  <a:srgbClr val="A03A63"/>
                </a:gs>
              </a:gsLst>
              <a:path path="shape">
                <a:fillToRect l="50000" t="50000" r="50000" b="50000"/>
              </a:path>
              <a:tileRect/>
            </a:gradFill>
          </a:ln>
        </p:spPr>
        <p:style>
          <a:lnRef idx="1">
            <a:schemeClr val="accent1"/>
          </a:lnRef>
          <a:fillRef idx="0">
            <a:schemeClr val="accent1"/>
          </a:fillRef>
          <a:effectRef idx="0">
            <a:schemeClr val="accent1"/>
          </a:effectRef>
          <a:fontRef idx="minor">
            <a:schemeClr val="tx1"/>
          </a:fontRef>
        </p:style>
      </p:cxnSp>
      <p:sp>
        <p:nvSpPr>
          <p:cNvPr id="7" name="矩形 6">
            <a:extLst>
              <a:ext uri="{FF2B5EF4-FFF2-40B4-BE49-F238E27FC236}">
                <a16:creationId xmlns:a16="http://schemas.microsoft.com/office/drawing/2014/main" id="{4B72236C-40AE-1938-0188-2E988E8D5875}"/>
              </a:ext>
            </a:extLst>
          </p:cNvPr>
          <p:cNvSpPr/>
          <p:nvPr userDrawn="1"/>
        </p:nvSpPr>
        <p:spPr>
          <a:xfrm>
            <a:off x="5650117" y="0"/>
            <a:ext cx="2180363" cy="886416"/>
          </a:xfrm>
          <a:prstGeom prst="rect">
            <a:avLst/>
          </a:prstGeom>
          <a:solidFill>
            <a:srgbClr val="BC1F26"/>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zh-CN" altLang="en-US"/>
          </a:p>
        </p:txBody>
      </p:sp>
      <p:sp>
        <p:nvSpPr>
          <p:cNvPr id="56" name="矩形 55"/>
          <p:cNvSpPr/>
          <p:nvPr userDrawn="1"/>
        </p:nvSpPr>
        <p:spPr>
          <a:xfrm>
            <a:off x="0" y="6570000"/>
            <a:ext cx="12192000" cy="288000"/>
          </a:xfrm>
          <a:prstGeom prst="rect">
            <a:avLst/>
          </a:prstGeom>
          <a:gradFill>
            <a:gsLst>
              <a:gs pos="0">
                <a:srgbClr val="E24C53"/>
              </a:gs>
              <a:gs pos="100000">
                <a:srgbClr val="BD4778"/>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solidFill>
                <a:prstClr val="white"/>
              </a:solidFill>
              <a:latin typeface="Arial" panose="020B0604020202020204"/>
              <a:ea typeface="微软雅黑" panose="020B0503020204020204" charset="-122"/>
            </a:endParaRPr>
          </a:p>
        </p:txBody>
      </p:sp>
      <p:sp>
        <p:nvSpPr>
          <p:cNvPr id="15" name="文本框 14">
            <a:extLst>
              <a:ext uri="{FF2B5EF4-FFF2-40B4-BE49-F238E27FC236}">
                <a16:creationId xmlns:a16="http://schemas.microsoft.com/office/drawing/2014/main" id="{AC455255-C33C-1FC9-F766-1917ED91CDFB}"/>
              </a:ext>
            </a:extLst>
          </p:cNvPr>
          <p:cNvSpPr txBox="1"/>
          <p:nvPr userDrawn="1"/>
        </p:nvSpPr>
        <p:spPr>
          <a:xfrm>
            <a:off x="8176295" y="157727"/>
            <a:ext cx="1617332" cy="523220"/>
          </a:xfrm>
          <a:prstGeom prst="rect">
            <a:avLst/>
          </a:prstGeom>
          <a:noFill/>
        </p:spPr>
        <p:txBody>
          <a:bodyPr wrap="square" rtlCol="0">
            <a:spAutoFit/>
          </a:bodyPr>
          <a:lstStyle/>
          <a:p>
            <a:r>
              <a:rPr lang="zh-CN" altLang="en-US" sz="2800" b="1" dirty="0">
                <a:solidFill>
                  <a:schemeClr val="bg2">
                    <a:lumMod val="50000"/>
                  </a:schemeClr>
                </a:solidFill>
                <a:latin typeface="+mj-ea"/>
                <a:ea typeface="+mj-ea"/>
              </a:rPr>
              <a:t>科研竞赛</a:t>
            </a:r>
            <a:endParaRPr lang="en-US" altLang="zh-CN" sz="2800" b="1" dirty="0">
              <a:solidFill>
                <a:schemeClr val="bg2">
                  <a:lumMod val="50000"/>
                </a:schemeClr>
              </a:solidFill>
              <a:latin typeface="+mj-ea"/>
              <a:ea typeface="+mj-ea"/>
            </a:endParaRPr>
          </a:p>
        </p:txBody>
      </p:sp>
      <p:sp>
        <p:nvSpPr>
          <p:cNvPr id="17" name="文本框 16">
            <a:extLst>
              <a:ext uri="{FF2B5EF4-FFF2-40B4-BE49-F238E27FC236}">
                <a16:creationId xmlns:a16="http://schemas.microsoft.com/office/drawing/2014/main" id="{6C3C0276-540F-907E-9094-17FB71558E51}"/>
              </a:ext>
            </a:extLst>
          </p:cNvPr>
          <p:cNvSpPr txBox="1"/>
          <p:nvPr userDrawn="1"/>
        </p:nvSpPr>
        <p:spPr>
          <a:xfrm>
            <a:off x="10332026" y="157727"/>
            <a:ext cx="1617331" cy="523220"/>
          </a:xfrm>
          <a:prstGeom prst="rect">
            <a:avLst/>
          </a:prstGeom>
          <a:noFill/>
        </p:spPr>
        <p:txBody>
          <a:bodyPr wrap="square" rtlCol="0">
            <a:spAutoFit/>
          </a:bodyPr>
          <a:lstStyle/>
          <a:p>
            <a:r>
              <a:rPr lang="zh-CN" altLang="en-US" sz="2800" b="1" dirty="0">
                <a:solidFill>
                  <a:schemeClr val="bg2">
                    <a:lumMod val="50000"/>
                  </a:schemeClr>
                </a:solidFill>
                <a:latin typeface="+mj-ea"/>
                <a:ea typeface="+mj-ea"/>
              </a:rPr>
              <a:t>实践经历</a:t>
            </a:r>
            <a:endParaRPr lang="en-US" altLang="zh-CN" sz="2800" b="1" dirty="0">
              <a:solidFill>
                <a:schemeClr val="bg2">
                  <a:lumMod val="50000"/>
                </a:schemeClr>
              </a:solidFill>
              <a:latin typeface="+mj-ea"/>
              <a:ea typeface="+mj-ea"/>
            </a:endParaRPr>
          </a:p>
        </p:txBody>
      </p:sp>
      <p:sp>
        <p:nvSpPr>
          <p:cNvPr id="8" name="文本框 7">
            <a:extLst>
              <a:ext uri="{FF2B5EF4-FFF2-40B4-BE49-F238E27FC236}">
                <a16:creationId xmlns:a16="http://schemas.microsoft.com/office/drawing/2014/main" id="{2E5B1991-FD96-6F12-AD20-EE4EE5BE52FE}"/>
              </a:ext>
            </a:extLst>
          </p:cNvPr>
          <p:cNvSpPr txBox="1"/>
          <p:nvPr userDrawn="1"/>
        </p:nvSpPr>
        <p:spPr>
          <a:xfrm>
            <a:off x="5912713" y="162839"/>
            <a:ext cx="1655170" cy="523220"/>
          </a:xfrm>
          <a:prstGeom prst="rect">
            <a:avLst/>
          </a:prstGeom>
          <a:noFill/>
        </p:spPr>
        <p:txBody>
          <a:bodyPr wrap="square" rtlCol="0">
            <a:spAutoFit/>
          </a:bodyPr>
          <a:lstStyle/>
          <a:p>
            <a:r>
              <a:rPr lang="zh-CN" altLang="en-US" sz="2800" b="1" dirty="0">
                <a:solidFill>
                  <a:schemeClr val="bg1"/>
                </a:solidFill>
                <a:latin typeface="+mj-ea"/>
                <a:ea typeface="+mj-ea"/>
              </a:rPr>
              <a:t>教育背景</a:t>
            </a:r>
            <a:endParaRPr lang="en-US" altLang="zh-CN" sz="2800" b="1" dirty="0">
              <a:solidFill>
                <a:schemeClr val="bg1"/>
              </a:solidFill>
              <a:latin typeface="+mj-ea"/>
              <a:ea typeface="+mj-ea"/>
            </a:endParaRPr>
          </a:p>
        </p:txBody>
      </p:sp>
      <p:pic>
        <p:nvPicPr>
          <p:cNvPr id="5" name="图片 4">
            <a:extLst>
              <a:ext uri="{FF2B5EF4-FFF2-40B4-BE49-F238E27FC236}">
                <a16:creationId xmlns:a16="http://schemas.microsoft.com/office/drawing/2014/main" id="{02865ADC-E31C-355A-5F73-B25F44C3404A}"/>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04974" y="105885"/>
            <a:ext cx="2293399" cy="646531"/>
          </a:xfrm>
          <a:prstGeom prst="rect">
            <a:avLst/>
          </a:prstGeom>
        </p:spPr>
      </p:pic>
      <p:pic>
        <p:nvPicPr>
          <p:cNvPr id="10" name="Picture 2">
            <a:extLst>
              <a:ext uri="{FF2B5EF4-FFF2-40B4-BE49-F238E27FC236}">
                <a16:creationId xmlns:a16="http://schemas.microsoft.com/office/drawing/2014/main" id="{7F393505-52C7-A2F6-8574-8FC7BB546C51}"/>
              </a:ext>
            </a:extLst>
          </p:cNvPr>
          <p:cNvPicPr>
            <a:picLocks noChangeAspect="1" noChangeArrowheads="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2488974" y="166321"/>
            <a:ext cx="3119533" cy="498418"/>
          </a:xfrm>
          <a:prstGeom prst="rect">
            <a:avLst/>
          </a:prstGeom>
          <a:noFill/>
          <a:extLst>
            <a:ext uri="{909E8E84-426E-40DD-AFC4-6F175D3DCCD1}">
              <a14:hiddenFill xmlns:a14="http://schemas.microsoft.com/office/drawing/2010/main">
                <a:solidFill>
                  <a:srgbClr val="FFFFFF"/>
                </a:solidFill>
              </a14:hiddenFill>
            </a:ext>
          </a:extLst>
        </p:spPr>
      </p:pic>
      <p:sp>
        <p:nvSpPr>
          <p:cNvPr id="12" name="文本框 11">
            <a:extLst>
              <a:ext uri="{FF2B5EF4-FFF2-40B4-BE49-F238E27FC236}">
                <a16:creationId xmlns:a16="http://schemas.microsoft.com/office/drawing/2014/main" id="{EC9487CB-7793-4B0D-9421-AB3C9D4E6E5A}"/>
              </a:ext>
            </a:extLst>
          </p:cNvPr>
          <p:cNvSpPr txBox="1"/>
          <p:nvPr userDrawn="1"/>
        </p:nvSpPr>
        <p:spPr>
          <a:xfrm>
            <a:off x="8309677" y="6637055"/>
            <a:ext cx="3667671" cy="153888"/>
          </a:xfrm>
          <a:prstGeom prst="rect">
            <a:avLst/>
          </a:prstGeom>
          <a:noFill/>
        </p:spPr>
        <p:txBody>
          <a:bodyPr wrap="none" lIns="0" tIns="0" rIns="0" bIns="0" rtlCol="0">
            <a:spAutoFit/>
          </a:bodyPr>
          <a:lstStyle/>
          <a:p>
            <a:pPr marL="0" marR="0" lvl="0" indent="0" algn="r" defTabSz="914400" rtl="0" eaLnBrk="1" fontAlgn="auto" latinLnBrk="0" hangingPunct="1">
              <a:lnSpc>
                <a:spcPct val="100000"/>
              </a:lnSpc>
              <a:spcBef>
                <a:spcPts val="0"/>
              </a:spcBef>
              <a:spcAft>
                <a:spcPts val="0"/>
              </a:spcAft>
              <a:buClrTx/>
              <a:buSzTx/>
              <a:buFontTx/>
              <a:buNone/>
              <a:defRPr/>
            </a:pPr>
            <a:r>
              <a:rPr lang="en-US" altLang="zh-CN" sz="1000" b="1" spc="300" dirty="0">
                <a:solidFill>
                  <a:prstClr val="white"/>
                </a:solidFill>
                <a:latin typeface="微软雅黑" panose="020B0503020204020204" charset="-122"/>
                <a:ea typeface="微软雅黑" panose="020B0503020204020204" charset="-122"/>
                <a:cs typeface="Arial" panose="020B0604020202020204" pitchFamily="34" charset="0"/>
              </a:rPr>
              <a:t>SOUTHWEST  JIAOTONG  UNIVERSITY</a:t>
            </a:r>
          </a:p>
        </p:txBody>
      </p:sp>
      <p:sp>
        <p:nvSpPr>
          <p:cNvPr id="13" name="文本框 12">
            <a:extLst>
              <a:ext uri="{FF2B5EF4-FFF2-40B4-BE49-F238E27FC236}">
                <a16:creationId xmlns:a16="http://schemas.microsoft.com/office/drawing/2014/main" id="{B70E8FFE-071B-E749-75DD-FA0B80442C5B}"/>
              </a:ext>
            </a:extLst>
          </p:cNvPr>
          <p:cNvSpPr txBox="1"/>
          <p:nvPr userDrawn="1"/>
        </p:nvSpPr>
        <p:spPr>
          <a:xfrm>
            <a:off x="480991" y="6643317"/>
            <a:ext cx="1596592" cy="169277"/>
          </a:xfrm>
          <a:prstGeom prst="rect">
            <a:avLst/>
          </a:prstGeom>
          <a:noFill/>
        </p:spPr>
        <p:txBody>
          <a:bodyPr wrap="none" lIns="0" tIns="0" rIns="0" bIns="0" rtlCol="0">
            <a:spAutoFit/>
          </a:bodyPr>
          <a:lstStyle/>
          <a:p>
            <a:pPr marL="0" marR="0" lvl="0" indent="0" algn="r" defTabSz="914400" rtl="0" eaLnBrk="1" fontAlgn="auto" latinLnBrk="0" hangingPunct="1">
              <a:lnSpc>
                <a:spcPct val="100000"/>
              </a:lnSpc>
              <a:spcBef>
                <a:spcPts val="0"/>
              </a:spcBef>
              <a:spcAft>
                <a:spcPts val="0"/>
              </a:spcAft>
              <a:buClrTx/>
              <a:buSzTx/>
              <a:buFontTx/>
              <a:buNone/>
              <a:defRPr/>
            </a:pPr>
            <a:r>
              <a:rPr lang="zh-CN" altLang="en-US" sz="1100" b="1" kern="1200" spc="300" dirty="0">
                <a:solidFill>
                  <a:prstClr val="white"/>
                </a:solidFill>
                <a:latin typeface="微软雅黑" panose="020B0503020204020204" charset="-122"/>
                <a:ea typeface="微软雅黑" panose="020B0503020204020204" charset="-122"/>
                <a:cs typeface="Arial" panose="020B0604020202020204" pitchFamily="34" charset="0"/>
              </a:rPr>
              <a:t>竢实扬华  自强不息</a:t>
            </a:r>
          </a:p>
        </p:txBody>
      </p:sp>
    </p:spTree>
    <p:extLst>
      <p:ext uri="{BB962C8B-B14F-4D97-AF65-F5344CB8AC3E}">
        <p14:creationId xmlns:p14="http://schemas.microsoft.com/office/powerpoint/2010/main" val="3353510695"/>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896904367"/>
      </p:ext>
    </p:extLst>
  </p:cSld>
  <p:clrMap bg1="lt1" tx1="dk1" bg2="lt2" tx2="dk2" accent1="accent1" accent2="accent2" accent3="accent3" accent4="accent4" accent5="accent5" accent6="accent6" hlink="hlink" folHlink="folHlink"/>
  <p:sldLayoutIdLst>
    <p:sldLayoutId id="2147483656" r:id="rId1"/>
    <p:sldLayoutId id="2147483654" r:id="rId2"/>
    <p:sldLayoutId id="2147483658" r:id="rId3"/>
  </p:sldLayoutIdLst>
  <p:hf hdr="0" ftr="0" dt="0"/>
  <p:txStyles>
    <p:titleStyle>
      <a:lvl1pPr algn="l" defTabSz="914400" rtl="0" eaLnBrk="1" latinLnBrk="0" hangingPunct="1">
        <a:lnSpc>
          <a:spcPct val="90000"/>
        </a:lnSpc>
        <a:spcBef>
          <a:spcPct val="0"/>
        </a:spcBef>
        <a:buNone/>
        <a:defRPr sz="3600" b="1"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pos="304" userDrawn="1">
          <p15:clr>
            <a:srgbClr val="F26B43"/>
          </p15:clr>
        </p15:guide>
        <p15:guide id="2" pos="7368" userDrawn="1">
          <p15:clr>
            <a:srgbClr val="F26B43"/>
          </p15:clr>
        </p15:guide>
        <p15:guide id="3" orient="horz" pos="472" userDrawn="1">
          <p15:clr>
            <a:srgbClr val="F26B43"/>
          </p15:clr>
        </p15:guide>
        <p15:guide id="4" orient="horz" pos="4144" userDrawn="1">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2.png"/><Relationship Id="rId1" Type="http://schemas.openxmlformats.org/officeDocument/2006/relationships/slideLayout" Target="../slideLayouts/slideLayout2.xml"/><Relationship Id="rId4" Type="http://schemas.openxmlformats.org/officeDocument/2006/relationships/image" Target="../media/image24.png"/></Relationships>
</file>

<file path=ppt/slides/_rels/slide22.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914400" y="3998240"/>
            <a:ext cx="10363200" cy="1280160"/>
          </a:xfrm>
          <a:prstGeom prst="rect">
            <a:avLst/>
          </a:prstGeom>
          <a:noFill/>
        </p:spPr>
        <p:txBody>
          <a:bodyPr wrap="square" lIns="25400" tIns="25400" rIns="25400" bIns="25400" anchor="ctr">
            <a:spAutoFit/>
          </a:bodyPr>
          <a:lstStyle/>
          <a:p>
            <a:pPr algn="ctr">
              <a:spcBef>
                <a:spcPts val="0"/>
              </a:spcBef>
              <a:spcAft>
                <a:spcPts val="600"/>
              </a:spcAft>
            </a:pPr>
            <a:r>
              <a:rPr sz="3200" b="1" dirty="0" err="1">
                <a:solidFill>
                  <a:srgbClr val="0E2841"/>
                </a:solidFill>
                <a:latin typeface="微软雅黑"/>
                <a:ea typeface="微软雅黑"/>
              </a:rPr>
              <a:t>连续动作空间下可证明合规的</a:t>
            </a:r>
            <a:endParaRPr sz="3200" b="1" dirty="0">
              <a:solidFill>
                <a:srgbClr val="0E2841"/>
              </a:solidFill>
              <a:latin typeface="微软雅黑"/>
              <a:ea typeface="微软雅黑"/>
            </a:endParaRPr>
          </a:p>
          <a:p>
            <a:pPr algn="ctr">
              <a:spcBef>
                <a:spcPts val="0"/>
              </a:spcBef>
              <a:spcAft>
                <a:spcPts val="600"/>
              </a:spcAft>
            </a:pPr>
            <a:r>
              <a:rPr sz="3200" b="1" dirty="0" err="1">
                <a:solidFill>
                  <a:srgbClr val="0E2841"/>
                </a:solidFill>
                <a:latin typeface="微软雅黑"/>
                <a:ea typeface="微软雅黑"/>
              </a:rPr>
              <a:t>无人船智能避碰</a:t>
            </a:r>
            <a:endParaRPr sz="3200" b="1" dirty="0">
              <a:solidFill>
                <a:srgbClr val="0E2841"/>
              </a:solidFill>
              <a:latin typeface="微软雅黑"/>
              <a:ea typeface="微软雅黑"/>
            </a:endParaRPr>
          </a:p>
        </p:txBody>
      </p:sp>
      <p:sp>
        <p:nvSpPr>
          <p:cNvPr id="4" name="TextBox 3"/>
          <p:cNvSpPr txBox="1"/>
          <p:nvPr/>
        </p:nvSpPr>
        <p:spPr>
          <a:xfrm>
            <a:off x="914400" y="5989320"/>
            <a:ext cx="10363200" cy="457200"/>
          </a:xfrm>
          <a:prstGeom prst="rect">
            <a:avLst/>
          </a:prstGeom>
          <a:noFill/>
        </p:spPr>
        <p:txBody>
          <a:bodyPr wrap="square" lIns="25400" tIns="25400" rIns="25400" bIns="25400" anchor="t">
            <a:spAutoFit/>
          </a:bodyPr>
          <a:lstStyle/>
          <a:p>
            <a:pPr algn="ctr">
              <a:spcBef>
                <a:spcPts val="0"/>
              </a:spcBef>
              <a:spcAft>
                <a:spcPts val="600"/>
              </a:spcAft>
            </a:pPr>
            <a:r>
              <a:rPr sz="1400" b="0">
                <a:solidFill>
                  <a:srgbClr val="222222"/>
                </a:solidFill>
                <a:latin typeface="微软雅黑"/>
                <a:ea typeface="微软雅黑"/>
              </a:rPr>
              <a:t>汇报人  唐伟昱      指导教师  薛杰      2026.07.01 组会汇报</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502920" y="256032"/>
            <a:ext cx="11186160" cy="822960"/>
          </a:xfrm>
          <a:prstGeom prst="rect">
            <a:avLst/>
          </a:prstGeom>
          <a:noFill/>
        </p:spPr>
        <p:txBody>
          <a:bodyPr wrap="square" lIns="25400" tIns="25400" rIns="25400" bIns="25400" anchor="t">
            <a:spAutoFit/>
          </a:bodyPr>
          <a:lstStyle/>
          <a:p>
            <a:pPr algn="l">
              <a:spcBef>
                <a:spcPts val="0"/>
              </a:spcBef>
              <a:spcAft>
                <a:spcPts val="600"/>
              </a:spcAft>
            </a:pPr>
            <a:r>
              <a:rPr sz="2600" b="1">
                <a:solidFill>
                  <a:srgbClr val="000000"/>
                </a:solidFill>
                <a:latin typeface="微软雅黑"/>
                <a:ea typeface="微软雅黑"/>
              </a:rPr>
              <a:t>一、研究背景与动机</a:t>
            </a:r>
          </a:p>
        </p:txBody>
      </p:sp>
      <p:sp>
        <p:nvSpPr>
          <p:cNvPr id="4" name="TextBox 3"/>
          <p:cNvSpPr txBox="1"/>
          <p:nvPr/>
        </p:nvSpPr>
        <p:spPr>
          <a:xfrm>
            <a:off x="502920" y="1188720"/>
            <a:ext cx="11186160" cy="4937760"/>
          </a:xfrm>
          <a:prstGeom prst="rect">
            <a:avLst/>
          </a:prstGeom>
          <a:noFill/>
        </p:spPr>
        <p:txBody>
          <a:bodyPr wrap="square" lIns="25400" tIns="25400" rIns="25400" bIns="25400" anchor="t">
            <a:spAutoFit/>
          </a:bodyPr>
          <a:lstStyle/>
          <a:p>
            <a:pPr algn="l">
              <a:spcBef>
                <a:spcPts val="0"/>
              </a:spcBef>
              <a:spcAft>
                <a:spcPts val="600"/>
              </a:spcAft>
            </a:pPr>
            <a:r>
              <a:rPr sz="1600" b="1">
                <a:solidFill>
                  <a:srgbClr val="222222"/>
                </a:solidFill>
                <a:latin typeface="微软雅黑"/>
                <a:ea typeface="微软雅黑"/>
              </a:rPr>
              <a:t>场景</a:t>
            </a:r>
          </a:p>
          <a:p>
            <a:pPr algn="l">
              <a:spcBef>
                <a:spcPts val="0"/>
              </a:spcBef>
              <a:spcAft>
                <a:spcPts val="600"/>
              </a:spcAft>
            </a:pPr>
            <a:r>
              <a:rPr sz="1600" b="0">
                <a:solidFill>
                  <a:srgbClr val="222222"/>
                </a:solidFill>
                <a:latin typeface="微软雅黑"/>
                <a:ea typeface="微软雅黑"/>
              </a:rPr>
              <a:t>无人船在开阔水域航行, 必须遵守国际海上避碰规则 COLREGs, 例如对遇时双方向右转让、交叉相遇时给路船避让。</a:t>
            </a:r>
          </a:p>
          <a:p>
            <a:pPr algn="l">
              <a:spcBef>
                <a:spcPts val="0"/>
              </a:spcBef>
              <a:spcAft>
                <a:spcPts val="600"/>
              </a:spcAft>
            </a:pPr>
            <a:endParaRPr sz="1600" b="0">
              <a:solidFill>
                <a:srgbClr val="222222"/>
              </a:solidFill>
              <a:latin typeface="微软雅黑"/>
              <a:ea typeface="微软雅黑"/>
            </a:endParaRPr>
          </a:p>
          <a:p>
            <a:pPr algn="l">
              <a:spcBef>
                <a:spcPts val="0"/>
              </a:spcBef>
              <a:spcAft>
                <a:spcPts val="600"/>
              </a:spcAft>
            </a:pPr>
            <a:r>
              <a:rPr sz="1600" b="1">
                <a:solidFill>
                  <a:srgbClr val="222222"/>
                </a:solidFill>
                <a:latin typeface="微软雅黑"/>
                <a:ea typeface="微软雅黑"/>
              </a:rPr>
              <a:t>需求</a:t>
            </a:r>
          </a:p>
          <a:p>
            <a:pPr algn="l">
              <a:spcBef>
                <a:spcPts val="0"/>
              </a:spcBef>
              <a:spcAft>
                <a:spcPts val="600"/>
              </a:spcAft>
            </a:pPr>
            <a:r>
              <a:rPr sz="1600" b="0">
                <a:solidFill>
                  <a:srgbClr val="222222"/>
                </a:solidFill>
                <a:latin typeface="微软雅黑"/>
                <a:ea typeface="微软雅黑"/>
              </a:rPr>
              <a:t>用强化学习训练避碰策略时, 单靠奖励只能鼓励合规, 不能保证合规。安全攸关的海事场景需要的是可以证明的规则遵守, 而不是大概率遵守。</a:t>
            </a:r>
          </a:p>
          <a:p>
            <a:pPr algn="l">
              <a:spcBef>
                <a:spcPts val="0"/>
              </a:spcBef>
              <a:spcAft>
                <a:spcPts val="600"/>
              </a:spcAft>
            </a:pPr>
            <a:endParaRPr sz="1600" b="0">
              <a:solidFill>
                <a:srgbClr val="222222"/>
              </a:solidFill>
              <a:latin typeface="微软雅黑"/>
              <a:ea typeface="微软雅黑"/>
            </a:endParaRPr>
          </a:p>
          <a:p>
            <a:pPr algn="l">
              <a:spcBef>
                <a:spcPts val="0"/>
              </a:spcBef>
              <a:spcAft>
                <a:spcPts val="600"/>
              </a:spcAft>
            </a:pPr>
            <a:r>
              <a:rPr sz="1600" b="1">
                <a:solidFill>
                  <a:srgbClr val="222222"/>
                </a:solidFill>
                <a:latin typeface="微软雅黑"/>
                <a:ea typeface="微软雅黑"/>
              </a:rPr>
              <a:t>意义</a:t>
            </a:r>
          </a:p>
          <a:p>
            <a:pPr algn="l">
              <a:spcBef>
                <a:spcPts val="0"/>
              </a:spcBef>
              <a:spcAft>
                <a:spcPts val="600"/>
              </a:spcAft>
            </a:pPr>
            <a:r>
              <a:rPr sz="1600" b="0">
                <a:solidFill>
                  <a:srgbClr val="222222"/>
                </a:solidFill>
                <a:latin typeface="微软雅黑"/>
                <a:ea typeface="微软雅黑"/>
              </a:rPr>
              <a:t>把可以证明合规的安全机制引入连续控制的无人船避碰, 既保住合规硬保证, 又保留连续控制的平滑与灵活。</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502920" y="256032"/>
            <a:ext cx="11186160" cy="822960"/>
          </a:xfrm>
          <a:prstGeom prst="rect">
            <a:avLst/>
          </a:prstGeom>
          <a:noFill/>
        </p:spPr>
        <p:txBody>
          <a:bodyPr wrap="square" lIns="25400" tIns="25400" rIns="25400" bIns="25400" anchor="t">
            <a:spAutoFit/>
          </a:bodyPr>
          <a:lstStyle/>
          <a:p>
            <a:pPr algn="l">
              <a:spcBef>
                <a:spcPts val="0"/>
              </a:spcBef>
              <a:spcAft>
                <a:spcPts val="600"/>
              </a:spcAft>
            </a:pPr>
            <a:r>
              <a:rPr sz="2600" b="1">
                <a:solidFill>
                  <a:srgbClr val="000000"/>
                </a:solidFill>
                <a:latin typeface="微软雅黑"/>
                <a:ea typeface="微软雅黑"/>
              </a:rPr>
              <a:t>二、问题与挑战</a:t>
            </a:r>
          </a:p>
        </p:txBody>
      </p:sp>
      <p:sp>
        <p:nvSpPr>
          <p:cNvPr id="4" name="TextBox 3"/>
          <p:cNvSpPr txBox="1"/>
          <p:nvPr/>
        </p:nvSpPr>
        <p:spPr>
          <a:xfrm>
            <a:off x="502919" y="1188720"/>
            <a:ext cx="5305027" cy="3698448"/>
          </a:xfrm>
          <a:prstGeom prst="rect">
            <a:avLst/>
          </a:prstGeom>
          <a:noFill/>
        </p:spPr>
        <p:txBody>
          <a:bodyPr wrap="square" lIns="25400" tIns="25400" rIns="25400" bIns="25400" anchor="t">
            <a:spAutoFit/>
          </a:bodyPr>
          <a:lstStyle/>
          <a:p>
            <a:pPr algn="l">
              <a:spcBef>
                <a:spcPts val="0"/>
              </a:spcBef>
              <a:spcAft>
                <a:spcPts val="600"/>
              </a:spcAft>
            </a:pPr>
            <a:r>
              <a:rPr sz="1600" b="0" dirty="0" err="1">
                <a:solidFill>
                  <a:srgbClr val="222222"/>
                </a:solidFill>
                <a:latin typeface="微软雅黑"/>
                <a:ea typeface="微软雅黑"/>
              </a:rPr>
              <a:t>现有工作存在一个两难</a:t>
            </a:r>
            <a:r>
              <a:rPr sz="1600" b="0" dirty="0">
                <a:solidFill>
                  <a:srgbClr val="222222"/>
                </a:solidFill>
                <a:latin typeface="微软雅黑"/>
                <a:ea typeface="微软雅黑"/>
              </a:rPr>
              <a:t>:</a:t>
            </a:r>
          </a:p>
          <a:p>
            <a:pPr algn="l">
              <a:spcBef>
                <a:spcPts val="0"/>
              </a:spcBef>
              <a:spcAft>
                <a:spcPts val="600"/>
              </a:spcAft>
            </a:pPr>
            <a:endParaRPr sz="1600" b="0" dirty="0">
              <a:solidFill>
                <a:srgbClr val="222222"/>
              </a:solidFill>
              <a:latin typeface="微软雅黑"/>
              <a:ea typeface="微软雅黑"/>
            </a:endParaRPr>
          </a:p>
          <a:p>
            <a:pPr algn="l">
              <a:spcBef>
                <a:spcPts val="0"/>
              </a:spcBef>
              <a:spcAft>
                <a:spcPts val="600"/>
              </a:spcAft>
            </a:pPr>
            <a:r>
              <a:rPr sz="1600" b="1" dirty="0" err="1">
                <a:solidFill>
                  <a:srgbClr val="222222"/>
                </a:solidFill>
                <a:latin typeface="微软雅黑"/>
                <a:ea typeface="微软雅黑"/>
              </a:rPr>
              <a:t>路线一</a:t>
            </a:r>
            <a:r>
              <a:rPr sz="1600" b="1" dirty="0">
                <a:solidFill>
                  <a:srgbClr val="222222"/>
                </a:solidFill>
                <a:latin typeface="微软雅黑"/>
                <a:ea typeface="微软雅黑"/>
              </a:rPr>
              <a:t>: </a:t>
            </a:r>
            <a:r>
              <a:rPr sz="1600" b="1" dirty="0" err="1">
                <a:solidFill>
                  <a:srgbClr val="222222"/>
                </a:solidFill>
                <a:latin typeface="微软雅黑"/>
                <a:ea typeface="微软雅黑"/>
              </a:rPr>
              <a:t>可以证明合规</a:t>
            </a:r>
            <a:endParaRPr sz="1600" b="1" dirty="0">
              <a:solidFill>
                <a:srgbClr val="222222"/>
              </a:solidFill>
              <a:latin typeface="微软雅黑"/>
              <a:ea typeface="微软雅黑"/>
            </a:endParaRPr>
          </a:p>
          <a:p>
            <a:pPr algn="l">
              <a:spcBef>
                <a:spcPts val="0"/>
              </a:spcBef>
              <a:spcAft>
                <a:spcPts val="600"/>
              </a:spcAft>
            </a:pPr>
            <a:r>
              <a:rPr sz="1600" b="0" dirty="0" err="1">
                <a:solidFill>
                  <a:srgbClr val="222222"/>
                </a:solidFill>
                <a:latin typeface="微软雅黑"/>
                <a:ea typeface="微软雅黑"/>
              </a:rPr>
              <a:t>把动作离散成有限个</a:t>
            </a:r>
            <a:r>
              <a:rPr sz="1600" b="0" dirty="0">
                <a:solidFill>
                  <a:srgbClr val="222222"/>
                </a:solidFill>
                <a:latin typeface="微软雅黑"/>
                <a:ea typeface="微软雅黑"/>
              </a:rPr>
              <a:t>, </a:t>
            </a:r>
            <a:r>
              <a:rPr sz="1600" b="0" dirty="0" err="1">
                <a:solidFill>
                  <a:srgbClr val="222222"/>
                </a:solidFill>
                <a:latin typeface="微软雅黑"/>
                <a:ea typeface="微软雅黑"/>
              </a:rPr>
              <a:t>用动作屏蔽保证每步都合规。代价是放弃连续控制</a:t>
            </a:r>
            <a:r>
              <a:rPr sz="1600" b="0" dirty="0">
                <a:solidFill>
                  <a:srgbClr val="222222"/>
                </a:solidFill>
                <a:latin typeface="微软雅黑"/>
                <a:ea typeface="微软雅黑"/>
              </a:rPr>
              <a:t>, </a:t>
            </a:r>
            <a:r>
              <a:rPr sz="1600" b="0" dirty="0" err="1">
                <a:solidFill>
                  <a:srgbClr val="222222"/>
                </a:solidFill>
                <a:latin typeface="微软雅黑"/>
                <a:ea typeface="微软雅黑"/>
              </a:rPr>
              <a:t>动作生硬</a:t>
            </a:r>
            <a:r>
              <a:rPr sz="1600" b="0" dirty="0">
                <a:solidFill>
                  <a:srgbClr val="222222"/>
                </a:solidFill>
                <a:latin typeface="微软雅黑"/>
                <a:ea typeface="微软雅黑"/>
              </a:rPr>
              <a:t>。</a:t>
            </a:r>
          </a:p>
          <a:p>
            <a:pPr algn="l">
              <a:spcBef>
                <a:spcPts val="0"/>
              </a:spcBef>
              <a:spcAft>
                <a:spcPts val="600"/>
              </a:spcAft>
            </a:pPr>
            <a:endParaRPr sz="1600" b="0" dirty="0">
              <a:solidFill>
                <a:srgbClr val="222222"/>
              </a:solidFill>
              <a:latin typeface="微软雅黑"/>
              <a:ea typeface="微软雅黑"/>
            </a:endParaRPr>
          </a:p>
          <a:p>
            <a:pPr algn="l">
              <a:spcBef>
                <a:spcPts val="0"/>
              </a:spcBef>
              <a:spcAft>
                <a:spcPts val="600"/>
              </a:spcAft>
            </a:pPr>
            <a:r>
              <a:rPr sz="1600" b="1" dirty="0" err="1">
                <a:solidFill>
                  <a:srgbClr val="222222"/>
                </a:solidFill>
                <a:latin typeface="微软雅黑"/>
                <a:ea typeface="微软雅黑"/>
              </a:rPr>
              <a:t>路线二</a:t>
            </a:r>
            <a:r>
              <a:rPr sz="1600" b="1" dirty="0">
                <a:solidFill>
                  <a:srgbClr val="222222"/>
                </a:solidFill>
                <a:latin typeface="微软雅黑"/>
                <a:ea typeface="微软雅黑"/>
              </a:rPr>
              <a:t>: </a:t>
            </a:r>
            <a:r>
              <a:rPr sz="1600" b="1" dirty="0" err="1">
                <a:solidFill>
                  <a:srgbClr val="222222"/>
                </a:solidFill>
                <a:latin typeface="微软雅黑"/>
                <a:ea typeface="微软雅黑"/>
              </a:rPr>
              <a:t>连续控制</a:t>
            </a:r>
            <a:endParaRPr sz="1600" b="1" dirty="0">
              <a:solidFill>
                <a:srgbClr val="222222"/>
              </a:solidFill>
              <a:latin typeface="微软雅黑"/>
              <a:ea typeface="微软雅黑"/>
            </a:endParaRPr>
          </a:p>
          <a:p>
            <a:pPr algn="l">
              <a:spcBef>
                <a:spcPts val="0"/>
              </a:spcBef>
              <a:spcAft>
                <a:spcPts val="600"/>
              </a:spcAft>
            </a:pPr>
            <a:r>
              <a:rPr sz="1600" b="0" dirty="0" err="1">
                <a:solidFill>
                  <a:srgbClr val="222222"/>
                </a:solidFill>
                <a:latin typeface="微软雅黑"/>
                <a:ea typeface="微软雅黑"/>
              </a:rPr>
              <a:t>直接在连续动作上训练</a:t>
            </a:r>
            <a:r>
              <a:rPr sz="1600" b="0" dirty="0">
                <a:solidFill>
                  <a:srgbClr val="222222"/>
                </a:solidFill>
                <a:latin typeface="微软雅黑"/>
                <a:ea typeface="微软雅黑"/>
              </a:rPr>
              <a:t>, </a:t>
            </a:r>
            <a:r>
              <a:rPr sz="1600" b="0" dirty="0" err="1">
                <a:solidFill>
                  <a:srgbClr val="222222"/>
                </a:solidFill>
                <a:latin typeface="微软雅黑"/>
                <a:ea typeface="微软雅黑"/>
              </a:rPr>
              <a:t>保留平滑灵活。代价是合规只能靠软奖励</a:t>
            </a:r>
            <a:r>
              <a:rPr sz="1600" b="0" dirty="0">
                <a:solidFill>
                  <a:srgbClr val="222222"/>
                </a:solidFill>
                <a:latin typeface="微软雅黑"/>
                <a:ea typeface="微软雅黑"/>
              </a:rPr>
              <a:t>, </a:t>
            </a:r>
            <a:r>
              <a:rPr sz="1600" b="0" dirty="0" err="1">
                <a:solidFill>
                  <a:srgbClr val="222222"/>
                </a:solidFill>
                <a:latin typeface="微软雅黑"/>
                <a:ea typeface="微软雅黑"/>
              </a:rPr>
              <a:t>没有硬保证</a:t>
            </a:r>
            <a:r>
              <a:rPr sz="1600" b="0" dirty="0">
                <a:solidFill>
                  <a:srgbClr val="222222"/>
                </a:solidFill>
                <a:latin typeface="微软雅黑"/>
                <a:ea typeface="微软雅黑"/>
              </a:rPr>
              <a:t>。</a:t>
            </a:r>
          </a:p>
          <a:p>
            <a:pPr algn="l">
              <a:spcBef>
                <a:spcPts val="0"/>
              </a:spcBef>
              <a:spcAft>
                <a:spcPts val="600"/>
              </a:spcAft>
            </a:pPr>
            <a:endParaRPr sz="1600" b="0" dirty="0">
              <a:solidFill>
                <a:srgbClr val="222222"/>
              </a:solidFill>
              <a:latin typeface="微软雅黑"/>
              <a:ea typeface="微软雅黑"/>
            </a:endParaRPr>
          </a:p>
          <a:p>
            <a:pPr algn="l">
              <a:spcBef>
                <a:spcPts val="0"/>
              </a:spcBef>
              <a:spcAft>
                <a:spcPts val="600"/>
              </a:spcAft>
            </a:pPr>
            <a:r>
              <a:rPr lang="zh-CN" altLang="en-US" sz="1600" b="1" dirty="0">
                <a:solidFill>
                  <a:srgbClr val="222222"/>
                </a:solidFill>
                <a:latin typeface="微软雅黑"/>
                <a:ea typeface="微软雅黑"/>
              </a:rPr>
              <a:t>这次工作要填补的研究空白：</a:t>
            </a:r>
            <a:endParaRPr sz="1600" b="1" dirty="0">
              <a:solidFill>
                <a:srgbClr val="222222"/>
              </a:solidFill>
              <a:latin typeface="微软雅黑"/>
              <a:ea typeface="微软雅黑"/>
            </a:endParaRPr>
          </a:p>
          <a:p>
            <a:pPr algn="l">
              <a:spcBef>
                <a:spcPts val="0"/>
              </a:spcBef>
              <a:spcAft>
                <a:spcPts val="600"/>
              </a:spcAft>
            </a:pPr>
            <a:r>
              <a:rPr sz="1600" b="0" dirty="0" err="1">
                <a:solidFill>
                  <a:srgbClr val="222222"/>
                </a:solidFill>
                <a:latin typeface="微软雅黑"/>
                <a:ea typeface="微软雅黑"/>
              </a:rPr>
              <a:t>在连续动作空间上同时拿到可以证明的合规和连续控制</a:t>
            </a:r>
            <a:r>
              <a:rPr sz="1600" b="0" dirty="0">
                <a:solidFill>
                  <a:srgbClr val="222222"/>
                </a:solidFill>
                <a:latin typeface="微软雅黑"/>
                <a:ea typeface="微软雅黑"/>
              </a:rPr>
              <a:t>。</a:t>
            </a:r>
          </a:p>
        </p:txBody>
      </p:sp>
      <p:sp>
        <p:nvSpPr>
          <p:cNvPr id="5" name="TextBox 4"/>
          <p:cNvSpPr txBox="1"/>
          <p:nvPr/>
        </p:nvSpPr>
        <p:spPr>
          <a:xfrm>
            <a:off x="5943600" y="1848424"/>
            <a:ext cx="5669280" cy="1097280"/>
          </a:xfrm>
          <a:prstGeom prst="rect">
            <a:avLst/>
          </a:prstGeom>
          <a:noFill/>
        </p:spPr>
        <p:txBody>
          <a:bodyPr wrap="square" lIns="25400" tIns="25400" rIns="25400" bIns="25400" anchor="t">
            <a:spAutoFit/>
          </a:bodyPr>
          <a:lstStyle/>
          <a:p>
            <a:pPr algn="l">
              <a:spcBef>
                <a:spcPts val="0"/>
              </a:spcBef>
              <a:spcAft>
                <a:spcPts val="600"/>
              </a:spcAft>
            </a:pPr>
            <a:r>
              <a:rPr sz="1800" b="1" dirty="0" err="1">
                <a:solidFill>
                  <a:srgbClr val="156082"/>
                </a:solidFill>
                <a:latin typeface="微软雅黑"/>
                <a:ea typeface="微软雅黑"/>
              </a:rPr>
              <a:t>可证明合规</a:t>
            </a:r>
            <a:endParaRPr sz="1800" b="1" dirty="0">
              <a:solidFill>
                <a:srgbClr val="156082"/>
              </a:solidFill>
              <a:latin typeface="微软雅黑"/>
              <a:ea typeface="微软雅黑"/>
            </a:endParaRPr>
          </a:p>
        </p:txBody>
      </p:sp>
      <p:sp>
        <p:nvSpPr>
          <p:cNvPr id="6" name="TextBox 5"/>
          <p:cNvSpPr txBox="1"/>
          <p:nvPr/>
        </p:nvSpPr>
        <p:spPr>
          <a:xfrm>
            <a:off x="5943600" y="2232471"/>
            <a:ext cx="5669280" cy="282129"/>
          </a:xfrm>
          <a:prstGeom prst="rect">
            <a:avLst/>
          </a:prstGeom>
          <a:noFill/>
        </p:spPr>
        <p:txBody>
          <a:bodyPr wrap="square" lIns="25400" tIns="25400" rIns="25400" bIns="25400" anchor="t">
            <a:spAutoFit/>
          </a:bodyPr>
          <a:lstStyle/>
          <a:p>
            <a:pPr algn="l">
              <a:spcBef>
                <a:spcPts val="0"/>
              </a:spcBef>
              <a:spcAft>
                <a:spcPts val="600"/>
              </a:spcAft>
            </a:pPr>
            <a:r>
              <a:rPr sz="1500" b="0" dirty="0" err="1">
                <a:solidFill>
                  <a:srgbClr val="555555"/>
                </a:solidFill>
                <a:latin typeface="微软雅黑"/>
                <a:ea typeface="微软雅黑"/>
              </a:rPr>
              <a:t>只能离散动作</a:t>
            </a:r>
            <a:r>
              <a:rPr sz="1500" b="0" dirty="0">
                <a:solidFill>
                  <a:srgbClr val="555555"/>
                </a:solidFill>
                <a:latin typeface="微软雅黑"/>
                <a:ea typeface="微软雅黑"/>
              </a:rPr>
              <a:t> (Krasowski 2024)</a:t>
            </a:r>
          </a:p>
        </p:txBody>
      </p:sp>
      <p:sp>
        <p:nvSpPr>
          <p:cNvPr id="7" name="TextBox 6"/>
          <p:cNvSpPr txBox="1"/>
          <p:nvPr/>
        </p:nvSpPr>
        <p:spPr>
          <a:xfrm>
            <a:off x="5943600" y="3187353"/>
            <a:ext cx="5669280" cy="1097280"/>
          </a:xfrm>
          <a:prstGeom prst="rect">
            <a:avLst/>
          </a:prstGeom>
          <a:noFill/>
        </p:spPr>
        <p:txBody>
          <a:bodyPr wrap="square" lIns="25400" tIns="25400" rIns="25400" bIns="25400" anchor="t">
            <a:spAutoFit/>
          </a:bodyPr>
          <a:lstStyle/>
          <a:p>
            <a:pPr algn="l">
              <a:spcBef>
                <a:spcPts val="0"/>
              </a:spcBef>
              <a:spcAft>
                <a:spcPts val="600"/>
              </a:spcAft>
            </a:pPr>
            <a:r>
              <a:rPr sz="1800" b="1" dirty="0" err="1">
                <a:solidFill>
                  <a:srgbClr val="E97132"/>
                </a:solidFill>
                <a:latin typeface="微软雅黑"/>
                <a:ea typeface="微软雅黑"/>
              </a:rPr>
              <a:t>连续控制</a:t>
            </a:r>
            <a:endParaRPr sz="1800" b="1" dirty="0">
              <a:solidFill>
                <a:srgbClr val="E97132"/>
              </a:solidFill>
              <a:latin typeface="微软雅黑"/>
              <a:ea typeface="微软雅黑"/>
            </a:endParaRPr>
          </a:p>
        </p:txBody>
      </p:sp>
      <p:sp>
        <p:nvSpPr>
          <p:cNvPr id="8" name="TextBox 7"/>
          <p:cNvSpPr txBox="1"/>
          <p:nvPr/>
        </p:nvSpPr>
        <p:spPr>
          <a:xfrm>
            <a:off x="5943600" y="3520440"/>
            <a:ext cx="5669280" cy="914400"/>
          </a:xfrm>
          <a:prstGeom prst="rect">
            <a:avLst/>
          </a:prstGeom>
          <a:noFill/>
        </p:spPr>
        <p:txBody>
          <a:bodyPr wrap="square" lIns="25400" tIns="25400" rIns="25400" bIns="25400" anchor="t">
            <a:spAutoFit/>
          </a:bodyPr>
          <a:lstStyle/>
          <a:p>
            <a:pPr algn="l">
              <a:spcBef>
                <a:spcPts val="0"/>
              </a:spcBef>
              <a:spcAft>
                <a:spcPts val="600"/>
              </a:spcAft>
            </a:pPr>
            <a:r>
              <a:rPr sz="1500" b="0">
                <a:solidFill>
                  <a:srgbClr val="555555"/>
                </a:solidFill>
                <a:latin typeface="微软雅黑"/>
                <a:ea typeface="微软雅黑"/>
              </a:rPr>
              <a:t>只能软奖励 · 无硬保证</a:t>
            </a:r>
          </a:p>
        </p:txBody>
      </p:sp>
      <p:sp>
        <p:nvSpPr>
          <p:cNvPr id="9" name="TextBox 8"/>
          <p:cNvSpPr txBox="1"/>
          <p:nvPr/>
        </p:nvSpPr>
        <p:spPr>
          <a:xfrm>
            <a:off x="5807946" y="4526281"/>
            <a:ext cx="5669280" cy="1188720"/>
          </a:xfrm>
          <a:prstGeom prst="rect">
            <a:avLst/>
          </a:prstGeom>
          <a:noFill/>
        </p:spPr>
        <p:txBody>
          <a:bodyPr wrap="square" lIns="25400" tIns="25400" rIns="25400" bIns="25400" anchor="t">
            <a:spAutoFit/>
          </a:bodyPr>
          <a:lstStyle/>
          <a:p>
            <a:pPr algn="l">
              <a:spcBef>
                <a:spcPts val="0"/>
              </a:spcBef>
              <a:spcAft>
                <a:spcPts val="600"/>
              </a:spcAft>
            </a:pPr>
            <a:r>
              <a:rPr sz="1800" b="1" dirty="0" err="1">
                <a:solidFill>
                  <a:srgbClr val="0E2841"/>
                </a:solidFill>
                <a:latin typeface="微软雅黑"/>
                <a:ea typeface="微软雅黑"/>
              </a:rPr>
              <a:t>本文</a:t>
            </a:r>
            <a:r>
              <a:rPr sz="1800" b="1" dirty="0">
                <a:solidFill>
                  <a:srgbClr val="0E2841"/>
                </a:solidFill>
                <a:latin typeface="微软雅黑"/>
                <a:ea typeface="微软雅黑"/>
              </a:rPr>
              <a:t>: </a:t>
            </a:r>
            <a:r>
              <a:rPr sz="1800" b="1" dirty="0" err="1">
                <a:solidFill>
                  <a:srgbClr val="0E2841"/>
                </a:solidFill>
                <a:latin typeface="微软雅黑"/>
                <a:ea typeface="微软雅黑"/>
              </a:rPr>
              <a:t>连续动作</a:t>
            </a:r>
            <a:r>
              <a:rPr sz="1800" b="1" dirty="0">
                <a:solidFill>
                  <a:srgbClr val="0E2841"/>
                </a:solidFill>
                <a:latin typeface="微软雅黑"/>
                <a:ea typeface="微软雅黑"/>
              </a:rPr>
              <a:t> + </a:t>
            </a:r>
            <a:r>
              <a:rPr sz="1800" b="1" dirty="0" err="1">
                <a:solidFill>
                  <a:srgbClr val="0E2841"/>
                </a:solidFill>
                <a:latin typeface="微软雅黑"/>
                <a:ea typeface="微软雅黑"/>
              </a:rPr>
              <a:t>可证明合规</a:t>
            </a:r>
            <a:endParaRPr sz="1800" b="1" dirty="0">
              <a:solidFill>
                <a:srgbClr val="0E2841"/>
              </a:solidFill>
              <a:latin typeface="微软雅黑"/>
              <a:ea typeface="微软雅黑"/>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502920" y="256032"/>
            <a:ext cx="11186160" cy="822960"/>
          </a:xfrm>
          <a:prstGeom prst="rect">
            <a:avLst/>
          </a:prstGeom>
          <a:noFill/>
        </p:spPr>
        <p:txBody>
          <a:bodyPr wrap="square" lIns="25400" tIns="25400" rIns="25400" bIns="25400" anchor="t">
            <a:spAutoFit/>
          </a:bodyPr>
          <a:lstStyle/>
          <a:p>
            <a:pPr algn="l">
              <a:spcBef>
                <a:spcPts val="0"/>
              </a:spcBef>
              <a:spcAft>
                <a:spcPts val="600"/>
              </a:spcAft>
            </a:pPr>
            <a:r>
              <a:rPr sz="2600" b="1">
                <a:solidFill>
                  <a:srgbClr val="000000"/>
                </a:solidFill>
                <a:latin typeface="微软雅黑"/>
                <a:ea typeface="微软雅黑"/>
              </a:rPr>
              <a:t>三、数据集与实验设置</a:t>
            </a:r>
          </a:p>
        </p:txBody>
      </p:sp>
      <p:sp>
        <p:nvSpPr>
          <p:cNvPr id="4" name="TextBox 3"/>
          <p:cNvSpPr txBox="1"/>
          <p:nvPr/>
        </p:nvSpPr>
        <p:spPr>
          <a:xfrm>
            <a:off x="502920" y="1188720"/>
            <a:ext cx="11186160" cy="4754880"/>
          </a:xfrm>
          <a:prstGeom prst="rect">
            <a:avLst/>
          </a:prstGeom>
          <a:noFill/>
        </p:spPr>
        <p:txBody>
          <a:bodyPr wrap="square" lIns="25400" tIns="25400" rIns="25400" bIns="25400" anchor="t">
            <a:spAutoFit/>
          </a:bodyPr>
          <a:lstStyle/>
          <a:p>
            <a:pPr algn="l">
              <a:spcBef>
                <a:spcPts val="0"/>
              </a:spcBef>
              <a:spcAft>
                <a:spcPts val="600"/>
              </a:spcAft>
            </a:pPr>
            <a:r>
              <a:rPr sz="1600" b="1">
                <a:solidFill>
                  <a:srgbClr val="222222"/>
                </a:solidFill>
                <a:latin typeface="微软雅黑"/>
                <a:ea typeface="微软雅黑"/>
              </a:rPr>
              <a:t>仿真环境</a:t>
            </a:r>
          </a:p>
          <a:p>
            <a:pPr algn="l">
              <a:spcBef>
                <a:spcPts val="0"/>
              </a:spcBef>
              <a:spcAft>
                <a:spcPts val="600"/>
              </a:spcAft>
            </a:pPr>
            <a:r>
              <a:rPr sz="1600" b="0">
                <a:solidFill>
                  <a:srgbClr val="222222"/>
                </a:solidFill>
                <a:latin typeface="微软雅黑"/>
                <a:ea typeface="微软雅黑"/>
              </a:rPr>
              <a:t>CommonOcean 开源海事场景, 船舶为偏航受限动力学模型, 连续控制输入为加速度与转艏率。</a:t>
            </a:r>
          </a:p>
          <a:p>
            <a:pPr algn="l">
              <a:spcBef>
                <a:spcPts val="0"/>
              </a:spcBef>
              <a:spcAft>
                <a:spcPts val="600"/>
              </a:spcAft>
            </a:pPr>
            <a:endParaRPr sz="1600" b="0">
              <a:solidFill>
                <a:srgbClr val="222222"/>
              </a:solidFill>
              <a:latin typeface="微软雅黑"/>
              <a:ea typeface="微软雅黑"/>
            </a:endParaRPr>
          </a:p>
          <a:p>
            <a:pPr algn="l">
              <a:spcBef>
                <a:spcPts val="0"/>
              </a:spcBef>
              <a:spcAft>
                <a:spcPts val="600"/>
              </a:spcAft>
            </a:pPr>
            <a:r>
              <a:rPr sz="1600" b="1">
                <a:solidFill>
                  <a:srgbClr val="222222"/>
                </a:solidFill>
                <a:latin typeface="微软雅黑"/>
                <a:ea typeface="微软雅黑"/>
              </a:rPr>
              <a:t>会遇类型</a:t>
            </a:r>
          </a:p>
          <a:p>
            <a:pPr algn="l">
              <a:spcBef>
                <a:spcPts val="0"/>
              </a:spcBef>
              <a:spcAft>
                <a:spcPts val="600"/>
              </a:spcAft>
            </a:pPr>
            <a:r>
              <a:rPr sz="1600" b="0">
                <a:solidFill>
                  <a:srgbClr val="222222"/>
                </a:solidFill>
                <a:latin typeface="微软雅黑"/>
                <a:ea typeface="微软雅黑"/>
              </a:rPr>
              <a:t>本阶段聚焦对遇和交叉两类标准会遇。追越类型的场景已经构建完成, 留待后续训练。</a:t>
            </a:r>
          </a:p>
          <a:p>
            <a:pPr algn="l">
              <a:spcBef>
                <a:spcPts val="0"/>
              </a:spcBef>
              <a:spcAft>
                <a:spcPts val="600"/>
              </a:spcAft>
            </a:pPr>
            <a:endParaRPr sz="1600" b="0">
              <a:solidFill>
                <a:srgbClr val="222222"/>
              </a:solidFill>
              <a:latin typeface="微软雅黑"/>
              <a:ea typeface="微软雅黑"/>
            </a:endParaRPr>
          </a:p>
          <a:p>
            <a:pPr algn="l">
              <a:spcBef>
                <a:spcPts val="0"/>
              </a:spcBef>
              <a:spcAft>
                <a:spcPts val="600"/>
              </a:spcAft>
            </a:pPr>
            <a:r>
              <a:rPr sz="1600" b="1">
                <a:solidFill>
                  <a:srgbClr val="222222"/>
                </a:solidFill>
                <a:latin typeface="微软雅黑"/>
                <a:ea typeface="微软雅黑"/>
              </a:rPr>
              <a:t>数据划分 (冻结不变)</a:t>
            </a:r>
          </a:p>
          <a:p>
            <a:pPr algn="l">
              <a:spcBef>
                <a:spcPts val="0"/>
              </a:spcBef>
              <a:spcAft>
                <a:spcPts val="600"/>
              </a:spcAft>
            </a:pPr>
            <a:r>
              <a:rPr sz="1600" b="0">
                <a:solidFill>
                  <a:srgbClr val="222222"/>
                </a:solidFill>
                <a:latin typeface="微软雅黑"/>
                <a:ea typeface="微软雅黑"/>
              </a:rPr>
              <a:t>训练 94 个场景, 测试 40 个从不参与训练的场景。</a:t>
            </a:r>
          </a:p>
          <a:p>
            <a:pPr algn="l">
              <a:spcBef>
                <a:spcPts val="0"/>
              </a:spcBef>
              <a:spcAft>
                <a:spcPts val="600"/>
              </a:spcAft>
            </a:pPr>
            <a:endParaRPr sz="1600" b="0">
              <a:solidFill>
                <a:srgbClr val="222222"/>
              </a:solidFill>
              <a:latin typeface="微软雅黑"/>
              <a:ea typeface="微软雅黑"/>
            </a:endParaRPr>
          </a:p>
          <a:p>
            <a:pPr algn="l">
              <a:spcBef>
                <a:spcPts val="0"/>
              </a:spcBef>
              <a:spcAft>
                <a:spcPts val="600"/>
              </a:spcAft>
            </a:pPr>
            <a:r>
              <a:rPr sz="1600" b="1">
                <a:solidFill>
                  <a:srgbClr val="222222"/>
                </a:solidFill>
                <a:latin typeface="微软雅黑"/>
                <a:ea typeface="微软雅黑"/>
              </a:rPr>
              <a:t>评估口径</a:t>
            </a:r>
          </a:p>
          <a:p>
            <a:pPr algn="l">
              <a:spcBef>
                <a:spcPts val="0"/>
              </a:spcBef>
              <a:spcAft>
                <a:spcPts val="600"/>
              </a:spcAft>
            </a:pPr>
            <a:r>
              <a:rPr sz="1600" b="0">
                <a:solidFill>
                  <a:srgbClr val="222222"/>
                </a:solidFill>
                <a:latin typeface="微软雅黑"/>
                <a:ea typeface="微软雅黑"/>
              </a:rPr>
              <a:t>多个随机种子, 报告到达率的中位数与四分位均值, 以及失败率, 全部指标同口径对比。</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502920" y="256032"/>
            <a:ext cx="11186160" cy="822960"/>
          </a:xfrm>
          <a:prstGeom prst="rect">
            <a:avLst/>
          </a:prstGeom>
          <a:noFill/>
        </p:spPr>
        <p:txBody>
          <a:bodyPr wrap="square" lIns="25400" tIns="25400" rIns="25400" bIns="25400" anchor="t">
            <a:spAutoFit/>
          </a:bodyPr>
          <a:lstStyle/>
          <a:p>
            <a:pPr algn="l">
              <a:spcBef>
                <a:spcPts val="0"/>
              </a:spcBef>
              <a:spcAft>
                <a:spcPts val="600"/>
              </a:spcAft>
            </a:pPr>
            <a:r>
              <a:rPr sz="2600" b="1">
                <a:solidFill>
                  <a:srgbClr val="000000"/>
                </a:solidFill>
                <a:latin typeface="微软雅黑"/>
                <a:ea typeface="微软雅黑"/>
              </a:rPr>
              <a:t>三、COLREGs 会遇分类与合规角色</a:t>
            </a:r>
          </a:p>
        </p:txBody>
      </p:sp>
      <p:pic>
        <p:nvPicPr>
          <p:cNvPr id="4" name="Picture 3" descr="fig_encounter.png"/>
          <p:cNvPicPr>
            <a:picLocks noChangeAspect="1"/>
          </p:cNvPicPr>
          <p:nvPr/>
        </p:nvPicPr>
        <p:blipFill>
          <a:blip r:embed="rId2"/>
          <a:stretch>
            <a:fillRect/>
          </a:stretch>
        </p:blipFill>
        <p:spPr>
          <a:xfrm>
            <a:off x="1200227" y="1234440"/>
            <a:ext cx="9791544" cy="3017520"/>
          </a:xfrm>
          <a:prstGeom prst="rect">
            <a:avLst/>
          </a:prstGeom>
        </p:spPr>
      </p:pic>
      <p:sp>
        <p:nvSpPr>
          <p:cNvPr id="5" name="TextBox 4"/>
          <p:cNvSpPr txBox="1"/>
          <p:nvPr/>
        </p:nvSpPr>
        <p:spPr>
          <a:xfrm>
            <a:off x="502920" y="4480560"/>
            <a:ext cx="11186160" cy="1508105"/>
          </a:xfrm>
          <a:prstGeom prst="rect">
            <a:avLst/>
          </a:prstGeom>
          <a:noFill/>
        </p:spPr>
        <p:txBody>
          <a:bodyPr wrap="square" lIns="25400" tIns="25400" rIns="25400" bIns="25400" anchor="t">
            <a:spAutoFit/>
          </a:bodyPr>
          <a:lstStyle/>
          <a:p>
            <a:pPr algn="l">
              <a:spcBef>
                <a:spcPts val="0"/>
              </a:spcBef>
              <a:spcAft>
                <a:spcPts val="400"/>
              </a:spcAft>
            </a:pPr>
            <a:r>
              <a:rPr sz="1300" b="1" dirty="0" err="1">
                <a:solidFill>
                  <a:srgbClr val="222222"/>
                </a:solidFill>
                <a:latin typeface="微软雅黑"/>
                <a:ea typeface="微软雅黑"/>
              </a:rPr>
              <a:t>四类标准会遇</a:t>
            </a:r>
            <a:endParaRPr sz="1300" b="1" dirty="0">
              <a:solidFill>
                <a:srgbClr val="222222"/>
              </a:solidFill>
              <a:latin typeface="微软雅黑"/>
              <a:ea typeface="微软雅黑"/>
            </a:endParaRPr>
          </a:p>
          <a:p>
            <a:pPr algn="l">
              <a:spcBef>
                <a:spcPts val="0"/>
              </a:spcBef>
              <a:spcAft>
                <a:spcPts val="400"/>
              </a:spcAft>
            </a:pPr>
            <a:r>
              <a:rPr sz="1300" b="0" dirty="0" err="1">
                <a:solidFill>
                  <a:srgbClr val="222222"/>
                </a:solidFill>
                <a:latin typeface="微软雅黑"/>
                <a:ea typeface="微软雅黑"/>
              </a:rPr>
              <a:t>状态机把两船几何判为对遇</a:t>
            </a:r>
            <a:r>
              <a:rPr sz="1300" b="0" dirty="0">
                <a:solidFill>
                  <a:srgbClr val="222222"/>
                </a:solidFill>
                <a:latin typeface="微软雅黑"/>
                <a:ea typeface="微软雅黑"/>
              </a:rPr>
              <a:t>, </a:t>
            </a:r>
            <a:r>
              <a:rPr sz="1300" b="0" dirty="0" err="1">
                <a:solidFill>
                  <a:srgbClr val="222222"/>
                </a:solidFill>
                <a:latin typeface="微软雅黑"/>
                <a:ea typeface="微软雅黑"/>
              </a:rPr>
              <a:t>交叉</a:t>
            </a:r>
            <a:r>
              <a:rPr sz="1300" b="0" dirty="0">
                <a:solidFill>
                  <a:srgbClr val="222222"/>
                </a:solidFill>
                <a:latin typeface="微软雅黑"/>
                <a:ea typeface="微软雅黑"/>
              </a:rPr>
              <a:t>, </a:t>
            </a:r>
            <a:r>
              <a:rPr sz="1300" b="0" dirty="0" err="1">
                <a:solidFill>
                  <a:srgbClr val="222222"/>
                </a:solidFill>
                <a:latin typeface="微软雅黑"/>
                <a:ea typeface="微软雅黑"/>
              </a:rPr>
              <a:t>追越</a:t>
            </a:r>
            <a:r>
              <a:rPr sz="1300" b="0" dirty="0">
                <a:solidFill>
                  <a:srgbClr val="222222"/>
                </a:solidFill>
                <a:latin typeface="微软雅黑"/>
                <a:ea typeface="微软雅黑"/>
              </a:rPr>
              <a:t>, </a:t>
            </a:r>
            <a:r>
              <a:rPr sz="1300" b="0" dirty="0" err="1">
                <a:solidFill>
                  <a:srgbClr val="222222"/>
                </a:solidFill>
                <a:latin typeface="微软雅黑"/>
                <a:ea typeface="微软雅黑"/>
              </a:rPr>
              <a:t>直航之一</a:t>
            </a:r>
            <a:r>
              <a:rPr sz="1300" b="0" dirty="0">
                <a:solidFill>
                  <a:srgbClr val="222222"/>
                </a:solidFill>
                <a:latin typeface="微软雅黑"/>
                <a:ea typeface="微软雅黑"/>
              </a:rPr>
              <a:t>, </a:t>
            </a:r>
            <a:r>
              <a:rPr sz="1300" b="0" dirty="0" err="1">
                <a:solidFill>
                  <a:srgbClr val="222222"/>
                </a:solidFill>
                <a:latin typeface="微软雅黑"/>
                <a:ea typeface="微软雅黑"/>
              </a:rPr>
              <a:t>再加无冲突与紧急两种</a:t>
            </a:r>
            <a:r>
              <a:rPr sz="1300" b="0" dirty="0">
                <a:solidFill>
                  <a:srgbClr val="222222"/>
                </a:solidFill>
                <a:latin typeface="微软雅黑"/>
                <a:ea typeface="微软雅黑"/>
              </a:rPr>
              <a:t>, </a:t>
            </a:r>
            <a:r>
              <a:rPr sz="1300" b="0" dirty="0" err="1">
                <a:solidFill>
                  <a:srgbClr val="222222"/>
                </a:solidFill>
                <a:latin typeface="微软雅黑"/>
                <a:ea typeface="微软雅黑"/>
              </a:rPr>
              <a:t>共六种态势</a:t>
            </a:r>
            <a:r>
              <a:rPr sz="1300" b="0" dirty="0">
                <a:solidFill>
                  <a:srgbClr val="222222"/>
                </a:solidFill>
                <a:latin typeface="微软雅黑"/>
                <a:ea typeface="微软雅黑"/>
              </a:rPr>
              <a:t>。</a:t>
            </a:r>
          </a:p>
          <a:p>
            <a:pPr algn="l">
              <a:spcBef>
                <a:spcPts val="0"/>
              </a:spcBef>
              <a:spcAft>
                <a:spcPts val="400"/>
              </a:spcAft>
            </a:pPr>
            <a:r>
              <a:rPr sz="1300" b="1" dirty="0" err="1">
                <a:solidFill>
                  <a:srgbClr val="222222"/>
                </a:solidFill>
                <a:latin typeface="微软雅黑"/>
                <a:ea typeface="微软雅黑"/>
              </a:rPr>
              <a:t>让路船与直航船</a:t>
            </a:r>
            <a:endParaRPr sz="1300" b="1" dirty="0">
              <a:solidFill>
                <a:srgbClr val="222222"/>
              </a:solidFill>
              <a:latin typeface="微软雅黑"/>
              <a:ea typeface="微软雅黑"/>
            </a:endParaRPr>
          </a:p>
          <a:p>
            <a:pPr algn="l">
              <a:spcBef>
                <a:spcPts val="0"/>
              </a:spcBef>
              <a:spcAft>
                <a:spcPts val="400"/>
              </a:spcAft>
            </a:pPr>
            <a:r>
              <a:rPr sz="1300" b="0" dirty="0" err="1">
                <a:solidFill>
                  <a:srgbClr val="222222"/>
                </a:solidFill>
                <a:latin typeface="微软雅黑"/>
                <a:ea typeface="微软雅黑"/>
              </a:rPr>
              <a:t>每类会遇里本船被指派角色</a:t>
            </a:r>
            <a:r>
              <a:rPr sz="1300" b="0" dirty="0">
                <a:solidFill>
                  <a:srgbClr val="222222"/>
                </a:solidFill>
                <a:latin typeface="微软雅黑"/>
                <a:ea typeface="微软雅黑"/>
              </a:rPr>
              <a:t>, </a:t>
            </a:r>
            <a:r>
              <a:rPr sz="1300" b="0" dirty="0" err="1">
                <a:solidFill>
                  <a:srgbClr val="222222"/>
                </a:solidFill>
                <a:latin typeface="微软雅黑"/>
                <a:ea typeface="微软雅黑"/>
              </a:rPr>
              <a:t>让路船须做出明显避让</a:t>
            </a:r>
            <a:r>
              <a:rPr sz="1300" b="0" dirty="0">
                <a:solidFill>
                  <a:srgbClr val="222222"/>
                </a:solidFill>
                <a:latin typeface="微软雅黑"/>
                <a:ea typeface="微软雅黑"/>
              </a:rPr>
              <a:t>, </a:t>
            </a:r>
            <a:r>
              <a:rPr sz="1300" b="0" dirty="0" err="1">
                <a:solidFill>
                  <a:srgbClr val="222222"/>
                </a:solidFill>
                <a:latin typeface="微软雅黑"/>
                <a:ea typeface="微软雅黑"/>
              </a:rPr>
              <a:t>对遇与交叉一律向右转</a:t>
            </a:r>
            <a:r>
              <a:rPr sz="1300" b="0" dirty="0">
                <a:solidFill>
                  <a:srgbClr val="222222"/>
                </a:solidFill>
                <a:latin typeface="微软雅黑"/>
                <a:ea typeface="微软雅黑"/>
              </a:rPr>
              <a:t>, </a:t>
            </a:r>
            <a:r>
              <a:rPr sz="1300" b="0" dirty="0" err="1">
                <a:solidFill>
                  <a:srgbClr val="222222"/>
                </a:solidFill>
                <a:latin typeface="微软雅黑"/>
                <a:ea typeface="微软雅黑"/>
              </a:rPr>
              <a:t>直航船须保向保速</a:t>
            </a:r>
            <a:r>
              <a:rPr sz="1300" b="0" dirty="0">
                <a:solidFill>
                  <a:srgbClr val="222222"/>
                </a:solidFill>
                <a:latin typeface="微软雅黑"/>
                <a:ea typeface="微软雅黑"/>
              </a:rPr>
              <a:t>。</a:t>
            </a:r>
          </a:p>
          <a:p>
            <a:pPr algn="l">
              <a:spcBef>
                <a:spcPts val="0"/>
              </a:spcBef>
              <a:spcAft>
                <a:spcPts val="400"/>
              </a:spcAft>
            </a:pPr>
            <a:r>
              <a:rPr sz="1300" b="1" dirty="0" err="1">
                <a:solidFill>
                  <a:srgbClr val="222222"/>
                </a:solidFill>
                <a:latin typeface="微软雅黑"/>
                <a:ea typeface="微软雅黑"/>
              </a:rPr>
              <a:t>条款号纪律</a:t>
            </a:r>
            <a:endParaRPr sz="1300" b="1" dirty="0">
              <a:solidFill>
                <a:srgbClr val="222222"/>
              </a:solidFill>
              <a:latin typeface="微软雅黑"/>
              <a:ea typeface="微软雅黑"/>
            </a:endParaRPr>
          </a:p>
          <a:p>
            <a:pPr algn="l">
              <a:spcBef>
                <a:spcPts val="0"/>
              </a:spcBef>
              <a:spcAft>
                <a:spcPts val="400"/>
              </a:spcAft>
            </a:pPr>
            <a:r>
              <a:rPr sz="1300" b="0" dirty="0" err="1">
                <a:solidFill>
                  <a:srgbClr val="222222"/>
                </a:solidFill>
                <a:latin typeface="微软雅黑"/>
                <a:ea typeface="微软雅黑"/>
              </a:rPr>
              <a:t>用国际规则真实条款号</a:t>
            </a:r>
            <a:r>
              <a:rPr lang="zh-CN" altLang="en-US" sz="1300" b="0" dirty="0">
                <a:solidFill>
                  <a:srgbClr val="222222"/>
                </a:solidFill>
                <a:latin typeface="微软雅黑"/>
                <a:ea typeface="微软雅黑"/>
              </a:rPr>
              <a:t>：</a:t>
            </a:r>
            <a:r>
              <a:rPr sz="1300" b="0" dirty="0" err="1">
                <a:solidFill>
                  <a:srgbClr val="222222"/>
                </a:solidFill>
                <a:latin typeface="微软雅黑"/>
                <a:ea typeface="微软雅黑"/>
              </a:rPr>
              <a:t>对遇</a:t>
            </a:r>
            <a:r>
              <a:rPr sz="1300" b="0" dirty="0">
                <a:solidFill>
                  <a:srgbClr val="222222"/>
                </a:solidFill>
                <a:latin typeface="微软雅黑"/>
                <a:ea typeface="微软雅黑"/>
              </a:rPr>
              <a:t> Rule 14, </a:t>
            </a:r>
            <a:r>
              <a:rPr sz="1300" b="0" dirty="0" err="1">
                <a:solidFill>
                  <a:srgbClr val="222222"/>
                </a:solidFill>
                <a:latin typeface="微软雅黑"/>
                <a:ea typeface="微软雅黑"/>
              </a:rPr>
              <a:t>交叉</a:t>
            </a:r>
            <a:r>
              <a:rPr sz="1300" b="0" dirty="0">
                <a:solidFill>
                  <a:srgbClr val="222222"/>
                </a:solidFill>
                <a:latin typeface="微软雅黑"/>
                <a:ea typeface="微软雅黑"/>
              </a:rPr>
              <a:t> Rule 15, </a:t>
            </a:r>
            <a:r>
              <a:rPr sz="1300" b="0" dirty="0" err="1">
                <a:solidFill>
                  <a:srgbClr val="222222"/>
                </a:solidFill>
                <a:latin typeface="微软雅黑"/>
                <a:ea typeface="微软雅黑"/>
              </a:rPr>
              <a:t>追越</a:t>
            </a:r>
            <a:r>
              <a:rPr sz="1300" b="0" dirty="0">
                <a:solidFill>
                  <a:srgbClr val="222222"/>
                </a:solidFill>
                <a:latin typeface="微软雅黑"/>
                <a:ea typeface="微软雅黑"/>
              </a:rPr>
              <a:t> Rule 13, </a:t>
            </a:r>
            <a:r>
              <a:rPr sz="1300" b="0" dirty="0" err="1">
                <a:solidFill>
                  <a:srgbClr val="222222"/>
                </a:solidFill>
                <a:latin typeface="微软雅黑"/>
                <a:ea typeface="微软雅黑"/>
              </a:rPr>
              <a:t>直航</a:t>
            </a:r>
            <a:r>
              <a:rPr sz="1300" b="0" dirty="0">
                <a:solidFill>
                  <a:srgbClr val="222222"/>
                </a:solidFill>
                <a:latin typeface="微软雅黑"/>
                <a:ea typeface="微软雅黑"/>
              </a:rPr>
              <a:t> Rule 17。</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502920" y="256032"/>
            <a:ext cx="11186160" cy="822960"/>
          </a:xfrm>
          <a:prstGeom prst="rect">
            <a:avLst/>
          </a:prstGeom>
          <a:noFill/>
        </p:spPr>
        <p:txBody>
          <a:bodyPr wrap="square" lIns="25400" tIns="25400" rIns="25400" bIns="25400" anchor="t">
            <a:spAutoFit/>
          </a:bodyPr>
          <a:lstStyle/>
          <a:p>
            <a:pPr algn="l">
              <a:spcBef>
                <a:spcPts val="0"/>
              </a:spcBef>
              <a:spcAft>
                <a:spcPts val="600"/>
              </a:spcAft>
            </a:pPr>
            <a:r>
              <a:rPr sz="2600" b="1">
                <a:solidFill>
                  <a:srgbClr val="000000"/>
                </a:solidFill>
                <a:latin typeface="微软雅黑"/>
                <a:ea typeface="微软雅黑"/>
              </a:rPr>
              <a:t>三、研究对象与船舶参数</a:t>
            </a:r>
          </a:p>
        </p:txBody>
      </p:sp>
      <p:pic>
        <p:nvPicPr>
          <p:cNvPr id="4" name="Picture 3" descr="fig_ship.png"/>
          <p:cNvPicPr>
            <a:picLocks noChangeAspect="1"/>
          </p:cNvPicPr>
          <p:nvPr/>
        </p:nvPicPr>
        <p:blipFill>
          <a:blip r:embed="rId2"/>
          <a:srcRect t="31823"/>
          <a:stretch>
            <a:fillRect/>
          </a:stretch>
        </p:blipFill>
        <p:spPr>
          <a:xfrm>
            <a:off x="502920" y="3728543"/>
            <a:ext cx="7370673" cy="2045757"/>
          </a:xfrm>
          <a:prstGeom prst="rect">
            <a:avLst/>
          </a:prstGeom>
        </p:spPr>
      </p:pic>
      <p:sp>
        <p:nvSpPr>
          <p:cNvPr id="5" name="TextBox 4"/>
          <p:cNvSpPr txBox="1"/>
          <p:nvPr/>
        </p:nvSpPr>
        <p:spPr>
          <a:xfrm>
            <a:off x="502920" y="1164101"/>
            <a:ext cx="11186160" cy="1785104"/>
          </a:xfrm>
          <a:prstGeom prst="rect">
            <a:avLst/>
          </a:prstGeom>
          <a:noFill/>
        </p:spPr>
        <p:txBody>
          <a:bodyPr wrap="square" lIns="25400" tIns="25400" rIns="25400" bIns="25400" anchor="t">
            <a:spAutoFit/>
          </a:bodyPr>
          <a:lstStyle/>
          <a:p>
            <a:pPr algn="l">
              <a:spcBef>
                <a:spcPts val="0"/>
              </a:spcBef>
              <a:spcAft>
                <a:spcPts val="400"/>
              </a:spcAft>
            </a:pPr>
            <a:r>
              <a:rPr sz="1600" b="1" dirty="0" err="1">
                <a:solidFill>
                  <a:srgbClr val="222222"/>
                </a:solidFill>
                <a:latin typeface="微软雅黑"/>
                <a:ea typeface="微软雅黑"/>
              </a:rPr>
              <a:t>船型与模型</a:t>
            </a:r>
            <a:r>
              <a:rPr lang="zh-CN" altLang="en-US" sz="1600" b="1" dirty="0">
                <a:solidFill>
                  <a:srgbClr val="222222"/>
                </a:solidFill>
                <a:latin typeface="微软雅黑"/>
                <a:ea typeface="微软雅黑"/>
              </a:rPr>
              <a:t>：</a:t>
            </a:r>
            <a:endParaRPr sz="1600" b="1" dirty="0">
              <a:solidFill>
                <a:srgbClr val="222222"/>
              </a:solidFill>
              <a:latin typeface="微软雅黑"/>
              <a:ea typeface="微软雅黑"/>
            </a:endParaRPr>
          </a:p>
          <a:p>
            <a:pPr algn="l">
              <a:spcBef>
                <a:spcPts val="0"/>
              </a:spcBef>
              <a:spcAft>
                <a:spcPts val="400"/>
              </a:spcAft>
            </a:pPr>
            <a:r>
              <a:rPr lang="zh-CN" altLang="en-US" sz="1600" b="0" dirty="0">
                <a:solidFill>
                  <a:srgbClr val="222222"/>
                </a:solidFill>
                <a:latin typeface="微软雅黑"/>
                <a:ea typeface="微软雅黑"/>
              </a:rPr>
              <a:t>仿真</a:t>
            </a:r>
            <a:r>
              <a:rPr sz="1600" b="0" dirty="0" err="1">
                <a:solidFill>
                  <a:srgbClr val="222222"/>
                </a:solidFill>
                <a:latin typeface="微软雅黑"/>
                <a:ea typeface="微软雅黑"/>
              </a:rPr>
              <a:t>船为集装箱船</a:t>
            </a:r>
            <a:r>
              <a:rPr lang="zh-CN" altLang="en-US" sz="1600" dirty="0">
                <a:solidFill>
                  <a:srgbClr val="222222"/>
                </a:solidFill>
                <a:latin typeface="微软雅黑"/>
                <a:ea typeface="微软雅黑"/>
              </a:rPr>
              <a:t>（</a:t>
            </a:r>
            <a:r>
              <a:rPr sz="1600" b="0" dirty="0">
                <a:solidFill>
                  <a:srgbClr val="222222"/>
                </a:solidFill>
                <a:latin typeface="微软雅黑"/>
                <a:ea typeface="微软雅黑"/>
              </a:rPr>
              <a:t>SR108</a:t>
            </a:r>
            <a:r>
              <a:rPr lang="zh-CN" altLang="en-US" sz="1600" b="0" dirty="0">
                <a:solidFill>
                  <a:srgbClr val="222222"/>
                </a:solidFill>
                <a:latin typeface="微软雅黑"/>
                <a:ea typeface="微软雅黑"/>
              </a:rPr>
              <a:t>）</a:t>
            </a:r>
            <a:r>
              <a:rPr sz="1600" b="0" dirty="0">
                <a:solidFill>
                  <a:srgbClr val="222222"/>
                </a:solidFill>
                <a:latin typeface="微软雅黑"/>
                <a:ea typeface="微软雅黑"/>
              </a:rPr>
              <a:t>, </a:t>
            </a:r>
            <a:r>
              <a:rPr sz="1600" b="0" dirty="0" err="1">
                <a:solidFill>
                  <a:srgbClr val="222222"/>
                </a:solidFill>
                <a:latin typeface="微软雅黑"/>
                <a:ea typeface="微软雅黑"/>
              </a:rPr>
              <a:t>采用</a:t>
            </a:r>
            <a:r>
              <a:rPr sz="1600" b="0" dirty="0">
                <a:solidFill>
                  <a:srgbClr val="222222"/>
                </a:solidFill>
                <a:latin typeface="微软雅黑"/>
                <a:ea typeface="微软雅黑"/>
              </a:rPr>
              <a:t> Krasowski </a:t>
            </a:r>
            <a:r>
              <a:rPr sz="1600" b="0" dirty="0" err="1">
                <a:solidFill>
                  <a:srgbClr val="222222"/>
                </a:solidFill>
                <a:latin typeface="微软雅黑"/>
                <a:ea typeface="微软雅黑"/>
              </a:rPr>
              <a:t>偏航受限点质量模型</a:t>
            </a:r>
            <a:r>
              <a:rPr sz="1600" b="0" dirty="0">
                <a:solidFill>
                  <a:srgbClr val="222222"/>
                </a:solidFill>
                <a:latin typeface="微软雅黑"/>
                <a:ea typeface="微软雅黑"/>
              </a:rPr>
              <a:t>, </a:t>
            </a:r>
            <a:r>
              <a:rPr lang="zh-CN" altLang="en-US" sz="1600" dirty="0">
                <a:solidFill>
                  <a:srgbClr val="222222"/>
                </a:solidFill>
                <a:latin typeface="微软雅黑"/>
                <a:ea typeface="微软雅黑"/>
              </a:rPr>
              <a:t>这里</a:t>
            </a:r>
            <a:r>
              <a:rPr sz="1600" b="0" dirty="0" err="1">
                <a:solidFill>
                  <a:srgbClr val="222222"/>
                </a:solidFill>
                <a:latin typeface="微软雅黑"/>
                <a:ea typeface="微软雅黑"/>
              </a:rPr>
              <a:t>沿用不改</a:t>
            </a:r>
            <a:r>
              <a:rPr sz="1600" b="0" dirty="0">
                <a:solidFill>
                  <a:srgbClr val="222222"/>
                </a:solidFill>
                <a:latin typeface="微软雅黑"/>
                <a:ea typeface="微软雅黑"/>
              </a:rPr>
              <a:t>。</a:t>
            </a:r>
          </a:p>
          <a:p>
            <a:pPr algn="l">
              <a:spcBef>
                <a:spcPts val="0"/>
              </a:spcBef>
              <a:spcAft>
                <a:spcPts val="400"/>
              </a:spcAft>
            </a:pPr>
            <a:r>
              <a:rPr sz="1600" b="1" dirty="0" err="1">
                <a:solidFill>
                  <a:srgbClr val="222222"/>
                </a:solidFill>
                <a:latin typeface="微软雅黑"/>
                <a:ea typeface="微软雅黑"/>
              </a:rPr>
              <a:t>连续控制</a:t>
            </a:r>
            <a:r>
              <a:rPr lang="zh-CN" altLang="en-US" sz="1600" b="1" dirty="0">
                <a:solidFill>
                  <a:srgbClr val="222222"/>
                </a:solidFill>
                <a:latin typeface="微软雅黑"/>
                <a:ea typeface="微软雅黑"/>
              </a:rPr>
              <a:t>：</a:t>
            </a:r>
            <a:endParaRPr sz="1600" b="1" dirty="0">
              <a:solidFill>
                <a:srgbClr val="222222"/>
              </a:solidFill>
              <a:latin typeface="微软雅黑"/>
              <a:ea typeface="微软雅黑"/>
            </a:endParaRPr>
          </a:p>
          <a:p>
            <a:pPr algn="l">
              <a:spcBef>
                <a:spcPts val="0"/>
              </a:spcBef>
              <a:spcAft>
                <a:spcPts val="400"/>
              </a:spcAft>
            </a:pPr>
            <a:r>
              <a:rPr sz="1600" b="0" dirty="0" err="1">
                <a:solidFill>
                  <a:srgbClr val="222222"/>
                </a:solidFill>
                <a:latin typeface="微软雅黑"/>
                <a:ea typeface="微软雅黑"/>
              </a:rPr>
              <a:t>智能体直接输出加速度与转艏率两个连续量</a:t>
            </a:r>
            <a:r>
              <a:rPr sz="1600" b="0" dirty="0">
                <a:solidFill>
                  <a:srgbClr val="222222"/>
                </a:solidFill>
                <a:latin typeface="微软雅黑"/>
                <a:ea typeface="微软雅黑"/>
              </a:rPr>
              <a:t>, </a:t>
            </a:r>
            <a:r>
              <a:rPr sz="1600" b="0" dirty="0" err="1">
                <a:solidFill>
                  <a:srgbClr val="222222"/>
                </a:solidFill>
                <a:latin typeface="微软雅黑"/>
                <a:ea typeface="微软雅黑"/>
              </a:rPr>
              <a:t>这是与离散动作方法的根本区别</a:t>
            </a:r>
            <a:r>
              <a:rPr sz="1600" b="0" dirty="0">
                <a:solidFill>
                  <a:srgbClr val="222222"/>
                </a:solidFill>
                <a:latin typeface="微软雅黑"/>
                <a:ea typeface="微软雅黑"/>
              </a:rPr>
              <a:t>。</a:t>
            </a:r>
          </a:p>
          <a:p>
            <a:pPr algn="l">
              <a:spcBef>
                <a:spcPts val="0"/>
              </a:spcBef>
              <a:spcAft>
                <a:spcPts val="400"/>
              </a:spcAft>
            </a:pPr>
            <a:r>
              <a:rPr sz="1600" b="1" dirty="0" err="1">
                <a:solidFill>
                  <a:srgbClr val="222222"/>
                </a:solidFill>
                <a:latin typeface="微软雅黑"/>
                <a:ea typeface="微软雅黑"/>
              </a:rPr>
              <a:t>碰撞判定</a:t>
            </a:r>
            <a:r>
              <a:rPr lang="zh-CN" altLang="en-US" sz="1600" b="1" dirty="0">
                <a:solidFill>
                  <a:srgbClr val="222222"/>
                </a:solidFill>
                <a:latin typeface="微软雅黑"/>
                <a:ea typeface="微软雅黑"/>
              </a:rPr>
              <a:t>：</a:t>
            </a:r>
            <a:endParaRPr sz="1600" b="1" dirty="0">
              <a:solidFill>
                <a:srgbClr val="222222"/>
              </a:solidFill>
              <a:latin typeface="微软雅黑"/>
              <a:ea typeface="微软雅黑"/>
            </a:endParaRPr>
          </a:p>
          <a:p>
            <a:pPr algn="l">
              <a:spcBef>
                <a:spcPts val="0"/>
              </a:spcBef>
              <a:spcAft>
                <a:spcPts val="400"/>
              </a:spcAft>
            </a:pPr>
            <a:r>
              <a:rPr sz="1600" b="0" dirty="0" err="1">
                <a:solidFill>
                  <a:srgbClr val="222222"/>
                </a:solidFill>
                <a:latin typeface="微软雅黑"/>
                <a:ea typeface="微软雅黑"/>
              </a:rPr>
              <a:t>用</a:t>
            </a:r>
            <a:r>
              <a:rPr sz="1600" b="0" dirty="0">
                <a:solidFill>
                  <a:srgbClr val="222222"/>
                </a:solidFill>
                <a:latin typeface="微软雅黑"/>
                <a:ea typeface="微软雅黑"/>
              </a:rPr>
              <a:t> 175 </a:t>
            </a:r>
            <a:r>
              <a:rPr sz="1600" b="0" dirty="0" err="1">
                <a:solidFill>
                  <a:srgbClr val="222222"/>
                </a:solidFill>
                <a:latin typeface="微软雅黑"/>
                <a:ea typeface="微软雅黑"/>
              </a:rPr>
              <a:t>乘</a:t>
            </a:r>
            <a:r>
              <a:rPr sz="1600" b="0" dirty="0">
                <a:solidFill>
                  <a:srgbClr val="222222"/>
                </a:solidFill>
                <a:latin typeface="微软雅黑"/>
                <a:ea typeface="微软雅黑"/>
              </a:rPr>
              <a:t> 25.4 </a:t>
            </a:r>
            <a:r>
              <a:rPr sz="1600" b="0" dirty="0" err="1">
                <a:solidFill>
                  <a:srgbClr val="222222"/>
                </a:solidFill>
                <a:latin typeface="微软雅黑"/>
                <a:ea typeface="微软雅黑"/>
              </a:rPr>
              <a:t>米的旋转矩形占据判交叠</a:t>
            </a:r>
            <a:r>
              <a:rPr sz="1600" b="0" dirty="0">
                <a:solidFill>
                  <a:srgbClr val="222222"/>
                </a:solidFill>
                <a:latin typeface="微软雅黑"/>
                <a:ea typeface="微软雅黑"/>
              </a:rPr>
              <a:t>, </a:t>
            </a:r>
            <a:r>
              <a:rPr sz="1600" b="0" dirty="0" err="1">
                <a:solidFill>
                  <a:srgbClr val="222222"/>
                </a:solidFill>
                <a:latin typeface="微软雅黑"/>
                <a:ea typeface="微软雅黑"/>
              </a:rPr>
              <a:t>不是简化的圆形半径</a:t>
            </a:r>
            <a:r>
              <a:rPr sz="1600" b="0" dirty="0">
                <a:solidFill>
                  <a:srgbClr val="222222"/>
                </a:solidFill>
                <a:latin typeface="微软雅黑"/>
                <a:ea typeface="微软雅黑"/>
              </a:rPr>
              <a:t>。</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502920" y="256032"/>
            <a:ext cx="11186160" cy="822960"/>
          </a:xfrm>
          <a:prstGeom prst="rect">
            <a:avLst/>
          </a:prstGeom>
          <a:noFill/>
        </p:spPr>
        <p:txBody>
          <a:bodyPr wrap="square" lIns="25400" tIns="25400" rIns="25400" bIns="25400" anchor="t">
            <a:spAutoFit/>
          </a:bodyPr>
          <a:lstStyle/>
          <a:p>
            <a:pPr algn="l">
              <a:spcBef>
                <a:spcPts val="0"/>
              </a:spcBef>
              <a:spcAft>
                <a:spcPts val="600"/>
              </a:spcAft>
            </a:pPr>
            <a:r>
              <a:rPr sz="2600" b="1">
                <a:solidFill>
                  <a:srgbClr val="000000"/>
                </a:solidFill>
                <a:latin typeface="微软雅黑"/>
                <a:ea typeface="微软雅黑"/>
              </a:rPr>
              <a:t>三、观测空间: 策略看见什么</a:t>
            </a:r>
          </a:p>
        </p:txBody>
      </p:sp>
      <p:pic>
        <p:nvPicPr>
          <p:cNvPr id="4" name="Picture 3" descr="fig_obs_space.png"/>
          <p:cNvPicPr>
            <a:picLocks noChangeAspect="1"/>
          </p:cNvPicPr>
          <p:nvPr/>
        </p:nvPicPr>
        <p:blipFill>
          <a:blip r:embed="rId2"/>
          <a:stretch>
            <a:fillRect/>
          </a:stretch>
        </p:blipFill>
        <p:spPr>
          <a:xfrm>
            <a:off x="1327355" y="1325880"/>
            <a:ext cx="9537288" cy="3108960"/>
          </a:xfrm>
          <a:prstGeom prst="rect">
            <a:avLst/>
          </a:prstGeom>
        </p:spPr>
      </p:pic>
      <p:sp>
        <p:nvSpPr>
          <p:cNvPr id="5" name="TextBox 4"/>
          <p:cNvSpPr txBox="1"/>
          <p:nvPr/>
        </p:nvSpPr>
        <p:spPr>
          <a:xfrm>
            <a:off x="502920" y="4800600"/>
            <a:ext cx="11186160" cy="1463040"/>
          </a:xfrm>
          <a:prstGeom prst="rect">
            <a:avLst/>
          </a:prstGeom>
          <a:noFill/>
        </p:spPr>
        <p:txBody>
          <a:bodyPr wrap="square" lIns="25400" tIns="25400" rIns="25400" bIns="25400" anchor="t">
            <a:spAutoFit/>
          </a:bodyPr>
          <a:lstStyle/>
          <a:p>
            <a:pPr algn="l">
              <a:spcBef>
                <a:spcPts val="0"/>
              </a:spcBef>
              <a:spcAft>
                <a:spcPts val="600"/>
              </a:spcAft>
            </a:pPr>
            <a:r>
              <a:rPr sz="1300" b="0">
                <a:solidFill>
                  <a:srgbClr val="222222"/>
                </a:solidFill>
                <a:latin typeface="微软雅黑"/>
                <a:ea typeface="微软雅黑"/>
              </a:rPr>
              <a:t>策略输入是 27 维实数向量, 逐字复现 Krasowski, 分为本船自身, 目标, 四个方向扇区的他船, 以及五个终止标志四组。这是理解策略在学什么的前提, 观测口径与离散基线完全一致以保证对比干净。</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502920" y="256032"/>
            <a:ext cx="11186160" cy="822960"/>
          </a:xfrm>
          <a:prstGeom prst="rect">
            <a:avLst/>
          </a:prstGeom>
          <a:noFill/>
        </p:spPr>
        <p:txBody>
          <a:bodyPr wrap="square" lIns="25400" tIns="25400" rIns="25400" bIns="25400" anchor="t">
            <a:spAutoFit/>
          </a:bodyPr>
          <a:lstStyle/>
          <a:p>
            <a:pPr algn="l">
              <a:spcBef>
                <a:spcPts val="0"/>
              </a:spcBef>
              <a:spcAft>
                <a:spcPts val="600"/>
              </a:spcAft>
            </a:pPr>
            <a:r>
              <a:rPr sz="2600" b="1">
                <a:solidFill>
                  <a:srgbClr val="000000"/>
                </a:solidFill>
                <a:latin typeface="微软雅黑"/>
                <a:ea typeface="微软雅黑"/>
              </a:rPr>
              <a:t>三、到达判定与终止条件</a:t>
            </a:r>
          </a:p>
        </p:txBody>
      </p:sp>
      <p:sp>
        <p:nvSpPr>
          <p:cNvPr id="4" name="TextBox 3"/>
          <p:cNvSpPr txBox="1"/>
          <p:nvPr/>
        </p:nvSpPr>
        <p:spPr>
          <a:xfrm>
            <a:off x="502920" y="1272964"/>
            <a:ext cx="11186160" cy="297517"/>
          </a:xfrm>
          <a:prstGeom prst="rect">
            <a:avLst/>
          </a:prstGeom>
          <a:noFill/>
        </p:spPr>
        <p:txBody>
          <a:bodyPr wrap="square" lIns="25400" tIns="25400" rIns="25400" bIns="25400" anchor="t">
            <a:spAutoFit/>
          </a:bodyPr>
          <a:lstStyle/>
          <a:p>
            <a:pPr algn="l">
              <a:spcBef>
                <a:spcPts val="0"/>
              </a:spcBef>
              <a:spcAft>
                <a:spcPts val="600"/>
              </a:spcAft>
            </a:pPr>
            <a:r>
              <a:rPr sz="1600" b="1" dirty="0" err="1">
                <a:solidFill>
                  <a:srgbClr val="555555"/>
                </a:solidFill>
                <a:latin typeface="微软雅黑"/>
                <a:ea typeface="微软雅黑"/>
              </a:rPr>
              <a:t>到达不是简单的到点</a:t>
            </a:r>
            <a:r>
              <a:rPr sz="1600" b="1" dirty="0">
                <a:solidFill>
                  <a:srgbClr val="555555"/>
                </a:solidFill>
                <a:latin typeface="微软雅黑"/>
                <a:ea typeface="微软雅黑"/>
              </a:rPr>
              <a:t>, </a:t>
            </a:r>
            <a:r>
              <a:rPr sz="1600" b="1" dirty="0" err="1">
                <a:solidFill>
                  <a:srgbClr val="555555"/>
                </a:solidFill>
                <a:latin typeface="微软雅黑"/>
                <a:ea typeface="微软雅黑"/>
              </a:rPr>
              <a:t>采用</a:t>
            </a:r>
            <a:r>
              <a:rPr sz="1600" b="1" dirty="0">
                <a:solidFill>
                  <a:srgbClr val="555555"/>
                </a:solidFill>
                <a:latin typeface="微软雅黑"/>
                <a:ea typeface="微软雅黑"/>
              </a:rPr>
              <a:t> </a:t>
            </a:r>
            <a:r>
              <a:rPr sz="1600" b="1" dirty="0" err="1">
                <a:solidFill>
                  <a:srgbClr val="555555"/>
                </a:solidFill>
                <a:latin typeface="微软雅黑"/>
                <a:ea typeface="微软雅黑"/>
              </a:rPr>
              <a:t>CommonOcean</a:t>
            </a:r>
            <a:r>
              <a:rPr sz="1600" b="1" dirty="0">
                <a:solidFill>
                  <a:srgbClr val="555555"/>
                </a:solidFill>
                <a:latin typeface="微软雅黑"/>
                <a:ea typeface="微软雅黑"/>
              </a:rPr>
              <a:t> </a:t>
            </a:r>
            <a:r>
              <a:rPr sz="1600" b="1" dirty="0" err="1">
                <a:solidFill>
                  <a:srgbClr val="555555"/>
                </a:solidFill>
                <a:latin typeface="微软雅黑"/>
                <a:ea typeface="微软雅黑"/>
              </a:rPr>
              <a:t>官方口径</a:t>
            </a:r>
            <a:r>
              <a:rPr sz="1600" b="1" dirty="0">
                <a:solidFill>
                  <a:srgbClr val="555555"/>
                </a:solidFill>
                <a:latin typeface="微软雅黑"/>
                <a:ea typeface="微软雅黑"/>
              </a:rPr>
              <a:t>, </a:t>
            </a:r>
            <a:r>
              <a:rPr sz="1600" b="1" dirty="0" err="1">
                <a:solidFill>
                  <a:srgbClr val="555555"/>
                </a:solidFill>
                <a:latin typeface="微软雅黑"/>
                <a:ea typeface="微软雅黑"/>
              </a:rPr>
              <a:t>三条同时成立才算到达</a:t>
            </a:r>
            <a:endParaRPr sz="1600" b="1" dirty="0">
              <a:solidFill>
                <a:srgbClr val="555555"/>
              </a:solidFill>
              <a:latin typeface="微软雅黑"/>
              <a:ea typeface="微软雅黑"/>
            </a:endParaRPr>
          </a:p>
        </p:txBody>
      </p:sp>
      <p:sp>
        <p:nvSpPr>
          <p:cNvPr id="5" name="TextBox 4"/>
          <p:cNvSpPr txBox="1"/>
          <p:nvPr/>
        </p:nvSpPr>
        <p:spPr>
          <a:xfrm>
            <a:off x="502920" y="1670556"/>
            <a:ext cx="10454640" cy="866904"/>
          </a:xfrm>
          <a:prstGeom prst="rect">
            <a:avLst/>
          </a:prstGeom>
          <a:noFill/>
        </p:spPr>
        <p:txBody>
          <a:bodyPr wrap="square" lIns="25400" tIns="25400" rIns="25400" bIns="25400" anchor="t">
            <a:spAutoFit/>
          </a:bodyPr>
          <a:lstStyle/>
          <a:p>
            <a:pPr marL="342900" indent="-342900" algn="l">
              <a:spcBef>
                <a:spcPts val="0"/>
              </a:spcBef>
              <a:spcAft>
                <a:spcPts val="300"/>
              </a:spcAft>
              <a:buFont typeface="Arial" panose="020B0604020202020204" pitchFamily="34" charset="0"/>
              <a:buChar char="•"/>
            </a:pPr>
            <a:r>
              <a:rPr sz="1600" b="1" dirty="0" err="1">
                <a:solidFill>
                  <a:srgbClr val="0E2841"/>
                </a:solidFill>
                <a:latin typeface="微软雅黑"/>
                <a:ea typeface="微软雅黑"/>
              </a:rPr>
              <a:t>位置进入目标区</a:t>
            </a:r>
            <a:endParaRPr sz="1600" b="1" dirty="0">
              <a:solidFill>
                <a:srgbClr val="0E2841"/>
              </a:solidFill>
              <a:latin typeface="微软雅黑"/>
              <a:ea typeface="微软雅黑"/>
            </a:endParaRPr>
          </a:p>
          <a:p>
            <a:pPr marL="342900" indent="-342900" algn="l">
              <a:spcBef>
                <a:spcPts val="0"/>
              </a:spcBef>
              <a:spcAft>
                <a:spcPts val="300"/>
              </a:spcAft>
              <a:buFont typeface="Arial" panose="020B0604020202020204" pitchFamily="34" charset="0"/>
              <a:buChar char="•"/>
            </a:pPr>
            <a:r>
              <a:rPr sz="1600" b="1" dirty="0" err="1">
                <a:solidFill>
                  <a:srgbClr val="0E2841"/>
                </a:solidFill>
                <a:latin typeface="微软雅黑"/>
                <a:ea typeface="微软雅黑"/>
              </a:rPr>
              <a:t>艏向落在目标朝向区间</a:t>
            </a:r>
            <a:endParaRPr sz="1600" b="1" dirty="0">
              <a:solidFill>
                <a:srgbClr val="0E2841"/>
              </a:solidFill>
              <a:latin typeface="微软雅黑"/>
              <a:ea typeface="微软雅黑"/>
            </a:endParaRPr>
          </a:p>
          <a:p>
            <a:pPr marL="342900" indent="-342900" algn="l">
              <a:spcBef>
                <a:spcPts val="0"/>
              </a:spcBef>
              <a:spcAft>
                <a:spcPts val="300"/>
              </a:spcAft>
              <a:buFont typeface="Arial" panose="020B0604020202020204" pitchFamily="34" charset="0"/>
              <a:buChar char="•"/>
            </a:pPr>
            <a:r>
              <a:rPr sz="1600" b="1" dirty="0" err="1">
                <a:solidFill>
                  <a:srgbClr val="0E2841"/>
                </a:solidFill>
                <a:latin typeface="微软雅黑"/>
                <a:ea typeface="微软雅黑"/>
              </a:rPr>
              <a:t>时间步落在目标时间区间</a:t>
            </a:r>
            <a:endParaRPr sz="1600" b="1" dirty="0">
              <a:solidFill>
                <a:srgbClr val="0E2841"/>
              </a:solidFill>
              <a:latin typeface="微软雅黑"/>
              <a:ea typeface="微软雅黑"/>
            </a:endParaRPr>
          </a:p>
        </p:txBody>
      </p:sp>
      <p:sp>
        <p:nvSpPr>
          <p:cNvPr id="6" name="TextBox 5"/>
          <p:cNvSpPr txBox="1"/>
          <p:nvPr/>
        </p:nvSpPr>
        <p:spPr>
          <a:xfrm>
            <a:off x="502920" y="2776862"/>
            <a:ext cx="11186160" cy="2626360"/>
          </a:xfrm>
          <a:prstGeom prst="rect">
            <a:avLst/>
          </a:prstGeom>
          <a:noFill/>
        </p:spPr>
        <p:txBody>
          <a:bodyPr wrap="square" lIns="25400" tIns="25400" rIns="25400" bIns="25400" anchor="t">
            <a:spAutoFit/>
          </a:bodyPr>
          <a:lstStyle/>
          <a:p>
            <a:pPr algn="l">
              <a:spcBef>
                <a:spcPts val="0"/>
              </a:spcBef>
              <a:spcAft>
                <a:spcPts val="400"/>
              </a:spcAft>
            </a:pPr>
            <a:r>
              <a:rPr b="1" dirty="0" err="1">
                <a:solidFill>
                  <a:srgbClr val="222222"/>
                </a:solidFill>
                <a:latin typeface="微软雅黑"/>
                <a:ea typeface="微软雅黑"/>
              </a:rPr>
              <a:t>目标区</a:t>
            </a:r>
            <a:endParaRPr b="1" dirty="0">
              <a:solidFill>
                <a:srgbClr val="222222"/>
              </a:solidFill>
              <a:latin typeface="微软雅黑"/>
              <a:ea typeface="微软雅黑"/>
            </a:endParaRPr>
          </a:p>
          <a:p>
            <a:pPr algn="l">
              <a:spcBef>
                <a:spcPts val="0"/>
              </a:spcBef>
              <a:spcAft>
                <a:spcPts val="400"/>
              </a:spcAft>
            </a:pPr>
            <a:r>
              <a:rPr b="0" dirty="0" err="1">
                <a:solidFill>
                  <a:srgbClr val="222222"/>
                </a:solidFill>
                <a:latin typeface="微软雅黑"/>
                <a:ea typeface="微软雅黑"/>
              </a:rPr>
              <a:t>约</a:t>
            </a:r>
            <a:r>
              <a:rPr b="0" dirty="0">
                <a:solidFill>
                  <a:srgbClr val="222222"/>
                </a:solidFill>
                <a:latin typeface="微软雅黑"/>
                <a:ea typeface="微软雅黑"/>
              </a:rPr>
              <a:t> 400 </a:t>
            </a:r>
            <a:r>
              <a:rPr b="0" dirty="0" err="1">
                <a:solidFill>
                  <a:srgbClr val="222222"/>
                </a:solidFill>
                <a:latin typeface="微软雅黑"/>
                <a:ea typeface="微软雅黑"/>
              </a:rPr>
              <a:t>乘</a:t>
            </a:r>
            <a:r>
              <a:rPr b="0" dirty="0">
                <a:solidFill>
                  <a:srgbClr val="222222"/>
                </a:solidFill>
                <a:latin typeface="微软雅黑"/>
                <a:ea typeface="微软雅黑"/>
              </a:rPr>
              <a:t> 60 </a:t>
            </a:r>
            <a:r>
              <a:rPr b="0" dirty="0" err="1">
                <a:solidFill>
                  <a:srgbClr val="222222"/>
                </a:solidFill>
                <a:latin typeface="微软雅黑"/>
                <a:ea typeface="微软雅黑"/>
              </a:rPr>
              <a:t>米的矩形</a:t>
            </a:r>
            <a:r>
              <a:rPr b="0" dirty="0">
                <a:solidFill>
                  <a:srgbClr val="222222"/>
                </a:solidFill>
                <a:latin typeface="微软雅黑"/>
                <a:ea typeface="微软雅黑"/>
              </a:rPr>
              <a:t>, </a:t>
            </a:r>
            <a:r>
              <a:rPr b="0" dirty="0" err="1">
                <a:solidFill>
                  <a:srgbClr val="222222"/>
                </a:solidFill>
                <a:latin typeface="微软雅黑"/>
                <a:ea typeface="微软雅黑"/>
              </a:rPr>
              <a:t>距起点约</a:t>
            </a:r>
            <a:r>
              <a:rPr b="0" dirty="0">
                <a:solidFill>
                  <a:srgbClr val="222222"/>
                </a:solidFill>
                <a:latin typeface="微软雅黑"/>
                <a:ea typeface="微软雅黑"/>
              </a:rPr>
              <a:t> 4500 </a:t>
            </a:r>
            <a:r>
              <a:rPr b="0" dirty="0" err="1">
                <a:solidFill>
                  <a:srgbClr val="222222"/>
                </a:solidFill>
                <a:latin typeface="微软雅黑"/>
                <a:ea typeface="微软雅黑"/>
              </a:rPr>
              <a:t>米</a:t>
            </a:r>
            <a:r>
              <a:rPr b="0" dirty="0">
                <a:solidFill>
                  <a:srgbClr val="222222"/>
                </a:solidFill>
                <a:latin typeface="微软雅黑"/>
                <a:ea typeface="微软雅黑"/>
              </a:rPr>
              <a:t>。</a:t>
            </a:r>
            <a:endParaRPr lang="en-US" b="0" dirty="0">
              <a:solidFill>
                <a:srgbClr val="222222"/>
              </a:solidFill>
              <a:latin typeface="微软雅黑"/>
              <a:ea typeface="微软雅黑"/>
            </a:endParaRPr>
          </a:p>
          <a:p>
            <a:pPr algn="l">
              <a:spcBef>
                <a:spcPts val="0"/>
              </a:spcBef>
              <a:spcAft>
                <a:spcPts val="400"/>
              </a:spcAft>
            </a:pPr>
            <a:endParaRPr b="0" dirty="0">
              <a:solidFill>
                <a:srgbClr val="222222"/>
              </a:solidFill>
              <a:latin typeface="微软雅黑"/>
              <a:ea typeface="微软雅黑"/>
            </a:endParaRPr>
          </a:p>
          <a:p>
            <a:pPr algn="l">
              <a:spcBef>
                <a:spcPts val="0"/>
              </a:spcBef>
              <a:spcAft>
                <a:spcPts val="400"/>
              </a:spcAft>
            </a:pPr>
            <a:r>
              <a:rPr b="1" dirty="0" err="1">
                <a:solidFill>
                  <a:srgbClr val="222222"/>
                </a:solidFill>
                <a:latin typeface="微软雅黑"/>
                <a:ea typeface="微软雅黑"/>
              </a:rPr>
              <a:t>五个终止条件</a:t>
            </a:r>
            <a:r>
              <a:rPr b="1" dirty="0">
                <a:solidFill>
                  <a:srgbClr val="222222"/>
                </a:solidFill>
                <a:latin typeface="微软雅黑"/>
                <a:ea typeface="微软雅黑"/>
              </a:rPr>
              <a:t>, </a:t>
            </a:r>
            <a:r>
              <a:rPr b="1" dirty="0" err="1">
                <a:solidFill>
                  <a:srgbClr val="222222"/>
                </a:solidFill>
                <a:latin typeface="微软雅黑"/>
                <a:ea typeface="微软雅黑"/>
              </a:rPr>
              <a:t>任一成立即结束一局</a:t>
            </a:r>
            <a:endParaRPr b="1" dirty="0">
              <a:solidFill>
                <a:srgbClr val="222222"/>
              </a:solidFill>
              <a:latin typeface="微软雅黑"/>
              <a:ea typeface="微软雅黑"/>
            </a:endParaRPr>
          </a:p>
          <a:p>
            <a:pPr algn="l">
              <a:spcBef>
                <a:spcPts val="0"/>
              </a:spcBef>
              <a:spcAft>
                <a:spcPts val="400"/>
              </a:spcAft>
            </a:pPr>
            <a:r>
              <a:rPr b="0" dirty="0" err="1">
                <a:solidFill>
                  <a:srgbClr val="222222"/>
                </a:solidFill>
                <a:latin typeface="微软雅黑"/>
                <a:ea typeface="微软雅黑"/>
              </a:rPr>
              <a:t>到达</a:t>
            </a:r>
            <a:r>
              <a:rPr lang="zh-CN" altLang="en-US" dirty="0">
                <a:solidFill>
                  <a:srgbClr val="222222"/>
                </a:solidFill>
                <a:latin typeface="微软雅黑"/>
                <a:ea typeface="微软雅黑"/>
              </a:rPr>
              <a:t>、</a:t>
            </a:r>
            <a:r>
              <a:rPr b="0" dirty="0" err="1">
                <a:solidFill>
                  <a:srgbClr val="222222"/>
                </a:solidFill>
                <a:latin typeface="微软雅黑"/>
                <a:ea typeface="微软雅黑"/>
              </a:rPr>
              <a:t>碰撞</a:t>
            </a:r>
            <a:r>
              <a:rPr b="0" dirty="0">
                <a:solidFill>
                  <a:srgbClr val="222222"/>
                </a:solidFill>
                <a:latin typeface="微软雅黑"/>
                <a:ea typeface="微软雅黑"/>
              </a:rPr>
              <a:t>(</a:t>
            </a:r>
            <a:r>
              <a:rPr b="0" dirty="0" err="1">
                <a:solidFill>
                  <a:srgbClr val="222222"/>
                </a:solidFill>
                <a:latin typeface="微软雅黑"/>
                <a:ea typeface="微软雅黑"/>
              </a:rPr>
              <a:t>船体多边形相交</a:t>
            </a:r>
            <a:r>
              <a:rPr lang="en-US" altLang="zh-CN" b="0" dirty="0">
                <a:solidFill>
                  <a:srgbClr val="222222"/>
                </a:solidFill>
                <a:latin typeface="微软雅黑"/>
                <a:ea typeface="微软雅黑"/>
              </a:rPr>
              <a:t>)</a:t>
            </a:r>
            <a:r>
              <a:rPr lang="zh-CN" altLang="en-US" b="0" dirty="0">
                <a:solidFill>
                  <a:srgbClr val="222222"/>
                </a:solidFill>
                <a:latin typeface="微软雅黑"/>
                <a:ea typeface="微软雅黑"/>
              </a:rPr>
              <a:t>、</a:t>
            </a:r>
            <a:r>
              <a:rPr b="0" dirty="0" err="1">
                <a:solidFill>
                  <a:srgbClr val="222222"/>
                </a:solidFill>
                <a:latin typeface="微软雅黑"/>
                <a:ea typeface="微软雅黑"/>
              </a:rPr>
              <a:t>超时</a:t>
            </a:r>
            <a:r>
              <a:rPr b="0" dirty="0">
                <a:solidFill>
                  <a:srgbClr val="222222"/>
                </a:solidFill>
                <a:latin typeface="微软雅黑"/>
                <a:ea typeface="微软雅黑"/>
              </a:rPr>
              <a:t>(</a:t>
            </a:r>
            <a:r>
              <a:rPr b="0" dirty="0" err="1">
                <a:solidFill>
                  <a:srgbClr val="222222"/>
                </a:solidFill>
                <a:latin typeface="微软雅黑"/>
                <a:ea typeface="微软雅黑"/>
              </a:rPr>
              <a:t>最多</a:t>
            </a:r>
            <a:r>
              <a:rPr b="0" dirty="0">
                <a:solidFill>
                  <a:srgbClr val="222222"/>
                </a:solidFill>
                <a:latin typeface="微软雅黑"/>
                <a:ea typeface="微软雅黑"/>
              </a:rPr>
              <a:t> 170 </a:t>
            </a:r>
            <a:r>
              <a:rPr b="0" dirty="0" err="1">
                <a:solidFill>
                  <a:srgbClr val="222222"/>
                </a:solidFill>
                <a:latin typeface="微软雅黑"/>
                <a:ea typeface="微软雅黑"/>
              </a:rPr>
              <a:t>步</a:t>
            </a:r>
            <a:r>
              <a:rPr b="0" dirty="0">
                <a:solidFill>
                  <a:srgbClr val="222222"/>
                </a:solidFill>
                <a:latin typeface="微软雅黑"/>
                <a:ea typeface="微软雅黑"/>
              </a:rPr>
              <a:t>, </a:t>
            </a:r>
            <a:r>
              <a:rPr b="0" dirty="0" err="1">
                <a:solidFill>
                  <a:srgbClr val="222222"/>
                </a:solidFill>
                <a:latin typeface="微软雅黑"/>
                <a:ea typeface="微软雅黑"/>
              </a:rPr>
              <a:t>每步</a:t>
            </a:r>
            <a:r>
              <a:rPr b="0" dirty="0">
                <a:solidFill>
                  <a:srgbClr val="222222"/>
                </a:solidFill>
                <a:latin typeface="微软雅黑"/>
                <a:ea typeface="微软雅黑"/>
              </a:rPr>
              <a:t> 10 </a:t>
            </a:r>
            <a:r>
              <a:rPr b="0" dirty="0" err="1">
                <a:solidFill>
                  <a:srgbClr val="222222"/>
                </a:solidFill>
                <a:latin typeface="微软雅黑"/>
                <a:ea typeface="微软雅黑"/>
              </a:rPr>
              <a:t>秒</a:t>
            </a:r>
            <a:r>
              <a:rPr b="0" dirty="0">
                <a:solidFill>
                  <a:srgbClr val="222222"/>
                </a:solidFill>
                <a:latin typeface="微软雅黑"/>
                <a:ea typeface="微软雅黑"/>
              </a:rPr>
              <a:t>)</a:t>
            </a:r>
            <a:r>
              <a:rPr lang="zh-CN" altLang="en-US" b="0" dirty="0">
                <a:solidFill>
                  <a:srgbClr val="222222"/>
                </a:solidFill>
                <a:latin typeface="微软雅黑"/>
                <a:ea typeface="微软雅黑"/>
              </a:rPr>
              <a:t>、</a:t>
            </a:r>
            <a:r>
              <a:rPr b="0" dirty="0" err="1">
                <a:solidFill>
                  <a:srgbClr val="222222"/>
                </a:solidFill>
                <a:latin typeface="微软雅黑"/>
                <a:ea typeface="微软雅黑"/>
              </a:rPr>
              <a:t>出界</a:t>
            </a:r>
            <a:r>
              <a:rPr lang="zh-CN" altLang="en-US" dirty="0">
                <a:solidFill>
                  <a:srgbClr val="222222"/>
                </a:solidFill>
                <a:latin typeface="微软雅黑"/>
                <a:ea typeface="微软雅黑"/>
              </a:rPr>
              <a:t>、</a:t>
            </a:r>
            <a:r>
              <a:rPr b="0" dirty="0" err="1">
                <a:solidFill>
                  <a:srgbClr val="222222"/>
                </a:solidFill>
                <a:latin typeface="微软雅黑"/>
                <a:ea typeface="微软雅黑"/>
              </a:rPr>
              <a:t>停船</a:t>
            </a:r>
            <a:r>
              <a:rPr b="0" dirty="0">
                <a:solidFill>
                  <a:srgbClr val="222222"/>
                </a:solidFill>
                <a:latin typeface="微软雅黑"/>
                <a:ea typeface="微软雅黑"/>
              </a:rPr>
              <a:t>。</a:t>
            </a:r>
            <a:endParaRPr lang="en-US" b="0" dirty="0">
              <a:solidFill>
                <a:srgbClr val="222222"/>
              </a:solidFill>
              <a:latin typeface="微软雅黑"/>
              <a:ea typeface="微软雅黑"/>
            </a:endParaRPr>
          </a:p>
          <a:p>
            <a:pPr algn="l">
              <a:spcBef>
                <a:spcPts val="0"/>
              </a:spcBef>
              <a:spcAft>
                <a:spcPts val="400"/>
              </a:spcAft>
            </a:pPr>
            <a:endParaRPr b="0" dirty="0">
              <a:solidFill>
                <a:srgbClr val="222222"/>
              </a:solidFill>
              <a:latin typeface="微软雅黑"/>
              <a:ea typeface="微软雅黑"/>
            </a:endParaRPr>
          </a:p>
          <a:p>
            <a:pPr algn="l">
              <a:spcBef>
                <a:spcPts val="0"/>
              </a:spcBef>
              <a:spcAft>
                <a:spcPts val="400"/>
              </a:spcAft>
            </a:pPr>
            <a:r>
              <a:rPr b="1" dirty="0" err="1">
                <a:solidFill>
                  <a:srgbClr val="222222"/>
                </a:solidFill>
                <a:latin typeface="微软雅黑"/>
                <a:ea typeface="微软雅黑"/>
              </a:rPr>
              <a:t>为什么强调</a:t>
            </a:r>
            <a:r>
              <a:rPr lang="zh-CN" altLang="en-US" b="1" dirty="0">
                <a:solidFill>
                  <a:srgbClr val="222222"/>
                </a:solidFill>
                <a:latin typeface="微软雅黑"/>
                <a:ea typeface="微软雅黑"/>
              </a:rPr>
              <a:t>：</a:t>
            </a:r>
            <a:endParaRPr b="1" dirty="0">
              <a:solidFill>
                <a:srgbClr val="222222"/>
              </a:solidFill>
              <a:latin typeface="微软雅黑"/>
              <a:ea typeface="微软雅黑"/>
            </a:endParaRPr>
          </a:p>
          <a:p>
            <a:pPr algn="l">
              <a:spcBef>
                <a:spcPts val="0"/>
              </a:spcBef>
              <a:spcAft>
                <a:spcPts val="400"/>
              </a:spcAft>
            </a:pPr>
            <a:r>
              <a:rPr b="0" dirty="0" err="1">
                <a:solidFill>
                  <a:srgbClr val="222222"/>
                </a:solidFill>
                <a:latin typeface="微软雅黑"/>
                <a:ea typeface="微软雅黑"/>
              </a:rPr>
              <a:t>到达要求朝向达标且按时进入</a:t>
            </a:r>
            <a:r>
              <a:rPr lang="zh-CN" altLang="en-US" b="0" dirty="0">
                <a:solidFill>
                  <a:srgbClr val="222222"/>
                </a:solidFill>
                <a:latin typeface="微软雅黑"/>
                <a:ea typeface="微软雅黑"/>
              </a:rPr>
              <a:t>，</a:t>
            </a:r>
            <a:r>
              <a:rPr b="0" dirty="0" err="1">
                <a:solidFill>
                  <a:srgbClr val="222222"/>
                </a:solidFill>
                <a:latin typeface="微软雅黑"/>
                <a:ea typeface="微软雅黑"/>
              </a:rPr>
              <a:t>比单纯到点更严</a:t>
            </a:r>
            <a:r>
              <a:rPr lang="zh-CN" altLang="en-US" dirty="0">
                <a:solidFill>
                  <a:srgbClr val="222222"/>
                </a:solidFill>
                <a:latin typeface="微软雅黑"/>
                <a:ea typeface="微软雅黑"/>
              </a:rPr>
              <a:t>，</a:t>
            </a:r>
            <a:r>
              <a:rPr b="0" dirty="0" err="1">
                <a:solidFill>
                  <a:srgbClr val="222222"/>
                </a:solidFill>
                <a:latin typeface="微软雅黑"/>
                <a:ea typeface="微软雅黑"/>
              </a:rPr>
              <a:t>这直接影响到达率数字的解读</a:t>
            </a:r>
            <a:r>
              <a:rPr b="0" dirty="0">
                <a:solidFill>
                  <a:srgbClr val="222222"/>
                </a:solidFill>
                <a:latin typeface="微软雅黑"/>
                <a:ea typeface="微软雅黑"/>
              </a:rPr>
              <a:t>。</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502920" y="256032"/>
            <a:ext cx="11186160" cy="822960"/>
          </a:xfrm>
          <a:prstGeom prst="rect">
            <a:avLst/>
          </a:prstGeom>
          <a:noFill/>
        </p:spPr>
        <p:txBody>
          <a:bodyPr wrap="square" lIns="25400" tIns="25400" rIns="25400" bIns="25400" anchor="t">
            <a:spAutoFit/>
          </a:bodyPr>
          <a:lstStyle/>
          <a:p>
            <a:pPr algn="l">
              <a:spcBef>
                <a:spcPts val="0"/>
              </a:spcBef>
              <a:spcAft>
                <a:spcPts val="600"/>
              </a:spcAft>
            </a:pPr>
            <a:r>
              <a:rPr sz="2600" b="1">
                <a:solidFill>
                  <a:srgbClr val="000000"/>
                </a:solidFill>
                <a:latin typeface="微软雅黑"/>
                <a:ea typeface="微软雅黑"/>
              </a:rPr>
              <a:t>三、训练设置与评估指标定义</a:t>
            </a:r>
          </a:p>
        </p:txBody>
      </p:sp>
      <p:sp>
        <p:nvSpPr>
          <p:cNvPr id="4" name="TextBox 3"/>
          <p:cNvSpPr txBox="1"/>
          <p:nvPr/>
        </p:nvSpPr>
        <p:spPr>
          <a:xfrm>
            <a:off x="502919" y="1474596"/>
            <a:ext cx="9243981" cy="1785104"/>
          </a:xfrm>
          <a:prstGeom prst="rect">
            <a:avLst/>
          </a:prstGeom>
          <a:noFill/>
        </p:spPr>
        <p:txBody>
          <a:bodyPr wrap="square" lIns="25400" tIns="25400" rIns="25400" bIns="25400" anchor="t">
            <a:spAutoFit/>
          </a:bodyPr>
          <a:lstStyle/>
          <a:p>
            <a:pPr algn="l">
              <a:spcBef>
                <a:spcPts val="0"/>
              </a:spcBef>
              <a:spcAft>
                <a:spcPts val="400"/>
              </a:spcAft>
            </a:pPr>
            <a:r>
              <a:rPr sz="1600" b="1" dirty="0" err="1">
                <a:solidFill>
                  <a:srgbClr val="222222"/>
                </a:solidFill>
                <a:latin typeface="微软雅黑"/>
                <a:ea typeface="微软雅黑"/>
              </a:rPr>
              <a:t>训练算法</a:t>
            </a:r>
            <a:endParaRPr sz="1600" b="1" dirty="0">
              <a:solidFill>
                <a:srgbClr val="222222"/>
              </a:solidFill>
              <a:latin typeface="微软雅黑"/>
              <a:ea typeface="微软雅黑"/>
            </a:endParaRPr>
          </a:p>
          <a:p>
            <a:pPr algn="l">
              <a:spcBef>
                <a:spcPts val="0"/>
              </a:spcBef>
              <a:spcAft>
                <a:spcPts val="400"/>
              </a:spcAft>
            </a:pPr>
            <a:r>
              <a:rPr sz="1600" b="0" dirty="0" err="1">
                <a:solidFill>
                  <a:srgbClr val="222222"/>
                </a:solidFill>
                <a:latin typeface="微软雅黑"/>
                <a:ea typeface="微软雅黑"/>
              </a:rPr>
              <a:t>连续主线与离散基线都用</a:t>
            </a:r>
            <a:r>
              <a:rPr sz="1600" b="0" dirty="0">
                <a:solidFill>
                  <a:srgbClr val="222222"/>
                </a:solidFill>
                <a:latin typeface="微软雅黑"/>
                <a:ea typeface="微软雅黑"/>
              </a:rPr>
              <a:t> PPO, </a:t>
            </a:r>
            <a:r>
              <a:rPr sz="1600" b="0" dirty="0" err="1">
                <a:solidFill>
                  <a:srgbClr val="222222"/>
                </a:solidFill>
                <a:latin typeface="微软雅黑"/>
                <a:ea typeface="微软雅黑"/>
              </a:rPr>
              <a:t>区别只在于连续臂用投影盾</a:t>
            </a:r>
            <a:r>
              <a:rPr sz="1600" b="0" dirty="0">
                <a:solidFill>
                  <a:srgbClr val="222222"/>
                </a:solidFill>
                <a:latin typeface="微软雅黑"/>
                <a:ea typeface="微软雅黑"/>
              </a:rPr>
              <a:t>, </a:t>
            </a:r>
            <a:r>
              <a:rPr sz="1600" b="0" dirty="0" err="1">
                <a:solidFill>
                  <a:srgbClr val="222222"/>
                </a:solidFill>
                <a:latin typeface="微软雅黑"/>
                <a:ea typeface="微软雅黑"/>
              </a:rPr>
              <a:t>离散臂用动作屏蔽</a:t>
            </a:r>
            <a:r>
              <a:rPr sz="1600" b="0" dirty="0">
                <a:solidFill>
                  <a:srgbClr val="222222"/>
                </a:solidFill>
                <a:latin typeface="微软雅黑"/>
                <a:ea typeface="微软雅黑"/>
              </a:rPr>
              <a:t>, </a:t>
            </a:r>
            <a:r>
              <a:rPr sz="1600" b="0" dirty="0" err="1">
                <a:solidFill>
                  <a:srgbClr val="222222"/>
                </a:solidFill>
                <a:latin typeface="微软雅黑"/>
                <a:ea typeface="微软雅黑"/>
              </a:rPr>
              <a:t>网络均为两层各</a:t>
            </a:r>
            <a:r>
              <a:rPr sz="1600" b="0" dirty="0">
                <a:solidFill>
                  <a:srgbClr val="222222"/>
                </a:solidFill>
                <a:latin typeface="微软雅黑"/>
                <a:ea typeface="微软雅黑"/>
              </a:rPr>
              <a:t> 64。</a:t>
            </a:r>
          </a:p>
          <a:p>
            <a:pPr algn="l">
              <a:spcBef>
                <a:spcPts val="0"/>
              </a:spcBef>
              <a:spcAft>
                <a:spcPts val="400"/>
              </a:spcAft>
            </a:pPr>
            <a:r>
              <a:rPr sz="1600" b="1" dirty="0" err="1">
                <a:solidFill>
                  <a:srgbClr val="222222"/>
                </a:solidFill>
                <a:latin typeface="微软雅黑"/>
                <a:ea typeface="微软雅黑"/>
              </a:rPr>
              <a:t>数据与种子</a:t>
            </a:r>
            <a:endParaRPr lang="en-US" sz="1600" b="1" dirty="0">
              <a:solidFill>
                <a:srgbClr val="222222"/>
              </a:solidFill>
              <a:latin typeface="微软雅黑"/>
              <a:ea typeface="微软雅黑"/>
            </a:endParaRPr>
          </a:p>
          <a:p>
            <a:pPr algn="l">
              <a:spcBef>
                <a:spcPts val="0"/>
              </a:spcBef>
              <a:spcAft>
                <a:spcPts val="400"/>
              </a:spcAft>
            </a:pPr>
            <a:r>
              <a:rPr sz="1600" b="0" dirty="0" err="1">
                <a:solidFill>
                  <a:srgbClr val="222222"/>
                </a:solidFill>
                <a:latin typeface="微软雅黑"/>
                <a:ea typeface="微软雅黑"/>
              </a:rPr>
              <a:t>基准为双船相遇场景</a:t>
            </a:r>
            <a:r>
              <a:rPr sz="1600" b="0" dirty="0">
                <a:solidFill>
                  <a:srgbClr val="222222"/>
                </a:solidFill>
                <a:latin typeface="微软雅黑"/>
                <a:ea typeface="微软雅黑"/>
              </a:rPr>
              <a:t>, </a:t>
            </a:r>
            <a:r>
              <a:rPr sz="1600" b="0" dirty="0" err="1">
                <a:solidFill>
                  <a:srgbClr val="222222"/>
                </a:solidFill>
                <a:latin typeface="微软雅黑"/>
                <a:ea typeface="微软雅黑"/>
              </a:rPr>
              <a:t>主对比在冻结的对遇与交叉子集上</a:t>
            </a:r>
            <a:r>
              <a:rPr sz="1600" b="0" dirty="0">
                <a:solidFill>
                  <a:srgbClr val="222222"/>
                </a:solidFill>
                <a:latin typeface="微软雅黑"/>
                <a:ea typeface="微软雅黑"/>
              </a:rPr>
              <a:t>, 94 </a:t>
            </a:r>
            <a:r>
              <a:rPr sz="1600" b="0" dirty="0" err="1">
                <a:solidFill>
                  <a:srgbClr val="222222"/>
                </a:solidFill>
                <a:latin typeface="微软雅黑"/>
                <a:ea typeface="微软雅黑"/>
              </a:rPr>
              <a:t>个训练</a:t>
            </a:r>
            <a:r>
              <a:rPr sz="1600" b="0" dirty="0">
                <a:solidFill>
                  <a:srgbClr val="222222"/>
                </a:solidFill>
                <a:latin typeface="微软雅黑"/>
                <a:ea typeface="微软雅黑"/>
              </a:rPr>
              <a:t>, 40 </a:t>
            </a:r>
            <a:r>
              <a:rPr sz="1600" b="0" dirty="0" err="1">
                <a:solidFill>
                  <a:srgbClr val="222222"/>
                </a:solidFill>
                <a:latin typeface="微软雅黑"/>
                <a:ea typeface="微软雅黑"/>
              </a:rPr>
              <a:t>个测试</a:t>
            </a:r>
            <a:r>
              <a:rPr sz="1600" b="0" dirty="0">
                <a:solidFill>
                  <a:srgbClr val="222222"/>
                </a:solidFill>
                <a:latin typeface="微软雅黑"/>
                <a:ea typeface="微软雅黑"/>
              </a:rPr>
              <a:t>, 5 </a:t>
            </a:r>
            <a:r>
              <a:rPr sz="1600" b="0" dirty="0" err="1">
                <a:solidFill>
                  <a:srgbClr val="222222"/>
                </a:solidFill>
                <a:latin typeface="微软雅黑"/>
                <a:ea typeface="微软雅黑"/>
              </a:rPr>
              <a:t>个随机</a:t>
            </a:r>
            <a:r>
              <a:rPr lang="en-US" altLang="zh-CN" sz="1600" b="0" dirty="0" err="1">
                <a:solidFill>
                  <a:srgbClr val="222222"/>
                </a:solidFill>
                <a:latin typeface="微软雅黑"/>
                <a:ea typeface="微软雅黑"/>
              </a:rPr>
              <a:t>seed</a:t>
            </a:r>
            <a:r>
              <a:rPr sz="1600" b="0" dirty="0">
                <a:solidFill>
                  <a:srgbClr val="222222"/>
                </a:solidFill>
                <a:latin typeface="微软雅黑"/>
                <a:ea typeface="微软雅黑"/>
              </a:rPr>
              <a:t>。</a:t>
            </a:r>
          </a:p>
          <a:p>
            <a:pPr algn="l">
              <a:spcBef>
                <a:spcPts val="0"/>
              </a:spcBef>
              <a:spcAft>
                <a:spcPts val="400"/>
              </a:spcAft>
            </a:pPr>
            <a:r>
              <a:rPr sz="1600" b="1" dirty="0" err="1">
                <a:solidFill>
                  <a:srgbClr val="222222"/>
                </a:solidFill>
                <a:latin typeface="微软雅黑"/>
                <a:ea typeface="微软雅黑"/>
              </a:rPr>
              <a:t>训练协议</a:t>
            </a:r>
            <a:endParaRPr sz="1600" b="1" dirty="0">
              <a:solidFill>
                <a:srgbClr val="222222"/>
              </a:solidFill>
              <a:latin typeface="微软雅黑"/>
              <a:ea typeface="微软雅黑"/>
            </a:endParaRPr>
          </a:p>
          <a:p>
            <a:pPr algn="l">
              <a:spcBef>
                <a:spcPts val="0"/>
              </a:spcBef>
              <a:spcAft>
                <a:spcPts val="400"/>
              </a:spcAft>
            </a:pPr>
            <a:r>
              <a:rPr sz="1600" b="0" dirty="0" err="1">
                <a:solidFill>
                  <a:srgbClr val="222222"/>
                </a:solidFill>
                <a:latin typeface="微软雅黑"/>
                <a:ea typeface="微软雅黑"/>
              </a:rPr>
              <a:t>折扣</a:t>
            </a:r>
            <a:r>
              <a:rPr sz="1600" b="0" dirty="0">
                <a:solidFill>
                  <a:srgbClr val="222222"/>
                </a:solidFill>
                <a:latin typeface="微软雅黑"/>
                <a:ea typeface="微软雅黑"/>
              </a:rPr>
              <a:t> 0.99, </a:t>
            </a:r>
            <a:r>
              <a:rPr sz="1600" b="0" dirty="0" err="1">
                <a:solidFill>
                  <a:srgbClr val="222222"/>
                </a:solidFill>
                <a:latin typeface="微软雅黑"/>
                <a:ea typeface="微软雅黑"/>
              </a:rPr>
              <a:t>网络与训练步数忠实沿用</a:t>
            </a:r>
            <a:r>
              <a:rPr sz="1600" b="0" dirty="0">
                <a:solidFill>
                  <a:srgbClr val="222222"/>
                </a:solidFill>
                <a:latin typeface="微软雅黑"/>
                <a:ea typeface="微软雅黑"/>
              </a:rPr>
              <a:t> Krasowski, </a:t>
            </a:r>
            <a:r>
              <a:rPr sz="1600" b="0" dirty="0" err="1">
                <a:solidFill>
                  <a:srgbClr val="222222"/>
                </a:solidFill>
                <a:latin typeface="微软雅黑"/>
                <a:ea typeface="微软雅黑"/>
              </a:rPr>
              <a:t>投影盾在环境内执行</a:t>
            </a:r>
            <a:r>
              <a:rPr sz="1600" b="0" dirty="0">
                <a:solidFill>
                  <a:srgbClr val="222222"/>
                </a:solidFill>
                <a:latin typeface="微软雅黑"/>
                <a:ea typeface="微软雅黑"/>
              </a:rPr>
              <a:t>。</a:t>
            </a:r>
          </a:p>
        </p:txBody>
      </p:sp>
      <p:sp>
        <p:nvSpPr>
          <p:cNvPr id="5" name="TextBox 4"/>
          <p:cNvSpPr txBox="1"/>
          <p:nvPr/>
        </p:nvSpPr>
        <p:spPr>
          <a:xfrm>
            <a:off x="502919" y="3949003"/>
            <a:ext cx="7636245" cy="1785104"/>
          </a:xfrm>
          <a:prstGeom prst="rect">
            <a:avLst/>
          </a:prstGeom>
          <a:noFill/>
        </p:spPr>
        <p:txBody>
          <a:bodyPr wrap="square" lIns="25400" tIns="25400" rIns="25400" bIns="25400" anchor="t">
            <a:spAutoFit/>
          </a:bodyPr>
          <a:lstStyle/>
          <a:p>
            <a:pPr algn="l">
              <a:spcBef>
                <a:spcPts val="0"/>
              </a:spcBef>
              <a:spcAft>
                <a:spcPts val="400"/>
              </a:spcAft>
            </a:pPr>
            <a:r>
              <a:rPr sz="1600" b="1" dirty="0" err="1">
                <a:solidFill>
                  <a:srgbClr val="222222"/>
                </a:solidFill>
                <a:latin typeface="微软雅黑"/>
                <a:ea typeface="微软雅黑"/>
              </a:rPr>
              <a:t>评估指标定义</a:t>
            </a:r>
            <a:endParaRPr sz="1600" b="1" dirty="0">
              <a:solidFill>
                <a:srgbClr val="222222"/>
              </a:solidFill>
              <a:latin typeface="微软雅黑"/>
              <a:ea typeface="微软雅黑"/>
            </a:endParaRPr>
          </a:p>
          <a:p>
            <a:pPr marL="285750" indent="-285750" algn="l">
              <a:spcBef>
                <a:spcPts val="0"/>
              </a:spcBef>
              <a:spcAft>
                <a:spcPts val="400"/>
              </a:spcAft>
              <a:buFont typeface="Arial" panose="020B0604020202020204" pitchFamily="34" charset="0"/>
              <a:buChar char="•"/>
            </a:pPr>
            <a:r>
              <a:rPr sz="1600" b="0" dirty="0" err="1">
                <a:solidFill>
                  <a:srgbClr val="222222"/>
                </a:solidFill>
                <a:latin typeface="微软雅黑"/>
                <a:ea typeface="微软雅黑"/>
              </a:rPr>
              <a:t>到达率</a:t>
            </a:r>
            <a:r>
              <a:rPr lang="zh-CN" altLang="en-US" sz="1600" dirty="0">
                <a:solidFill>
                  <a:srgbClr val="222222"/>
                </a:solidFill>
                <a:latin typeface="微软雅黑"/>
                <a:ea typeface="微软雅黑"/>
              </a:rPr>
              <a:t>：</a:t>
            </a:r>
            <a:r>
              <a:rPr sz="1600" b="0" dirty="0" err="1">
                <a:solidFill>
                  <a:srgbClr val="222222"/>
                </a:solidFill>
                <a:latin typeface="微软雅黑"/>
                <a:ea typeface="微软雅黑"/>
              </a:rPr>
              <a:t>成功进入目标区的局数比例</a:t>
            </a:r>
            <a:r>
              <a:rPr sz="1600" b="0" dirty="0">
                <a:solidFill>
                  <a:srgbClr val="222222"/>
                </a:solidFill>
                <a:latin typeface="微软雅黑"/>
                <a:ea typeface="微软雅黑"/>
              </a:rPr>
              <a:t>。</a:t>
            </a:r>
          </a:p>
          <a:p>
            <a:pPr marL="285750" indent="-285750" algn="l">
              <a:spcBef>
                <a:spcPts val="0"/>
              </a:spcBef>
              <a:spcAft>
                <a:spcPts val="400"/>
              </a:spcAft>
              <a:buFont typeface="Arial" panose="020B0604020202020204" pitchFamily="34" charset="0"/>
              <a:buChar char="•"/>
            </a:pPr>
            <a:r>
              <a:rPr sz="1600" b="0" dirty="0" err="1">
                <a:solidFill>
                  <a:srgbClr val="222222"/>
                </a:solidFill>
                <a:latin typeface="微软雅黑"/>
                <a:ea typeface="微软雅黑"/>
              </a:rPr>
              <a:t>碰撞率</a:t>
            </a:r>
            <a:r>
              <a:rPr lang="zh-CN" altLang="en-US" sz="1600" dirty="0">
                <a:solidFill>
                  <a:srgbClr val="222222"/>
                </a:solidFill>
                <a:latin typeface="微软雅黑"/>
                <a:ea typeface="微软雅黑"/>
              </a:rPr>
              <a:t>：</a:t>
            </a:r>
            <a:r>
              <a:rPr sz="1600" b="0" dirty="0" err="1">
                <a:solidFill>
                  <a:srgbClr val="222222"/>
                </a:solidFill>
                <a:latin typeface="微软雅黑"/>
                <a:ea typeface="微软雅黑"/>
              </a:rPr>
              <a:t>发生船体碰撞的局数比例</a:t>
            </a:r>
            <a:r>
              <a:rPr sz="1600" b="0" dirty="0">
                <a:solidFill>
                  <a:srgbClr val="222222"/>
                </a:solidFill>
                <a:latin typeface="微软雅黑"/>
                <a:ea typeface="微软雅黑"/>
              </a:rPr>
              <a:t>, </a:t>
            </a:r>
            <a:r>
              <a:rPr sz="1600" b="0" dirty="0" err="1">
                <a:solidFill>
                  <a:srgbClr val="222222"/>
                </a:solidFill>
                <a:latin typeface="微软雅黑"/>
                <a:ea typeface="微软雅黑"/>
              </a:rPr>
              <a:t>带盾方法全程为零</a:t>
            </a:r>
            <a:r>
              <a:rPr sz="1600" b="0" dirty="0">
                <a:solidFill>
                  <a:srgbClr val="222222"/>
                </a:solidFill>
                <a:latin typeface="微软雅黑"/>
                <a:ea typeface="微软雅黑"/>
              </a:rPr>
              <a:t>。</a:t>
            </a:r>
          </a:p>
          <a:p>
            <a:pPr marL="285750" indent="-285750" algn="l">
              <a:spcBef>
                <a:spcPts val="0"/>
              </a:spcBef>
              <a:spcAft>
                <a:spcPts val="400"/>
              </a:spcAft>
              <a:buFont typeface="Arial" panose="020B0604020202020204" pitchFamily="34" charset="0"/>
              <a:buChar char="•"/>
            </a:pPr>
            <a:r>
              <a:rPr sz="1600" b="0" dirty="0" err="1">
                <a:solidFill>
                  <a:srgbClr val="222222"/>
                </a:solidFill>
                <a:latin typeface="微软雅黑"/>
                <a:ea typeface="微软雅黑"/>
              </a:rPr>
              <a:t>违规率</a:t>
            </a:r>
            <a:r>
              <a:rPr lang="zh-CN" altLang="en-US" sz="1600" dirty="0">
                <a:solidFill>
                  <a:srgbClr val="222222"/>
                </a:solidFill>
                <a:latin typeface="微软雅黑"/>
                <a:ea typeface="微软雅黑"/>
              </a:rPr>
              <a:t>：</a:t>
            </a:r>
            <a:r>
              <a:rPr sz="1600" b="0" dirty="0" err="1">
                <a:solidFill>
                  <a:srgbClr val="222222"/>
                </a:solidFill>
                <a:latin typeface="微软雅黑"/>
                <a:ea typeface="微软雅黑"/>
              </a:rPr>
              <a:t>直航态势按步计</a:t>
            </a:r>
            <a:r>
              <a:rPr sz="1600" b="0" dirty="0">
                <a:solidFill>
                  <a:srgbClr val="222222"/>
                </a:solidFill>
                <a:latin typeface="微软雅黑"/>
                <a:ea typeface="微软雅黑"/>
              </a:rPr>
              <a:t>, </a:t>
            </a:r>
            <a:r>
              <a:rPr sz="1600" b="0" dirty="0" err="1">
                <a:solidFill>
                  <a:srgbClr val="222222"/>
                </a:solidFill>
                <a:latin typeface="微软雅黑"/>
                <a:ea typeface="微软雅黑"/>
              </a:rPr>
              <a:t>让路态势按整段相遇计</a:t>
            </a:r>
            <a:r>
              <a:rPr sz="1600" b="0" dirty="0">
                <a:solidFill>
                  <a:srgbClr val="222222"/>
                </a:solidFill>
                <a:latin typeface="微软雅黑"/>
                <a:ea typeface="微软雅黑"/>
              </a:rPr>
              <a:t>, </a:t>
            </a:r>
            <a:r>
              <a:rPr sz="1600" b="0" dirty="0" err="1">
                <a:solidFill>
                  <a:srgbClr val="222222"/>
                </a:solidFill>
                <a:latin typeface="微软雅黑"/>
                <a:ea typeface="微软雅黑"/>
              </a:rPr>
              <a:t>与</a:t>
            </a:r>
            <a:r>
              <a:rPr sz="1600" b="0" dirty="0">
                <a:solidFill>
                  <a:srgbClr val="222222"/>
                </a:solidFill>
                <a:latin typeface="微软雅黑"/>
                <a:ea typeface="微软雅黑"/>
              </a:rPr>
              <a:t> Krasowski </a:t>
            </a:r>
            <a:r>
              <a:rPr sz="1600" b="0" dirty="0" err="1">
                <a:solidFill>
                  <a:srgbClr val="222222"/>
                </a:solidFill>
                <a:latin typeface="微软雅黑"/>
                <a:ea typeface="微软雅黑"/>
              </a:rPr>
              <a:t>同口径</a:t>
            </a:r>
            <a:r>
              <a:rPr sz="1600" b="0" dirty="0">
                <a:solidFill>
                  <a:srgbClr val="222222"/>
                </a:solidFill>
                <a:latin typeface="微软雅黑"/>
                <a:ea typeface="微软雅黑"/>
              </a:rPr>
              <a:t>。</a:t>
            </a:r>
          </a:p>
          <a:p>
            <a:pPr marL="285750" indent="-285750" algn="l">
              <a:spcBef>
                <a:spcPts val="0"/>
              </a:spcBef>
              <a:spcAft>
                <a:spcPts val="400"/>
              </a:spcAft>
              <a:buFont typeface="Arial" panose="020B0604020202020204" pitchFamily="34" charset="0"/>
              <a:buChar char="•"/>
            </a:pPr>
            <a:r>
              <a:rPr sz="1600" b="0" dirty="0" err="1">
                <a:solidFill>
                  <a:srgbClr val="222222"/>
                </a:solidFill>
                <a:latin typeface="微软雅黑"/>
                <a:ea typeface="微软雅黑"/>
              </a:rPr>
              <a:t>四分位均值</a:t>
            </a:r>
            <a:r>
              <a:rPr sz="1600" b="0" dirty="0">
                <a:solidFill>
                  <a:srgbClr val="222222"/>
                </a:solidFill>
                <a:latin typeface="微软雅黑"/>
                <a:ea typeface="微软雅黑"/>
              </a:rPr>
              <a:t> IQM</a:t>
            </a:r>
            <a:r>
              <a:rPr lang="zh-CN" altLang="en-US" sz="1600" dirty="0">
                <a:solidFill>
                  <a:srgbClr val="222222"/>
                </a:solidFill>
                <a:latin typeface="微软雅黑"/>
                <a:ea typeface="微软雅黑"/>
              </a:rPr>
              <a:t>：</a:t>
            </a:r>
            <a:r>
              <a:rPr sz="1600" b="0" dirty="0" err="1">
                <a:solidFill>
                  <a:srgbClr val="222222"/>
                </a:solidFill>
                <a:latin typeface="微软雅黑"/>
                <a:ea typeface="微软雅黑"/>
              </a:rPr>
              <a:t>去掉最高最低各四分之一种子后的均值</a:t>
            </a:r>
            <a:r>
              <a:rPr sz="1600" b="0" dirty="0">
                <a:solidFill>
                  <a:srgbClr val="222222"/>
                </a:solidFill>
                <a:latin typeface="微软雅黑"/>
                <a:ea typeface="微软雅黑"/>
              </a:rPr>
              <a:t>, </a:t>
            </a:r>
            <a:r>
              <a:rPr sz="1600" b="0" dirty="0" err="1">
                <a:solidFill>
                  <a:srgbClr val="222222"/>
                </a:solidFill>
                <a:latin typeface="微软雅黑"/>
                <a:ea typeface="微软雅黑"/>
              </a:rPr>
              <a:t>抗离群更稳</a:t>
            </a:r>
            <a:r>
              <a:rPr sz="1600" b="0" dirty="0">
                <a:solidFill>
                  <a:srgbClr val="222222"/>
                </a:solidFill>
                <a:latin typeface="微软雅黑"/>
                <a:ea typeface="微软雅黑"/>
              </a:rPr>
              <a:t>。</a:t>
            </a:r>
          </a:p>
          <a:p>
            <a:pPr marL="285750" indent="-285750" algn="l">
              <a:spcBef>
                <a:spcPts val="0"/>
              </a:spcBef>
              <a:spcAft>
                <a:spcPts val="400"/>
              </a:spcAft>
              <a:buFont typeface="Arial" panose="020B0604020202020204" pitchFamily="34" charset="0"/>
              <a:buChar char="•"/>
            </a:pPr>
            <a:r>
              <a:rPr sz="1600" b="0" dirty="0" err="1">
                <a:solidFill>
                  <a:srgbClr val="222222"/>
                </a:solidFill>
                <a:latin typeface="微软雅黑"/>
                <a:ea typeface="微软雅黑"/>
              </a:rPr>
              <a:t>控制</a:t>
            </a:r>
            <a:r>
              <a:rPr sz="1600" b="0" dirty="0">
                <a:solidFill>
                  <a:srgbClr val="222222"/>
                </a:solidFill>
                <a:latin typeface="微软雅黑"/>
                <a:ea typeface="微软雅黑"/>
              </a:rPr>
              <a:t> jerk</a:t>
            </a:r>
            <a:r>
              <a:rPr lang="zh-CN" altLang="en-US" sz="1600" b="0" dirty="0">
                <a:solidFill>
                  <a:srgbClr val="222222"/>
                </a:solidFill>
                <a:latin typeface="微软雅黑"/>
                <a:ea typeface="微软雅黑"/>
              </a:rPr>
              <a:t>指标</a:t>
            </a:r>
            <a:r>
              <a:rPr lang="zh-CN" altLang="en-US" sz="1600" dirty="0">
                <a:solidFill>
                  <a:srgbClr val="222222"/>
                </a:solidFill>
                <a:latin typeface="微软雅黑"/>
                <a:ea typeface="微软雅黑"/>
              </a:rPr>
              <a:t>：</a:t>
            </a:r>
            <a:r>
              <a:rPr sz="1600" b="0" dirty="0" err="1">
                <a:solidFill>
                  <a:srgbClr val="222222"/>
                </a:solidFill>
                <a:latin typeface="微软雅黑"/>
                <a:ea typeface="微软雅黑"/>
              </a:rPr>
              <a:t>相邻两步控制量的变化幅度</a:t>
            </a:r>
            <a:r>
              <a:rPr sz="1600" b="0" dirty="0">
                <a:solidFill>
                  <a:srgbClr val="222222"/>
                </a:solidFill>
                <a:latin typeface="微软雅黑"/>
                <a:ea typeface="微软雅黑"/>
              </a:rPr>
              <a:t>, </a:t>
            </a:r>
            <a:r>
              <a:rPr sz="1600" b="0" dirty="0" err="1">
                <a:solidFill>
                  <a:srgbClr val="222222"/>
                </a:solidFill>
                <a:latin typeface="微软雅黑"/>
                <a:ea typeface="微软雅黑"/>
              </a:rPr>
              <a:t>越低越平滑</a:t>
            </a:r>
            <a:r>
              <a:rPr sz="1600" b="0" dirty="0">
                <a:solidFill>
                  <a:srgbClr val="222222"/>
                </a:solidFill>
                <a:latin typeface="微软雅黑"/>
                <a:ea typeface="微软雅黑"/>
              </a:rPr>
              <a:t>。</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502920" y="256032"/>
            <a:ext cx="11186160" cy="822960"/>
          </a:xfrm>
          <a:prstGeom prst="rect">
            <a:avLst/>
          </a:prstGeom>
          <a:noFill/>
        </p:spPr>
        <p:txBody>
          <a:bodyPr wrap="square" lIns="25400" tIns="25400" rIns="25400" bIns="25400" anchor="t">
            <a:spAutoFit/>
          </a:bodyPr>
          <a:lstStyle/>
          <a:p>
            <a:pPr algn="l">
              <a:spcBef>
                <a:spcPts val="0"/>
              </a:spcBef>
              <a:spcAft>
                <a:spcPts val="600"/>
              </a:spcAft>
            </a:pPr>
            <a:r>
              <a:rPr sz="2600" b="1">
                <a:solidFill>
                  <a:srgbClr val="000000"/>
                </a:solidFill>
                <a:latin typeface="微软雅黑"/>
                <a:ea typeface="微软雅黑"/>
              </a:rPr>
              <a:t>四、相关工作与对比基线</a:t>
            </a:r>
          </a:p>
        </p:txBody>
      </p:sp>
      <p:sp>
        <p:nvSpPr>
          <p:cNvPr id="4" name="TextBox 3"/>
          <p:cNvSpPr txBox="1"/>
          <p:nvPr/>
        </p:nvSpPr>
        <p:spPr>
          <a:xfrm>
            <a:off x="502920" y="1188720"/>
            <a:ext cx="11186160" cy="2559675"/>
          </a:xfrm>
          <a:prstGeom prst="rect">
            <a:avLst/>
          </a:prstGeom>
          <a:noFill/>
        </p:spPr>
        <p:txBody>
          <a:bodyPr wrap="square" lIns="25400" tIns="25400" rIns="25400" bIns="25400" anchor="t">
            <a:spAutoFit/>
          </a:bodyPr>
          <a:lstStyle/>
          <a:p>
            <a:pPr algn="l">
              <a:spcBef>
                <a:spcPts val="0"/>
              </a:spcBef>
              <a:spcAft>
                <a:spcPts val="600"/>
              </a:spcAft>
            </a:pPr>
            <a:r>
              <a:rPr sz="1600" b="1" dirty="0">
                <a:solidFill>
                  <a:srgbClr val="222222"/>
                </a:solidFill>
                <a:latin typeface="微软雅黑"/>
                <a:ea typeface="微软雅黑"/>
              </a:rPr>
              <a:t>Krasowski </a:t>
            </a:r>
            <a:r>
              <a:rPr sz="1600" b="1" dirty="0" err="1">
                <a:solidFill>
                  <a:srgbClr val="222222"/>
                </a:solidFill>
                <a:latin typeface="微软雅黑"/>
                <a:ea typeface="微软雅黑"/>
              </a:rPr>
              <a:t>与</a:t>
            </a:r>
            <a:r>
              <a:rPr sz="1600" b="1" dirty="0">
                <a:solidFill>
                  <a:srgbClr val="222222"/>
                </a:solidFill>
                <a:latin typeface="微软雅黑"/>
                <a:ea typeface="微软雅黑"/>
              </a:rPr>
              <a:t> Althoff 2024 (</a:t>
            </a:r>
            <a:r>
              <a:rPr sz="1600" b="1" dirty="0" err="1">
                <a:solidFill>
                  <a:srgbClr val="222222"/>
                </a:solidFill>
                <a:latin typeface="微软雅黑"/>
                <a:ea typeface="微软雅黑"/>
              </a:rPr>
              <a:t>对比基线</a:t>
            </a:r>
            <a:r>
              <a:rPr sz="1600" b="1" dirty="0">
                <a:solidFill>
                  <a:srgbClr val="222222"/>
                </a:solidFill>
                <a:latin typeface="微软雅黑"/>
                <a:ea typeface="微软雅黑"/>
              </a:rPr>
              <a:t>)</a:t>
            </a:r>
          </a:p>
          <a:p>
            <a:pPr algn="l">
              <a:spcBef>
                <a:spcPts val="0"/>
              </a:spcBef>
              <a:spcAft>
                <a:spcPts val="600"/>
              </a:spcAft>
            </a:pPr>
            <a:r>
              <a:rPr sz="1600" b="0" dirty="0" err="1">
                <a:solidFill>
                  <a:srgbClr val="222222"/>
                </a:solidFill>
                <a:latin typeface="微软雅黑"/>
                <a:ea typeface="微软雅黑"/>
              </a:rPr>
              <a:t>把</a:t>
            </a:r>
            <a:r>
              <a:rPr sz="1600" b="0" dirty="0">
                <a:solidFill>
                  <a:srgbClr val="222222"/>
                </a:solidFill>
                <a:latin typeface="微软雅黑"/>
                <a:ea typeface="微软雅黑"/>
              </a:rPr>
              <a:t> COLREGs </a:t>
            </a:r>
            <a:r>
              <a:rPr sz="1600" b="0" dirty="0" err="1">
                <a:solidFill>
                  <a:srgbClr val="222222"/>
                </a:solidFill>
                <a:latin typeface="微软雅黑"/>
                <a:ea typeface="微软雅黑"/>
              </a:rPr>
              <a:t>形式化为状态机</a:t>
            </a:r>
            <a:r>
              <a:rPr sz="1600" b="0" dirty="0">
                <a:solidFill>
                  <a:srgbClr val="222222"/>
                </a:solidFill>
                <a:latin typeface="微软雅黑"/>
                <a:ea typeface="微软雅黑"/>
              </a:rPr>
              <a:t>, </a:t>
            </a:r>
            <a:r>
              <a:rPr sz="1600" b="0" dirty="0" err="1">
                <a:solidFill>
                  <a:srgbClr val="222222"/>
                </a:solidFill>
                <a:latin typeface="微软雅黑"/>
                <a:ea typeface="微软雅黑"/>
              </a:rPr>
              <a:t>用离散动作屏蔽实现可证明合规。我们在自己的代码里独立复现这一基线用于对比</a:t>
            </a:r>
            <a:r>
              <a:rPr sz="1600" b="0" dirty="0">
                <a:solidFill>
                  <a:srgbClr val="222222"/>
                </a:solidFill>
                <a:latin typeface="微软雅黑"/>
                <a:ea typeface="微软雅黑"/>
              </a:rPr>
              <a:t>。</a:t>
            </a:r>
          </a:p>
          <a:p>
            <a:pPr algn="l">
              <a:spcBef>
                <a:spcPts val="0"/>
              </a:spcBef>
              <a:spcAft>
                <a:spcPts val="600"/>
              </a:spcAft>
            </a:pPr>
            <a:endParaRPr sz="1600" b="0" dirty="0">
              <a:solidFill>
                <a:srgbClr val="222222"/>
              </a:solidFill>
              <a:latin typeface="微软雅黑"/>
              <a:ea typeface="微软雅黑"/>
            </a:endParaRPr>
          </a:p>
          <a:p>
            <a:pPr algn="l">
              <a:spcBef>
                <a:spcPts val="0"/>
              </a:spcBef>
              <a:spcAft>
                <a:spcPts val="600"/>
              </a:spcAft>
            </a:pPr>
            <a:r>
              <a:rPr sz="1600" b="1" dirty="0">
                <a:solidFill>
                  <a:srgbClr val="222222"/>
                </a:solidFill>
                <a:latin typeface="微软雅黑"/>
                <a:ea typeface="微软雅黑"/>
              </a:rPr>
              <a:t>Markgraf </a:t>
            </a:r>
            <a:r>
              <a:rPr sz="1600" b="1" dirty="0" err="1">
                <a:solidFill>
                  <a:srgbClr val="222222"/>
                </a:solidFill>
                <a:latin typeface="微软雅黑"/>
                <a:ea typeface="微软雅黑"/>
              </a:rPr>
              <a:t>等</a:t>
            </a:r>
            <a:r>
              <a:rPr sz="1600" b="1" dirty="0">
                <a:solidFill>
                  <a:srgbClr val="222222"/>
                </a:solidFill>
                <a:latin typeface="微软雅黑"/>
                <a:ea typeface="微软雅黑"/>
              </a:rPr>
              <a:t> 2026 (</a:t>
            </a:r>
            <a:r>
              <a:rPr sz="1600" b="1" dirty="0" err="1">
                <a:solidFill>
                  <a:srgbClr val="222222"/>
                </a:solidFill>
                <a:latin typeface="微软雅黑"/>
                <a:ea typeface="微软雅黑"/>
              </a:rPr>
              <a:t>方法学基础</a:t>
            </a:r>
            <a:r>
              <a:rPr sz="1600" b="1" dirty="0">
                <a:solidFill>
                  <a:srgbClr val="222222"/>
                </a:solidFill>
                <a:latin typeface="微软雅黑"/>
                <a:ea typeface="微软雅黑"/>
              </a:rPr>
              <a:t>)</a:t>
            </a:r>
          </a:p>
          <a:p>
            <a:pPr algn="l">
              <a:spcBef>
                <a:spcPts val="0"/>
              </a:spcBef>
              <a:spcAft>
                <a:spcPts val="600"/>
              </a:spcAft>
            </a:pPr>
            <a:r>
              <a:rPr sz="1600" b="0" dirty="0" err="1">
                <a:solidFill>
                  <a:srgbClr val="222222"/>
                </a:solidFill>
                <a:latin typeface="微软雅黑"/>
                <a:ea typeface="微软雅黑"/>
              </a:rPr>
              <a:t>投影式安全盾的理论与开源实现</a:t>
            </a:r>
            <a:r>
              <a:rPr sz="1600" b="0" dirty="0">
                <a:solidFill>
                  <a:srgbClr val="222222"/>
                </a:solidFill>
                <a:latin typeface="微软雅黑"/>
                <a:ea typeface="微软雅黑"/>
              </a:rPr>
              <a:t>, </a:t>
            </a:r>
            <a:r>
              <a:rPr sz="1600" b="0" dirty="0" err="1">
                <a:solidFill>
                  <a:srgbClr val="222222"/>
                </a:solidFill>
                <a:latin typeface="微软雅黑"/>
                <a:ea typeface="微软雅黑"/>
              </a:rPr>
              <a:t>发表于机器学习期刊</a:t>
            </a:r>
            <a:r>
              <a:rPr sz="1600" b="0" dirty="0">
                <a:solidFill>
                  <a:srgbClr val="222222"/>
                </a:solidFill>
                <a:latin typeface="微软雅黑"/>
                <a:ea typeface="微软雅黑"/>
              </a:rPr>
              <a:t> TMLR</a:t>
            </a:r>
            <a:r>
              <a:rPr lang="zh-CN" altLang="en-US" sz="1600" b="0" dirty="0">
                <a:solidFill>
                  <a:srgbClr val="222222"/>
                </a:solidFill>
                <a:latin typeface="微软雅黑"/>
                <a:ea typeface="微软雅黑"/>
              </a:rPr>
              <a:t>，</a:t>
            </a:r>
            <a:r>
              <a:rPr lang="zh-CN" altLang="en-US" sz="1600" dirty="0">
                <a:solidFill>
                  <a:srgbClr val="222222"/>
                </a:solidFill>
                <a:latin typeface="微软雅黑"/>
                <a:ea typeface="微软雅黑"/>
              </a:rPr>
              <a:t>我们这里就是</a:t>
            </a:r>
            <a:r>
              <a:rPr sz="1600" b="0" dirty="0" err="1">
                <a:solidFill>
                  <a:srgbClr val="222222"/>
                </a:solidFill>
                <a:latin typeface="微软雅黑"/>
                <a:ea typeface="微软雅黑"/>
              </a:rPr>
              <a:t>借用</a:t>
            </a:r>
            <a:r>
              <a:rPr lang="zh-CN" altLang="en-US" sz="1600" b="0" dirty="0">
                <a:solidFill>
                  <a:srgbClr val="222222"/>
                </a:solidFill>
                <a:latin typeface="微软雅黑"/>
                <a:ea typeface="微软雅黑"/>
              </a:rPr>
              <a:t>了</a:t>
            </a:r>
            <a:r>
              <a:rPr sz="1600" b="0" dirty="0" err="1">
                <a:solidFill>
                  <a:srgbClr val="222222"/>
                </a:solidFill>
                <a:latin typeface="微软雅黑"/>
                <a:ea typeface="微软雅黑"/>
              </a:rPr>
              <a:t>其投影盾思路</a:t>
            </a:r>
            <a:r>
              <a:rPr lang="zh-CN" altLang="en-US" sz="1600" b="0" dirty="0">
                <a:solidFill>
                  <a:srgbClr val="222222"/>
                </a:solidFill>
                <a:latin typeface="微软雅黑"/>
                <a:ea typeface="微软雅黑"/>
              </a:rPr>
              <a:t>来设计的模块</a:t>
            </a:r>
            <a:r>
              <a:rPr sz="1600" b="0" dirty="0">
                <a:solidFill>
                  <a:srgbClr val="222222"/>
                </a:solidFill>
                <a:latin typeface="微软雅黑"/>
                <a:ea typeface="微软雅黑"/>
              </a:rPr>
              <a:t>。</a:t>
            </a:r>
          </a:p>
          <a:p>
            <a:pPr algn="l">
              <a:spcBef>
                <a:spcPts val="0"/>
              </a:spcBef>
              <a:spcAft>
                <a:spcPts val="600"/>
              </a:spcAft>
            </a:pPr>
            <a:endParaRPr sz="1600" b="0" dirty="0">
              <a:solidFill>
                <a:srgbClr val="222222"/>
              </a:solidFill>
              <a:latin typeface="微软雅黑"/>
              <a:ea typeface="微软雅黑"/>
            </a:endParaRPr>
          </a:p>
          <a:p>
            <a:pPr algn="l">
              <a:spcBef>
                <a:spcPts val="0"/>
              </a:spcBef>
              <a:spcAft>
                <a:spcPts val="600"/>
              </a:spcAft>
            </a:pPr>
            <a:r>
              <a:rPr lang="zh-CN" altLang="en-US" sz="1600" b="1" dirty="0">
                <a:solidFill>
                  <a:srgbClr val="222222"/>
                </a:solidFill>
                <a:latin typeface="微软雅黑"/>
                <a:ea typeface="微软雅黑"/>
              </a:rPr>
              <a:t>工作</a:t>
            </a:r>
            <a:r>
              <a:rPr sz="1600" b="1" dirty="0" err="1">
                <a:solidFill>
                  <a:srgbClr val="222222"/>
                </a:solidFill>
                <a:latin typeface="微软雅黑"/>
                <a:ea typeface="微软雅黑"/>
              </a:rPr>
              <a:t>创新点</a:t>
            </a:r>
            <a:endParaRPr sz="1600" b="1" dirty="0">
              <a:solidFill>
                <a:srgbClr val="222222"/>
              </a:solidFill>
              <a:latin typeface="微软雅黑"/>
              <a:ea typeface="微软雅黑"/>
            </a:endParaRPr>
          </a:p>
          <a:p>
            <a:pPr algn="l">
              <a:spcBef>
                <a:spcPts val="0"/>
              </a:spcBef>
              <a:spcAft>
                <a:spcPts val="600"/>
              </a:spcAft>
            </a:pPr>
            <a:r>
              <a:rPr lang="zh-CN" altLang="en-US" sz="1600" dirty="0">
                <a:solidFill>
                  <a:srgbClr val="222222"/>
                </a:solidFill>
                <a:latin typeface="微软雅黑"/>
                <a:ea typeface="微软雅黑"/>
              </a:rPr>
              <a:t>将</a:t>
            </a:r>
            <a:r>
              <a:rPr sz="1600" b="0" dirty="0" err="1">
                <a:solidFill>
                  <a:srgbClr val="222222"/>
                </a:solidFill>
                <a:latin typeface="微软雅黑"/>
                <a:ea typeface="微软雅黑"/>
              </a:rPr>
              <a:t>把投影式安全盾落到</a:t>
            </a:r>
            <a:r>
              <a:rPr lang="zh-CN" altLang="en-US" sz="1600" b="0" dirty="0">
                <a:solidFill>
                  <a:srgbClr val="222222"/>
                </a:solidFill>
                <a:latin typeface="微软雅黑"/>
                <a:ea typeface="微软雅黑"/>
              </a:rPr>
              <a:t>国际</a:t>
            </a:r>
            <a:r>
              <a:rPr sz="1600" b="0" dirty="0">
                <a:solidFill>
                  <a:srgbClr val="222222"/>
                </a:solidFill>
                <a:latin typeface="微软雅黑"/>
                <a:ea typeface="微软雅黑"/>
              </a:rPr>
              <a:t>COLREGs</a:t>
            </a:r>
            <a:r>
              <a:rPr lang="zh-CN" altLang="en-US" sz="1600" b="0" dirty="0">
                <a:solidFill>
                  <a:srgbClr val="222222"/>
                </a:solidFill>
                <a:latin typeface="微软雅黑"/>
                <a:ea typeface="微软雅黑"/>
              </a:rPr>
              <a:t>规则</a:t>
            </a:r>
            <a:r>
              <a:rPr sz="1600" b="0" dirty="0" err="1">
                <a:solidFill>
                  <a:srgbClr val="222222"/>
                </a:solidFill>
                <a:latin typeface="微软雅黑"/>
                <a:ea typeface="微软雅黑"/>
              </a:rPr>
              <a:t>的连续动作空间</a:t>
            </a:r>
            <a:r>
              <a:rPr lang="zh-CN" altLang="en-US" sz="1600" dirty="0">
                <a:solidFill>
                  <a:srgbClr val="222222"/>
                </a:solidFill>
                <a:latin typeface="微软雅黑"/>
                <a:ea typeface="微软雅黑"/>
              </a:rPr>
              <a:t>，</a:t>
            </a:r>
            <a:r>
              <a:rPr sz="1600" b="0" dirty="0" err="1">
                <a:solidFill>
                  <a:srgbClr val="222222"/>
                </a:solidFill>
                <a:latin typeface="微软雅黑"/>
                <a:ea typeface="微软雅黑"/>
              </a:rPr>
              <a:t>正面解决离散方法自身承认的局限</a:t>
            </a:r>
            <a:r>
              <a:rPr sz="1600" b="0" dirty="0">
                <a:solidFill>
                  <a:srgbClr val="222222"/>
                </a:solidFill>
                <a:latin typeface="微软雅黑"/>
                <a:ea typeface="微软雅黑"/>
              </a:rPr>
              <a:t>。</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502920" y="256032"/>
            <a:ext cx="11186160" cy="822960"/>
          </a:xfrm>
          <a:prstGeom prst="rect">
            <a:avLst/>
          </a:prstGeom>
          <a:noFill/>
        </p:spPr>
        <p:txBody>
          <a:bodyPr wrap="square" lIns="25400" tIns="25400" rIns="25400" bIns="25400" anchor="t">
            <a:spAutoFit/>
          </a:bodyPr>
          <a:lstStyle/>
          <a:p>
            <a:pPr algn="l">
              <a:spcBef>
                <a:spcPts val="0"/>
              </a:spcBef>
              <a:spcAft>
                <a:spcPts val="600"/>
              </a:spcAft>
            </a:pPr>
            <a:r>
              <a:rPr sz="2600" b="1">
                <a:solidFill>
                  <a:srgbClr val="000000"/>
                </a:solidFill>
                <a:latin typeface="微软雅黑"/>
                <a:ea typeface="微软雅黑"/>
              </a:rPr>
              <a:t>四、安全盾放在策略里还是环境里</a:t>
            </a:r>
          </a:p>
        </p:txBody>
      </p:sp>
      <p:sp>
        <p:nvSpPr>
          <p:cNvPr id="5" name="TextBox 4"/>
          <p:cNvSpPr txBox="1"/>
          <p:nvPr/>
        </p:nvSpPr>
        <p:spPr>
          <a:xfrm>
            <a:off x="502920" y="5411899"/>
            <a:ext cx="11186160" cy="1190069"/>
          </a:xfrm>
          <a:prstGeom prst="rect">
            <a:avLst/>
          </a:prstGeom>
          <a:noFill/>
        </p:spPr>
        <p:txBody>
          <a:bodyPr wrap="square" lIns="25400" tIns="25400" rIns="25400" bIns="25400" anchor="t">
            <a:spAutoFit/>
          </a:bodyPr>
          <a:lstStyle/>
          <a:p>
            <a:pPr algn="l">
              <a:spcBef>
                <a:spcPts val="0"/>
              </a:spcBef>
              <a:spcAft>
                <a:spcPts val="400"/>
              </a:spcAft>
            </a:pPr>
            <a:r>
              <a:rPr sz="1600" b="1" dirty="0" err="1">
                <a:solidFill>
                  <a:srgbClr val="222222"/>
                </a:solidFill>
                <a:latin typeface="微软雅黑"/>
                <a:ea typeface="微软雅黑"/>
              </a:rPr>
              <a:t>两种</a:t>
            </a:r>
            <a:r>
              <a:rPr lang="zh-CN" altLang="en-US" sz="1600" b="1" dirty="0">
                <a:solidFill>
                  <a:srgbClr val="222222"/>
                </a:solidFill>
                <a:latin typeface="微软雅黑"/>
                <a:ea typeface="微软雅黑"/>
              </a:rPr>
              <a:t>设计</a:t>
            </a:r>
            <a:r>
              <a:rPr sz="1600" b="1" dirty="0" err="1">
                <a:solidFill>
                  <a:srgbClr val="222222"/>
                </a:solidFill>
                <a:latin typeface="微软雅黑"/>
                <a:ea typeface="微软雅黑"/>
              </a:rPr>
              <a:t>方式</a:t>
            </a:r>
            <a:r>
              <a:rPr lang="zh-CN" altLang="en-US" sz="1600" b="1" dirty="0">
                <a:solidFill>
                  <a:srgbClr val="222222"/>
                </a:solidFill>
                <a:latin typeface="微软雅黑"/>
                <a:ea typeface="微软雅黑"/>
              </a:rPr>
              <a:t>：</a:t>
            </a:r>
            <a:r>
              <a:rPr sz="1600" b="0" dirty="0" err="1">
                <a:solidFill>
                  <a:srgbClr val="222222"/>
                </a:solidFill>
                <a:latin typeface="微软雅黑"/>
                <a:ea typeface="微软雅黑"/>
              </a:rPr>
              <a:t>安全盾可以放进策略里参与梯度回传</a:t>
            </a:r>
            <a:r>
              <a:rPr sz="1600" b="0" dirty="0">
                <a:solidFill>
                  <a:srgbClr val="222222"/>
                </a:solidFill>
                <a:latin typeface="微软雅黑"/>
                <a:ea typeface="微软雅黑"/>
              </a:rPr>
              <a:t>,</a:t>
            </a:r>
            <a:r>
              <a:rPr lang="zh-CN" altLang="en-US" sz="1600" b="0" dirty="0">
                <a:solidFill>
                  <a:srgbClr val="222222"/>
                </a:solidFill>
                <a:latin typeface="微软雅黑"/>
                <a:ea typeface="微软雅黑"/>
              </a:rPr>
              <a:t>，</a:t>
            </a:r>
            <a:r>
              <a:rPr sz="1600" b="0" dirty="0" err="1">
                <a:solidFill>
                  <a:srgbClr val="222222"/>
                </a:solidFill>
                <a:latin typeface="微软雅黑"/>
                <a:ea typeface="微软雅黑"/>
              </a:rPr>
              <a:t>也可以放进环境里作为独立一层</a:t>
            </a:r>
            <a:r>
              <a:rPr sz="1600" b="0" dirty="0">
                <a:solidFill>
                  <a:srgbClr val="222222"/>
                </a:solidFill>
                <a:latin typeface="微软雅黑"/>
                <a:ea typeface="微软雅黑"/>
              </a:rPr>
              <a:t>。</a:t>
            </a:r>
          </a:p>
          <a:p>
            <a:pPr algn="l">
              <a:spcBef>
                <a:spcPts val="0"/>
              </a:spcBef>
              <a:spcAft>
                <a:spcPts val="400"/>
              </a:spcAft>
            </a:pPr>
            <a:r>
              <a:rPr lang="zh-CN" altLang="en-US" sz="1600" b="1" dirty="0">
                <a:solidFill>
                  <a:srgbClr val="222222"/>
                </a:solidFill>
                <a:latin typeface="微软雅黑"/>
                <a:ea typeface="微软雅黑"/>
              </a:rPr>
              <a:t>本文方法属于</a:t>
            </a:r>
            <a:r>
              <a:rPr lang="en-US" altLang="zh-CN" sz="1600" b="1" dirty="0">
                <a:solidFill>
                  <a:srgbClr val="222222"/>
                </a:solidFill>
                <a:latin typeface="微软雅黑"/>
                <a:ea typeface="微软雅黑"/>
              </a:rPr>
              <a:t>SE-RL</a:t>
            </a:r>
          </a:p>
          <a:p>
            <a:pPr algn="l">
              <a:spcBef>
                <a:spcPts val="0"/>
              </a:spcBef>
              <a:spcAft>
                <a:spcPts val="400"/>
              </a:spcAft>
            </a:pPr>
            <a:r>
              <a:rPr lang="zh-CN" altLang="en-US" sz="1600" dirty="0">
                <a:solidFill>
                  <a:srgbClr val="222222"/>
                </a:solidFill>
                <a:latin typeface="微软雅黑"/>
                <a:ea typeface="微软雅黑"/>
              </a:rPr>
              <a:t>由于</a:t>
            </a:r>
            <a:r>
              <a:rPr sz="1600" b="0" dirty="0" err="1">
                <a:solidFill>
                  <a:srgbClr val="222222"/>
                </a:solidFill>
                <a:latin typeface="微软雅黑"/>
                <a:ea typeface="微软雅黑"/>
              </a:rPr>
              <a:t>盾对策略透明</a:t>
            </a:r>
            <a:r>
              <a:rPr sz="1600" b="0" dirty="0">
                <a:solidFill>
                  <a:srgbClr val="222222"/>
                </a:solidFill>
                <a:latin typeface="微软雅黑"/>
                <a:ea typeface="微软雅黑"/>
              </a:rPr>
              <a:t>, </a:t>
            </a:r>
            <a:r>
              <a:rPr sz="1600" b="0" dirty="0" err="1">
                <a:solidFill>
                  <a:srgbClr val="222222"/>
                </a:solidFill>
                <a:latin typeface="微软雅黑"/>
                <a:ea typeface="微软雅黑"/>
              </a:rPr>
              <a:t>训练与部署用同一套投影</a:t>
            </a:r>
            <a:r>
              <a:rPr sz="1600" b="0" dirty="0">
                <a:solidFill>
                  <a:srgbClr val="222222"/>
                </a:solidFill>
                <a:latin typeface="微软雅黑"/>
                <a:ea typeface="微软雅黑"/>
              </a:rPr>
              <a:t>, </a:t>
            </a:r>
            <a:r>
              <a:rPr sz="1600" b="0" dirty="0" err="1">
                <a:solidFill>
                  <a:srgbClr val="222222"/>
                </a:solidFill>
                <a:latin typeface="微软雅黑"/>
                <a:ea typeface="微软雅黑"/>
              </a:rPr>
              <a:t>实现简单且与离散基线可比</a:t>
            </a:r>
            <a:r>
              <a:rPr sz="1600" b="0" dirty="0">
                <a:solidFill>
                  <a:srgbClr val="222222"/>
                </a:solidFill>
                <a:latin typeface="微软雅黑"/>
                <a:ea typeface="微软雅黑"/>
              </a:rPr>
              <a:t>。</a:t>
            </a:r>
            <a:endParaRPr lang="en-US" sz="1600" b="0" dirty="0">
              <a:solidFill>
                <a:srgbClr val="222222"/>
              </a:solidFill>
              <a:latin typeface="微软雅黑"/>
              <a:ea typeface="微软雅黑"/>
            </a:endParaRPr>
          </a:p>
          <a:p>
            <a:pPr algn="l">
              <a:spcBef>
                <a:spcPts val="0"/>
              </a:spcBef>
              <a:spcAft>
                <a:spcPts val="400"/>
              </a:spcAft>
            </a:pPr>
            <a:r>
              <a:rPr sz="1600" b="0" dirty="0" err="1">
                <a:solidFill>
                  <a:srgbClr val="222222"/>
                </a:solidFill>
                <a:latin typeface="微软雅黑"/>
                <a:ea typeface="微软雅黑"/>
              </a:rPr>
              <a:t>安全强化学习常见三条路线是动作替换</a:t>
            </a:r>
            <a:r>
              <a:rPr lang="zh-CN" altLang="en-US" sz="1600" b="0" dirty="0">
                <a:solidFill>
                  <a:srgbClr val="222222"/>
                </a:solidFill>
                <a:latin typeface="微软雅黑"/>
                <a:ea typeface="微软雅黑"/>
              </a:rPr>
              <a:t>，</a:t>
            </a:r>
            <a:r>
              <a:rPr sz="1600" b="0" dirty="0" err="1">
                <a:solidFill>
                  <a:srgbClr val="222222"/>
                </a:solidFill>
                <a:latin typeface="微软雅黑"/>
                <a:ea typeface="微软雅黑"/>
              </a:rPr>
              <a:t>投影</a:t>
            </a:r>
            <a:r>
              <a:rPr lang="zh-CN" altLang="en-US" sz="1600" dirty="0">
                <a:solidFill>
                  <a:srgbClr val="222222"/>
                </a:solidFill>
                <a:latin typeface="微软雅黑"/>
                <a:ea typeface="微软雅黑"/>
              </a:rPr>
              <a:t>，</a:t>
            </a:r>
            <a:r>
              <a:rPr sz="1600" b="0" dirty="0" err="1">
                <a:solidFill>
                  <a:srgbClr val="222222"/>
                </a:solidFill>
                <a:latin typeface="微软雅黑"/>
                <a:ea typeface="微软雅黑"/>
              </a:rPr>
              <a:t>动作屏蔽</a:t>
            </a:r>
            <a:r>
              <a:rPr lang="zh-CN" altLang="en-US" sz="1600" dirty="0">
                <a:solidFill>
                  <a:srgbClr val="222222"/>
                </a:solidFill>
                <a:latin typeface="微软雅黑"/>
                <a:ea typeface="微软雅黑"/>
              </a:rPr>
              <a:t>，</a:t>
            </a:r>
            <a:r>
              <a:rPr sz="1600" b="0" dirty="0" err="1">
                <a:solidFill>
                  <a:srgbClr val="222222"/>
                </a:solidFill>
                <a:latin typeface="微软雅黑"/>
                <a:ea typeface="微软雅黑"/>
              </a:rPr>
              <a:t>本文走</a:t>
            </a:r>
            <a:r>
              <a:rPr lang="zh-CN" altLang="en-US" sz="1600" b="0" dirty="0">
                <a:solidFill>
                  <a:srgbClr val="222222"/>
                </a:solidFill>
                <a:latin typeface="微软雅黑"/>
                <a:ea typeface="微软雅黑"/>
              </a:rPr>
              <a:t>的是</a:t>
            </a:r>
            <a:r>
              <a:rPr sz="1600" b="0" dirty="0" err="1">
                <a:solidFill>
                  <a:srgbClr val="222222"/>
                </a:solidFill>
                <a:latin typeface="微软雅黑"/>
                <a:ea typeface="微软雅黑"/>
              </a:rPr>
              <a:t>连续投影这条</a:t>
            </a:r>
            <a:r>
              <a:rPr sz="1600" b="0" dirty="0">
                <a:solidFill>
                  <a:srgbClr val="222222"/>
                </a:solidFill>
                <a:latin typeface="微软雅黑"/>
                <a:ea typeface="微软雅黑"/>
              </a:rPr>
              <a:t>。</a:t>
            </a:r>
          </a:p>
        </p:txBody>
      </p:sp>
      <p:pic>
        <p:nvPicPr>
          <p:cNvPr id="2" name="图片 1">
            <a:extLst>
              <a:ext uri="{FF2B5EF4-FFF2-40B4-BE49-F238E27FC236}">
                <a16:creationId xmlns:a16="http://schemas.microsoft.com/office/drawing/2014/main" id="{8862FB02-BA01-D2FD-CCFE-640A8F2D0B19}"/>
              </a:ext>
            </a:extLst>
          </p:cNvPr>
          <p:cNvPicPr>
            <a:picLocks noChangeAspect="1"/>
          </p:cNvPicPr>
          <p:nvPr/>
        </p:nvPicPr>
        <p:blipFill>
          <a:blip r:embed="rId2"/>
          <a:stretch>
            <a:fillRect/>
          </a:stretch>
        </p:blipFill>
        <p:spPr>
          <a:xfrm>
            <a:off x="3446585" y="809358"/>
            <a:ext cx="6646207" cy="2163336"/>
          </a:xfrm>
          <a:prstGeom prst="rect">
            <a:avLst/>
          </a:prstGeom>
        </p:spPr>
      </p:pic>
      <p:pic>
        <p:nvPicPr>
          <p:cNvPr id="4" name="Picture 3" descr="fig_serl_sprl.png"/>
          <p:cNvPicPr>
            <a:picLocks noChangeAspect="1"/>
          </p:cNvPicPr>
          <p:nvPr/>
        </p:nvPicPr>
        <p:blipFill>
          <a:blip r:embed="rId3"/>
          <a:srcRect b="16990"/>
          <a:stretch>
            <a:fillRect/>
          </a:stretch>
        </p:blipFill>
        <p:spPr>
          <a:xfrm>
            <a:off x="3446585" y="3034919"/>
            <a:ext cx="6646207" cy="2376980"/>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502920" y="256032"/>
            <a:ext cx="11186160" cy="822960"/>
          </a:xfrm>
          <a:prstGeom prst="rect">
            <a:avLst/>
          </a:prstGeom>
          <a:noFill/>
        </p:spPr>
        <p:txBody>
          <a:bodyPr wrap="square" lIns="25400" tIns="25400" rIns="25400" bIns="25400" anchor="t">
            <a:spAutoFit/>
          </a:bodyPr>
          <a:lstStyle/>
          <a:p>
            <a:pPr algn="l">
              <a:spcBef>
                <a:spcPts val="0"/>
              </a:spcBef>
              <a:spcAft>
                <a:spcPts val="600"/>
              </a:spcAft>
            </a:pPr>
            <a:r>
              <a:rPr sz="2600" b="1" dirty="0" err="1">
                <a:solidFill>
                  <a:srgbClr val="000000"/>
                </a:solidFill>
                <a:latin typeface="微软雅黑"/>
                <a:ea typeface="微软雅黑"/>
              </a:rPr>
              <a:t>五、方法总览</a:t>
            </a:r>
            <a:r>
              <a:rPr sz="2600" b="1" dirty="0">
                <a:solidFill>
                  <a:srgbClr val="000000"/>
                </a:solidFill>
                <a:latin typeface="微软雅黑"/>
                <a:ea typeface="微软雅黑"/>
              </a:rPr>
              <a:t>: </a:t>
            </a:r>
            <a:r>
              <a:rPr sz="2600" b="1" dirty="0" err="1">
                <a:solidFill>
                  <a:srgbClr val="000000"/>
                </a:solidFill>
                <a:latin typeface="微软雅黑"/>
                <a:ea typeface="微软雅黑"/>
              </a:rPr>
              <a:t>投影式安全盾框架</a:t>
            </a:r>
            <a:endParaRPr sz="2600" b="1" dirty="0">
              <a:solidFill>
                <a:srgbClr val="000000"/>
              </a:solidFill>
              <a:latin typeface="微软雅黑"/>
              <a:ea typeface="微软雅黑"/>
            </a:endParaRPr>
          </a:p>
        </p:txBody>
      </p:sp>
      <p:pic>
        <p:nvPicPr>
          <p:cNvPr id="4" name="Picture 3" descr="fig_framework.png"/>
          <p:cNvPicPr>
            <a:picLocks noChangeAspect="1"/>
          </p:cNvPicPr>
          <p:nvPr/>
        </p:nvPicPr>
        <p:blipFill>
          <a:blip r:embed="rId2"/>
          <a:stretch>
            <a:fillRect/>
          </a:stretch>
        </p:blipFill>
        <p:spPr>
          <a:xfrm>
            <a:off x="457200" y="1194602"/>
            <a:ext cx="11277600" cy="4194475"/>
          </a:xfrm>
          <a:prstGeom prst="rect">
            <a:avLst/>
          </a:prstGeom>
        </p:spPr>
      </p:pic>
      <p:sp>
        <p:nvSpPr>
          <p:cNvPr id="5" name="TextBox 4"/>
          <p:cNvSpPr txBox="1"/>
          <p:nvPr/>
        </p:nvSpPr>
        <p:spPr>
          <a:xfrm>
            <a:off x="502920" y="5532120"/>
            <a:ext cx="11186160" cy="543739"/>
          </a:xfrm>
          <a:prstGeom prst="rect">
            <a:avLst/>
          </a:prstGeom>
          <a:noFill/>
        </p:spPr>
        <p:txBody>
          <a:bodyPr wrap="square" lIns="25400" tIns="25400" rIns="25400" bIns="25400" anchor="t">
            <a:spAutoFit/>
          </a:bodyPr>
          <a:lstStyle/>
          <a:p>
            <a:pPr algn="l">
              <a:spcBef>
                <a:spcPts val="0"/>
              </a:spcBef>
              <a:spcAft>
                <a:spcPts val="600"/>
              </a:spcAft>
            </a:pPr>
            <a:r>
              <a:rPr sz="1600" b="0" dirty="0" err="1">
                <a:latin typeface="微软雅黑"/>
                <a:ea typeface="微软雅黑"/>
              </a:rPr>
              <a:t>策略输出期望动作后</a:t>
            </a:r>
            <a:r>
              <a:rPr lang="zh-CN" altLang="en-US" sz="1600" dirty="0">
                <a:latin typeface="微软雅黑"/>
                <a:ea typeface="微软雅黑"/>
              </a:rPr>
              <a:t>，</a:t>
            </a:r>
            <a:r>
              <a:rPr sz="1600" b="0" dirty="0" err="1">
                <a:latin typeface="微软雅黑"/>
                <a:ea typeface="微软雅黑"/>
              </a:rPr>
              <a:t>状态机判定当前会遇态势与合规方向</a:t>
            </a:r>
            <a:r>
              <a:rPr lang="zh-CN" altLang="en-US" sz="1600" dirty="0">
                <a:latin typeface="微软雅黑"/>
                <a:ea typeface="微软雅黑"/>
              </a:rPr>
              <a:t>，</a:t>
            </a:r>
            <a:r>
              <a:rPr sz="1600" b="0" dirty="0" err="1">
                <a:latin typeface="微软雅黑"/>
                <a:ea typeface="微软雅黑"/>
              </a:rPr>
              <a:t>构造出同时满足合规方向与无碰撞的动作约束集</a:t>
            </a:r>
            <a:r>
              <a:rPr sz="1600" b="0" dirty="0">
                <a:latin typeface="微软雅黑"/>
                <a:ea typeface="微软雅黑"/>
              </a:rPr>
              <a:t>, </a:t>
            </a:r>
            <a:r>
              <a:rPr sz="1600" b="0" dirty="0" err="1">
                <a:latin typeface="微软雅黑"/>
                <a:ea typeface="微软雅黑"/>
              </a:rPr>
              <a:t>再用二次规划把期望动作投影进该集合</a:t>
            </a:r>
            <a:r>
              <a:rPr lang="zh-CN" altLang="en-US" sz="1600" dirty="0">
                <a:latin typeface="微软雅黑"/>
                <a:ea typeface="微软雅黑"/>
              </a:rPr>
              <a:t>，</a:t>
            </a:r>
            <a:r>
              <a:rPr sz="1600" b="0" dirty="0" err="1">
                <a:latin typeface="微软雅黑"/>
                <a:ea typeface="微软雅黑"/>
              </a:rPr>
              <a:t>得到安全动作执行</a:t>
            </a:r>
            <a:r>
              <a:rPr sz="1600" b="0" dirty="0">
                <a:latin typeface="微软雅黑"/>
                <a:ea typeface="微软雅黑"/>
              </a:rPr>
              <a:t>。</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502920" y="256032"/>
            <a:ext cx="11186160" cy="822960"/>
          </a:xfrm>
          <a:prstGeom prst="rect">
            <a:avLst/>
          </a:prstGeom>
          <a:noFill/>
        </p:spPr>
        <p:txBody>
          <a:bodyPr wrap="square" lIns="25400" tIns="25400" rIns="25400" bIns="25400" anchor="t">
            <a:spAutoFit/>
          </a:bodyPr>
          <a:lstStyle/>
          <a:p>
            <a:pPr algn="l">
              <a:spcBef>
                <a:spcPts val="0"/>
              </a:spcBef>
              <a:spcAft>
                <a:spcPts val="600"/>
              </a:spcAft>
            </a:pPr>
            <a:r>
              <a:rPr sz="2600" b="1">
                <a:solidFill>
                  <a:srgbClr val="000000"/>
                </a:solidFill>
                <a:latin typeface="微软雅黑"/>
                <a:ea typeface="微软雅黑"/>
              </a:rPr>
              <a:t>六、方法 (一): 固定不动的基础</a:t>
            </a:r>
          </a:p>
        </p:txBody>
      </p:sp>
      <p:sp>
        <p:nvSpPr>
          <p:cNvPr id="5" name="TextBox 4"/>
          <p:cNvSpPr txBox="1"/>
          <p:nvPr/>
        </p:nvSpPr>
        <p:spPr>
          <a:xfrm>
            <a:off x="502920" y="1143000"/>
            <a:ext cx="11186160" cy="4572000"/>
          </a:xfrm>
          <a:prstGeom prst="rect">
            <a:avLst/>
          </a:prstGeom>
          <a:noFill/>
        </p:spPr>
        <p:txBody>
          <a:bodyPr wrap="square" lIns="25400" tIns="25400" rIns="25400" bIns="25400" anchor="t">
            <a:spAutoFit/>
          </a:bodyPr>
          <a:lstStyle/>
          <a:p>
            <a:pPr algn="l">
              <a:spcBef>
                <a:spcPts val="0"/>
              </a:spcBef>
              <a:spcAft>
                <a:spcPts val="600"/>
              </a:spcAft>
            </a:pPr>
            <a:r>
              <a:rPr sz="1550" b="1" dirty="0" err="1">
                <a:solidFill>
                  <a:srgbClr val="222222"/>
                </a:solidFill>
                <a:latin typeface="微软雅黑"/>
                <a:ea typeface="微软雅黑"/>
              </a:rPr>
              <a:t>仿真环境与船舶动力学</a:t>
            </a:r>
            <a:endParaRPr sz="1550" b="1" dirty="0">
              <a:solidFill>
                <a:srgbClr val="222222"/>
              </a:solidFill>
              <a:latin typeface="微软雅黑"/>
              <a:ea typeface="微软雅黑"/>
            </a:endParaRPr>
          </a:p>
          <a:p>
            <a:pPr algn="l">
              <a:spcBef>
                <a:spcPts val="0"/>
              </a:spcBef>
              <a:spcAft>
                <a:spcPts val="600"/>
              </a:spcAft>
            </a:pPr>
            <a:r>
              <a:rPr sz="1550" b="0" dirty="0" err="1">
                <a:solidFill>
                  <a:srgbClr val="222222"/>
                </a:solidFill>
                <a:latin typeface="微软雅黑"/>
                <a:ea typeface="微软雅黑"/>
              </a:rPr>
              <a:t>沿用</a:t>
            </a:r>
            <a:r>
              <a:rPr sz="1550" b="0" dirty="0">
                <a:solidFill>
                  <a:srgbClr val="222222"/>
                </a:solidFill>
                <a:latin typeface="微软雅黑"/>
                <a:ea typeface="微软雅黑"/>
              </a:rPr>
              <a:t> </a:t>
            </a:r>
            <a:r>
              <a:rPr sz="1550" b="0" dirty="0" err="1">
                <a:solidFill>
                  <a:srgbClr val="222222"/>
                </a:solidFill>
                <a:latin typeface="微软雅黑"/>
                <a:ea typeface="微软雅黑"/>
              </a:rPr>
              <a:t>CommonOcean</a:t>
            </a:r>
            <a:r>
              <a:rPr sz="1550" b="0" dirty="0">
                <a:solidFill>
                  <a:srgbClr val="222222"/>
                </a:solidFill>
                <a:latin typeface="微软雅黑"/>
                <a:ea typeface="微软雅黑"/>
              </a:rPr>
              <a:t> </a:t>
            </a:r>
            <a:r>
              <a:rPr sz="1550" b="0" dirty="0" err="1">
                <a:solidFill>
                  <a:srgbClr val="222222"/>
                </a:solidFill>
                <a:latin typeface="微软雅黑"/>
                <a:ea typeface="微软雅黑"/>
              </a:rPr>
              <a:t>与偏航受限模型</a:t>
            </a:r>
            <a:r>
              <a:rPr sz="1550" b="0" dirty="0">
                <a:solidFill>
                  <a:srgbClr val="222222"/>
                </a:solidFill>
                <a:latin typeface="微软雅黑"/>
                <a:ea typeface="微软雅黑"/>
              </a:rPr>
              <a:t>, </a:t>
            </a:r>
            <a:r>
              <a:rPr sz="1550" b="0" dirty="0" err="1">
                <a:solidFill>
                  <a:srgbClr val="222222"/>
                </a:solidFill>
                <a:latin typeface="微软雅黑"/>
                <a:ea typeface="微软雅黑"/>
              </a:rPr>
              <a:t>不改</a:t>
            </a:r>
            <a:r>
              <a:rPr sz="1550" b="0" dirty="0">
                <a:solidFill>
                  <a:srgbClr val="222222"/>
                </a:solidFill>
                <a:latin typeface="微软雅黑"/>
                <a:ea typeface="微软雅黑"/>
              </a:rPr>
              <a:t>。</a:t>
            </a:r>
          </a:p>
          <a:p>
            <a:pPr algn="l">
              <a:spcBef>
                <a:spcPts val="0"/>
              </a:spcBef>
              <a:spcAft>
                <a:spcPts val="600"/>
              </a:spcAft>
            </a:pPr>
            <a:endParaRPr sz="1550" b="0" dirty="0">
              <a:solidFill>
                <a:srgbClr val="222222"/>
              </a:solidFill>
              <a:latin typeface="微软雅黑"/>
              <a:ea typeface="微软雅黑"/>
            </a:endParaRPr>
          </a:p>
          <a:p>
            <a:pPr algn="l">
              <a:spcBef>
                <a:spcPts val="0"/>
              </a:spcBef>
              <a:spcAft>
                <a:spcPts val="600"/>
              </a:spcAft>
            </a:pPr>
            <a:r>
              <a:rPr sz="1550" b="1" dirty="0">
                <a:solidFill>
                  <a:srgbClr val="222222"/>
                </a:solidFill>
                <a:latin typeface="微软雅黑"/>
                <a:ea typeface="微软雅黑"/>
              </a:rPr>
              <a:t>COLREGs </a:t>
            </a:r>
            <a:r>
              <a:rPr sz="1550" b="1" dirty="0" err="1">
                <a:solidFill>
                  <a:srgbClr val="222222"/>
                </a:solidFill>
                <a:latin typeface="微软雅黑"/>
                <a:ea typeface="微软雅黑"/>
              </a:rPr>
              <a:t>形式化状态机</a:t>
            </a:r>
            <a:endParaRPr sz="1550" b="1" dirty="0">
              <a:solidFill>
                <a:srgbClr val="222222"/>
              </a:solidFill>
              <a:latin typeface="微软雅黑"/>
              <a:ea typeface="微软雅黑"/>
            </a:endParaRPr>
          </a:p>
          <a:p>
            <a:pPr algn="l">
              <a:spcBef>
                <a:spcPts val="0"/>
              </a:spcBef>
              <a:spcAft>
                <a:spcPts val="600"/>
              </a:spcAft>
            </a:pPr>
            <a:r>
              <a:rPr sz="1550" b="0" dirty="0" err="1">
                <a:solidFill>
                  <a:srgbClr val="222222"/>
                </a:solidFill>
                <a:latin typeface="微软雅黑"/>
                <a:ea typeface="微软雅黑"/>
              </a:rPr>
              <a:t>复现</a:t>
            </a:r>
            <a:r>
              <a:rPr sz="1550" b="0" dirty="0">
                <a:solidFill>
                  <a:srgbClr val="222222"/>
                </a:solidFill>
                <a:latin typeface="微软雅黑"/>
                <a:ea typeface="微软雅黑"/>
              </a:rPr>
              <a:t> Krasowski </a:t>
            </a:r>
            <a:r>
              <a:rPr sz="1550" b="0" dirty="0" err="1">
                <a:solidFill>
                  <a:srgbClr val="222222"/>
                </a:solidFill>
                <a:latin typeface="微软雅黑"/>
                <a:ea typeface="微软雅黑"/>
              </a:rPr>
              <a:t>的相遇态势分类与合规方向判定</a:t>
            </a:r>
            <a:r>
              <a:rPr sz="1550" b="0" dirty="0">
                <a:solidFill>
                  <a:srgbClr val="222222"/>
                </a:solidFill>
                <a:latin typeface="微软雅黑"/>
                <a:ea typeface="微软雅黑"/>
              </a:rPr>
              <a:t>, </a:t>
            </a:r>
            <a:r>
              <a:rPr sz="1550" b="0" dirty="0" err="1">
                <a:solidFill>
                  <a:srgbClr val="222222"/>
                </a:solidFill>
                <a:latin typeface="微软雅黑"/>
                <a:ea typeface="微软雅黑"/>
              </a:rPr>
              <a:t>不改</a:t>
            </a:r>
            <a:r>
              <a:rPr sz="1550" b="0" dirty="0">
                <a:solidFill>
                  <a:srgbClr val="222222"/>
                </a:solidFill>
                <a:latin typeface="微软雅黑"/>
                <a:ea typeface="微软雅黑"/>
              </a:rPr>
              <a:t>。</a:t>
            </a:r>
          </a:p>
          <a:p>
            <a:pPr algn="l">
              <a:spcBef>
                <a:spcPts val="0"/>
              </a:spcBef>
              <a:spcAft>
                <a:spcPts val="600"/>
              </a:spcAft>
            </a:pPr>
            <a:endParaRPr sz="1550" b="0" dirty="0">
              <a:solidFill>
                <a:srgbClr val="222222"/>
              </a:solidFill>
              <a:latin typeface="微软雅黑"/>
              <a:ea typeface="微软雅黑"/>
            </a:endParaRPr>
          </a:p>
          <a:p>
            <a:pPr algn="l">
              <a:spcBef>
                <a:spcPts val="0"/>
              </a:spcBef>
              <a:spcAft>
                <a:spcPts val="600"/>
              </a:spcAft>
            </a:pPr>
            <a:r>
              <a:rPr sz="1550" b="1" dirty="0" err="1">
                <a:solidFill>
                  <a:srgbClr val="222222"/>
                </a:solidFill>
                <a:latin typeface="微软雅黑"/>
                <a:ea typeface="微软雅黑"/>
              </a:rPr>
              <a:t>投影式安全盾</a:t>
            </a:r>
            <a:endParaRPr sz="1550" b="1" dirty="0">
              <a:solidFill>
                <a:srgbClr val="222222"/>
              </a:solidFill>
              <a:latin typeface="微软雅黑"/>
              <a:ea typeface="微软雅黑"/>
            </a:endParaRPr>
          </a:p>
          <a:p>
            <a:pPr algn="l">
              <a:spcBef>
                <a:spcPts val="0"/>
              </a:spcBef>
              <a:spcAft>
                <a:spcPts val="600"/>
              </a:spcAft>
            </a:pPr>
            <a:r>
              <a:rPr sz="1550" b="0" dirty="0" err="1">
                <a:solidFill>
                  <a:srgbClr val="222222"/>
                </a:solidFill>
                <a:latin typeface="微软雅黑"/>
                <a:ea typeface="微软雅黑"/>
              </a:rPr>
              <a:t>核心创新架构</a:t>
            </a:r>
            <a:r>
              <a:rPr sz="1550" b="0" dirty="0">
                <a:solidFill>
                  <a:srgbClr val="222222"/>
                </a:solidFill>
                <a:latin typeface="微软雅黑"/>
                <a:ea typeface="微软雅黑"/>
              </a:rPr>
              <a:t>, </a:t>
            </a:r>
            <a:r>
              <a:rPr sz="1550" b="0" dirty="0" err="1">
                <a:solidFill>
                  <a:srgbClr val="222222"/>
                </a:solidFill>
                <a:latin typeface="微软雅黑"/>
                <a:ea typeface="微软雅黑"/>
              </a:rPr>
              <a:t>把合规与无碰撞刻画为约束集并投影</a:t>
            </a:r>
            <a:r>
              <a:rPr sz="1550" b="0" dirty="0">
                <a:solidFill>
                  <a:srgbClr val="222222"/>
                </a:solidFill>
                <a:latin typeface="微软雅黑"/>
                <a:ea typeface="微软雅黑"/>
              </a:rPr>
              <a:t>, </a:t>
            </a:r>
            <a:r>
              <a:rPr sz="1550" b="0" dirty="0" err="1">
                <a:solidFill>
                  <a:srgbClr val="222222"/>
                </a:solidFill>
                <a:latin typeface="微软雅黑"/>
                <a:ea typeface="微软雅黑"/>
              </a:rPr>
              <a:t>固定不动</a:t>
            </a:r>
            <a:r>
              <a:rPr sz="1550" b="0" dirty="0">
                <a:solidFill>
                  <a:srgbClr val="222222"/>
                </a:solidFill>
                <a:latin typeface="微软雅黑"/>
                <a:ea typeface="微软雅黑"/>
              </a:rPr>
              <a:t>。</a:t>
            </a:r>
          </a:p>
          <a:p>
            <a:pPr algn="l">
              <a:spcBef>
                <a:spcPts val="0"/>
              </a:spcBef>
              <a:spcAft>
                <a:spcPts val="600"/>
              </a:spcAft>
            </a:pPr>
            <a:endParaRPr sz="1550" b="0" dirty="0">
              <a:solidFill>
                <a:srgbClr val="222222"/>
              </a:solidFill>
              <a:latin typeface="微软雅黑"/>
              <a:ea typeface="微软雅黑"/>
            </a:endParaRPr>
          </a:p>
          <a:p>
            <a:pPr algn="l">
              <a:spcBef>
                <a:spcPts val="0"/>
              </a:spcBef>
              <a:spcAft>
                <a:spcPts val="600"/>
              </a:spcAft>
            </a:pPr>
            <a:r>
              <a:rPr sz="1550" b="1" dirty="0" err="1">
                <a:solidFill>
                  <a:srgbClr val="222222"/>
                </a:solidFill>
                <a:latin typeface="微软雅黑"/>
                <a:ea typeface="微软雅黑"/>
              </a:rPr>
              <a:t>基础奖励函数</a:t>
            </a:r>
            <a:endParaRPr sz="1550" b="1" dirty="0">
              <a:solidFill>
                <a:srgbClr val="222222"/>
              </a:solidFill>
              <a:latin typeface="微软雅黑"/>
              <a:ea typeface="微软雅黑"/>
            </a:endParaRPr>
          </a:p>
          <a:p>
            <a:pPr algn="l">
              <a:spcBef>
                <a:spcPts val="0"/>
              </a:spcBef>
              <a:spcAft>
                <a:spcPts val="600"/>
              </a:spcAft>
            </a:pPr>
            <a:r>
              <a:rPr sz="1550" b="0" dirty="0" err="1">
                <a:solidFill>
                  <a:srgbClr val="222222"/>
                </a:solidFill>
                <a:latin typeface="微软雅黑"/>
                <a:ea typeface="微软雅黑"/>
              </a:rPr>
              <a:t>忠实复现</a:t>
            </a:r>
            <a:r>
              <a:rPr sz="1550" b="0" dirty="0">
                <a:solidFill>
                  <a:srgbClr val="222222"/>
                </a:solidFill>
                <a:latin typeface="微软雅黑"/>
                <a:ea typeface="微软雅黑"/>
              </a:rPr>
              <a:t> Krasowski </a:t>
            </a:r>
            <a:r>
              <a:rPr sz="1550" b="0" dirty="0" err="1">
                <a:solidFill>
                  <a:srgbClr val="222222"/>
                </a:solidFill>
                <a:latin typeface="微软雅黑"/>
                <a:ea typeface="微软雅黑"/>
              </a:rPr>
              <a:t>原始系数</a:t>
            </a:r>
            <a:r>
              <a:rPr sz="1550" b="0" dirty="0">
                <a:solidFill>
                  <a:srgbClr val="222222"/>
                </a:solidFill>
                <a:latin typeface="微软雅黑"/>
                <a:ea typeface="微软雅黑"/>
              </a:rPr>
              <a:t>, </a:t>
            </a:r>
            <a:r>
              <a:rPr sz="1550" b="0" dirty="0" err="1">
                <a:solidFill>
                  <a:srgbClr val="222222"/>
                </a:solidFill>
                <a:latin typeface="微软雅黑"/>
                <a:ea typeface="微软雅黑"/>
              </a:rPr>
              <a:t>不改基础系数</a:t>
            </a:r>
            <a:r>
              <a:rPr sz="1550" b="0" dirty="0">
                <a:solidFill>
                  <a:srgbClr val="222222"/>
                </a:solidFill>
                <a:latin typeface="微软雅黑"/>
                <a:ea typeface="微软雅黑"/>
              </a:rPr>
              <a:t>。</a:t>
            </a:r>
          </a:p>
          <a:p>
            <a:pPr algn="l">
              <a:spcBef>
                <a:spcPts val="0"/>
              </a:spcBef>
              <a:spcAft>
                <a:spcPts val="600"/>
              </a:spcAft>
            </a:pPr>
            <a:endParaRPr sz="1550" b="0" dirty="0">
              <a:solidFill>
                <a:srgbClr val="222222"/>
              </a:solidFill>
              <a:latin typeface="微软雅黑"/>
              <a:ea typeface="微软雅黑"/>
            </a:endParaRPr>
          </a:p>
          <a:p>
            <a:pPr algn="l">
              <a:spcBef>
                <a:spcPts val="0"/>
              </a:spcBef>
              <a:spcAft>
                <a:spcPts val="600"/>
              </a:spcAft>
            </a:pPr>
            <a:r>
              <a:rPr sz="1550" b="1" dirty="0" err="1">
                <a:solidFill>
                  <a:srgbClr val="222222"/>
                </a:solidFill>
                <a:latin typeface="微软雅黑"/>
                <a:ea typeface="微软雅黑"/>
              </a:rPr>
              <a:t>训练算法与离散对比基线</a:t>
            </a:r>
            <a:endParaRPr sz="1550" b="1" dirty="0">
              <a:solidFill>
                <a:srgbClr val="222222"/>
              </a:solidFill>
              <a:latin typeface="微软雅黑"/>
              <a:ea typeface="微软雅黑"/>
            </a:endParaRPr>
          </a:p>
          <a:p>
            <a:pPr algn="l">
              <a:spcBef>
                <a:spcPts val="0"/>
              </a:spcBef>
              <a:spcAft>
                <a:spcPts val="600"/>
              </a:spcAft>
            </a:pPr>
            <a:r>
              <a:rPr sz="1550" b="0" dirty="0" err="1">
                <a:solidFill>
                  <a:srgbClr val="222222"/>
                </a:solidFill>
                <a:latin typeface="微软雅黑"/>
                <a:ea typeface="微软雅黑"/>
              </a:rPr>
              <a:t>连续</a:t>
            </a:r>
            <a:r>
              <a:rPr sz="1550" b="0" dirty="0">
                <a:solidFill>
                  <a:srgbClr val="222222"/>
                </a:solidFill>
                <a:latin typeface="微软雅黑"/>
                <a:ea typeface="微软雅黑"/>
              </a:rPr>
              <a:t> PPO </a:t>
            </a:r>
            <a:r>
              <a:rPr sz="1550" b="0" dirty="0" err="1">
                <a:solidFill>
                  <a:srgbClr val="222222"/>
                </a:solidFill>
                <a:latin typeface="微软雅黑"/>
                <a:ea typeface="微软雅黑"/>
              </a:rPr>
              <a:t>固定</a:t>
            </a:r>
            <a:r>
              <a:rPr sz="1550" b="0" dirty="0">
                <a:solidFill>
                  <a:srgbClr val="222222"/>
                </a:solidFill>
                <a:latin typeface="微软雅黑"/>
                <a:ea typeface="微软雅黑"/>
              </a:rPr>
              <a:t>; </a:t>
            </a:r>
            <a:r>
              <a:rPr sz="1550" b="0" dirty="0" err="1">
                <a:solidFill>
                  <a:srgbClr val="222222"/>
                </a:solidFill>
                <a:latin typeface="微软雅黑"/>
                <a:ea typeface="微软雅黑"/>
              </a:rPr>
              <a:t>离散基线忠实复现</a:t>
            </a:r>
            <a:r>
              <a:rPr sz="1550" b="0" dirty="0">
                <a:solidFill>
                  <a:srgbClr val="222222"/>
                </a:solidFill>
                <a:latin typeface="微软雅黑"/>
                <a:ea typeface="微软雅黑"/>
              </a:rPr>
              <a:t>, </a:t>
            </a:r>
            <a:r>
              <a:rPr sz="1550" b="0" dirty="0" err="1">
                <a:solidFill>
                  <a:srgbClr val="222222"/>
                </a:solidFill>
                <a:latin typeface="微软雅黑"/>
                <a:ea typeface="微软雅黑"/>
              </a:rPr>
              <a:t>不加论文里没有的东西</a:t>
            </a:r>
            <a:r>
              <a:rPr sz="1550" b="0" dirty="0">
                <a:solidFill>
                  <a:srgbClr val="222222"/>
                </a:solidFill>
                <a:latin typeface="微软雅黑"/>
                <a:ea typeface="微软雅黑"/>
              </a:rPr>
              <a:t>。</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502920" y="256032"/>
            <a:ext cx="11186160" cy="822960"/>
          </a:xfrm>
          <a:prstGeom prst="rect">
            <a:avLst/>
          </a:prstGeom>
          <a:noFill/>
        </p:spPr>
        <p:txBody>
          <a:bodyPr wrap="square" lIns="25400" tIns="25400" rIns="25400" bIns="25400" anchor="t">
            <a:spAutoFit/>
          </a:bodyPr>
          <a:lstStyle/>
          <a:p>
            <a:pPr algn="l">
              <a:spcBef>
                <a:spcPts val="0"/>
              </a:spcBef>
              <a:spcAft>
                <a:spcPts val="600"/>
              </a:spcAft>
            </a:pPr>
            <a:r>
              <a:rPr sz="2600" b="1">
                <a:solidFill>
                  <a:srgbClr val="000000"/>
                </a:solidFill>
                <a:latin typeface="微软雅黑"/>
                <a:ea typeface="微软雅黑"/>
              </a:rPr>
              <a:t>六、方法 (一): 基础奖励函数</a:t>
            </a:r>
          </a:p>
        </p:txBody>
      </p:sp>
      <p:pic>
        <p:nvPicPr>
          <p:cNvPr id="4" name="Picture 3" descr="fig_math_reward.png"/>
          <p:cNvPicPr>
            <a:picLocks noChangeAspect="1"/>
          </p:cNvPicPr>
          <p:nvPr/>
        </p:nvPicPr>
        <p:blipFill>
          <a:blip r:embed="rId2"/>
          <a:stretch>
            <a:fillRect/>
          </a:stretch>
        </p:blipFill>
        <p:spPr>
          <a:xfrm>
            <a:off x="502920" y="781648"/>
            <a:ext cx="8651706" cy="4206354"/>
          </a:xfrm>
          <a:prstGeom prst="rect">
            <a:avLst/>
          </a:prstGeom>
        </p:spPr>
      </p:pic>
      <p:sp>
        <p:nvSpPr>
          <p:cNvPr id="5" name="TextBox 4"/>
          <p:cNvSpPr txBox="1"/>
          <p:nvPr/>
        </p:nvSpPr>
        <p:spPr>
          <a:xfrm>
            <a:off x="502920" y="5212080"/>
            <a:ext cx="11186160" cy="943848"/>
          </a:xfrm>
          <a:prstGeom prst="rect">
            <a:avLst/>
          </a:prstGeom>
          <a:noFill/>
        </p:spPr>
        <p:txBody>
          <a:bodyPr wrap="square" lIns="25400" tIns="25400" rIns="25400" bIns="25400" anchor="t">
            <a:spAutoFit/>
          </a:bodyPr>
          <a:lstStyle/>
          <a:p>
            <a:pPr algn="l">
              <a:spcBef>
                <a:spcPts val="0"/>
              </a:spcBef>
              <a:spcAft>
                <a:spcPts val="600"/>
              </a:spcAft>
            </a:pPr>
            <a:r>
              <a:rPr sz="1600" b="0" dirty="0" err="1">
                <a:latin typeface="微软雅黑"/>
                <a:ea typeface="微软雅黑"/>
              </a:rPr>
              <a:t>总奖励由五部分组成</a:t>
            </a:r>
            <a:r>
              <a:rPr lang="zh-CN" altLang="en-US" sz="1600" b="0" dirty="0">
                <a:latin typeface="微软雅黑"/>
                <a:ea typeface="微软雅黑"/>
              </a:rPr>
              <a:t>，</a:t>
            </a:r>
            <a:r>
              <a:rPr sz="1600" b="0" dirty="0" err="1">
                <a:latin typeface="微软雅黑"/>
                <a:ea typeface="微软雅黑"/>
              </a:rPr>
              <a:t>系数全部来自</a:t>
            </a:r>
            <a:r>
              <a:rPr sz="1600" b="0" dirty="0">
                <a:latin typeface="微软雅黑"/>
                <a:ea typeface="微软雅黑"/>
              </a:rPr>
              <a:t> Krasowski </a:t>
            </a:r>
            <a:r>
              <a:rPr sz="1600" b="0" dirty="0" err="1">
                <a:latin typeface="微软雅黑"/>
                <a:ea typeface="微软雅黑"/>
              </a:rPr>
              <a:t>原文</a:t>
            </a:r>
            <a:r>
              <a:rPr sz="1600" b="0" dirty="0">
                <a:latin typeface="微软雅黑"/>
                <a:ea typeface="微软雅黑"/>
              </a:rPr>
              <a:t>。</a:t>
            </a:r>
            <a:endParaRPr lang="en-US" sz="1600" b="0" dirty="0">
              <a:latin typeface="微软雅黑"/>
              <a:ea typeface="微软雅黑"/>
            </a:endParaRPr>
          </a:p>
          <a:p>
            <a:pPr algn="l">
              <a:spcBef>
                <a:spcPts val="0"/>
              </a:spcBef>
              <a:spcAft>
                <a:spcPts val="600"/>
              </a:spcAft>
            </a:pPr>
            <a:endParaRPr lang="en-US" sz="1600" dirty="0">
              <a:latin typeface="微软雅黑"/>
              <a:ea typeface="微软雅黑"/>
            </a:endParaRPr>
          </a:p>
          <a:p>
            <a:pPr algn="l">
              <a:spcBef>
                <a:spcPts val="0"/>
              </a:spcBef>
              <a:spcAft>
                <a:spcPts val="600"/>
              </a:spcAft>
            </a:pPr>
            <a:r>
              <a:rPr sz="1600" b="0" dirty="0" err="1">
                <a:latin typeface="微软雅黑"/>
                <a:ea typeface="微软雅黑"/>
              </a:rPr>
              <a:t>其中接近奖励是随距离缩短给出的稠密引导</a:t>
            </a:r>
            <a:r>
              <a:rPr lang="zh-CN" altLang="en-US" sz="1600" dirty="0">
                <a:latin typeface="微软雅黑"/>
                <a:ea typeface="微软雅黑"/>
              </a:rPr>
              <a:t>，</a:t>
            </a:r>
            <a:r>
              <a:rPr sz="1600" b="0" dirty="0" err="1">
                <a:latin typeface="微软雅黑"/>
                <a:ea typeface="微软雅黑"/>
              </a:rPr>
              <a:t>进入目标只在到达那一步给一次奖励</a:t>
            </a:r>
            <a:r>
              <a:rPr sz="1600" b="0" dirty="0">
                <a:latin typeface="微软雅黑"/>
                <a:ea typeface="微软雅黑"/>
              </a:rPr>
              <a:t>。</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502920" y="256032"/>
            <a:ext cx="11186160" cy="822960"/>
          </a:xfrm>
          <a:prstGeom prst="rect">
            <a:avLst/>
          </a:prstGeom>
          <a:noFill/>
        </p:spPr>
        <p:txBody>
          <a:bodyPr wrap="square" lIns="25400" tIns="25400" rIns="25400" bIns="25400" anchor="t">
            <a:spAutoFit/>
          </a:bodyPr>
          <a:lstStyle/>
          <a:p>
            <a:pPr algn="l">
              <a:spcBef>
                <a:spcPts val="0"/>
              </a:spcBef>
              <a:spcAft>
                <a:spcPts val="600"/>
              </a:spcAft>
            </a:pPr>
            <a:r>
              <a:rPr sz="2600" b="1">
                <a:solidFill>
                  <a:srgbClr val="000000"/>
                </a:solidFill>
                <a:latin typeface="微软雅黑"/>
                <a:ea typeface="微软雅黑"/>
              </a:rPr>
              <a:t>六、方法 (一): 投影式安全盾的数学机制</a:t>
            </a:r>
          </a:p>
        </p:txBody>
      </p:sp>
      <p:pic>
        <p:nvPicPr>
          <p:cNvPr id="4" name="Picture 3" descr="fig_math_shield.png"/>
          <p:cNvPicPr>
            <a:picLocks noChangeAspect="1"/>
          </p:cNvPicPr>
          <p:nvPr/>
        </p:nvPicPr>
        <p:blipFill>
          <a:blip r:embed="rId2"/>
          <a:stretch>
            <a:fillRect/>
          </a:stretch>
        </p:blipFill>
        <p:spPr>
          <a:xfrm>
            <a:off x="502920" y="944979"/>
            <a:ext cx="4807665" cy="1965960"/>
          </a:xfrm>
          <a:prstGeom prst="rect">
            <a:avLst/>
          </a:prstGeom>
        </p:spPr>
      </p:pic>
      <p:sp>
        <p:nvSpPr>
          <p:cNvPr id="5" name="TextBox 4"/>
          <p:cNvSpPr txBox="1"/>
          <p:nvPr/>
        </p:nvSpPr>
        <p:spPr>
          <a:xfrm>
            <a:off x="502920" y="3108960"/>
            <a:ext cx="11186160" cy="2872581"/>
          </a:xfrm>
          <a:prstGeom prst="rect">
            <a:avLst/>
          </a:prstGeom>
          <a:noFill/>
        </p:spPr>
        <p:txBody>
          <a:bodyPr wrap="square" lIns="25400" tIns="25400" rIns="25400" bIns="25400" anchor="t">
            <a:spAutoFit/>
          </a:bodyPr>
          <a:lstStyle/>
          <a:p>
            <a:pPr algn="l">
              <a:spcBef>
                <a:spcPts val="0"/>
              </a:spcBef>
              <a:spcAft>
                <a:spcPts val="400"/>
              </a:spcAft>
            </a:pPr>
            <a:r>
              <a:rPr sz="1600" b="1" dirty="0" err="1">
                <a:solidFill>
                  <a:srgbClr val="222222"/>
                </a:solidFill>
                <a:latin typeface="微软雅黑"/>
                <a:ea typeface="微软雅黑"/>
              </a:rPr>
              <a:t>状态机判合规方向</a:t>
            </a:r>
            <a:endParaRPr sz="1600" b="1" dirty="0">
              <a:solidFill>
                <a:srgbClr val="222222"/>
              </a:solidFill>
              <a:latin typeface="微软雅黑"/>
              <a:ea typeface="微软雅黑"/>
            </a:endParaRPr>
          </a:p>
          <a:p>
            <a:pPr algn="l">
              <a:spcBef>
                <a:spcPts val="0"/>
              </a:spcBef>
              <a:spcAft>
                <a:spcPts val="400"/>
              </a:spcAft>
            </a:pPr>
            <a:r>
              <a:rPr sz="1600" b="0" dirty="0" err="1">
                <a:solidFill>
                  <a:srgbClr val="222222"/>
                </a:solidFill>
                <a:latin typeface="微软雅黑"/>
                <a:ea typeface="微软雅黑"/>
              </a:rPr>
              <a:t>给路船</a:t>
            </a:r>
            <a:r>
              <a:rPr sz="1600" b="0" dirty="0">
                <a:solidFill>
                  <a:srgbClr val="222222"/>
                </a:solidFill>
                <a:latin typeface="微软雅黑"/>
                <a:ea typeface="微软雅黑"/>
              </a:rPr>
              <a:t>(</a:t>
            </a:r>
            <a:r>
              <a:rPr sz="1600" b="0" dirty="0" err="1">
                <a:solidFill>
                  <a:srgbClr val="222222"/>
                </a:solidFill>
                <a:latin typeface="微软雅黑"/>
                <a:ea typeface="微软雅黑"/>
              </a:rPr>
              <a:t>对遇</a:t>
            </a:r>
            <a:r>
              <a:rPr sz="1600" b="0" dirty="0">
                <a:solidFill>
                  <a:srgbClr val="222222"/>
                </a:solidFill>
                <a:latin typeface="微软雅黑"/>
                <a:ea typeface="微软雅黑"/>
              </a:rPr>
              <a:t>, </a:t>
            </a:r>
            <a:r>
              <a:rPr sz="1600" b="0" dirty="0" err="1">
                <a:solidFill>
                  <a:srgbClr val="222222"/>
                </a:solidFill>
                <a:latin typeface="微软雅黑"/>
                <a:ea typeface="微软雅黑"/>
              </a:rPr>
              <a:t>右舷交叉</a:t>
            </a:r>
            <a:r>
              <a:rPr sz="1600" b="0" dirty="0">
                <a:solidFill>
                  <a:srgbClr val="222222"/>
                </a:solidFill>
                <a:latin typeface="微软雅黑"/>
                <a:ea typeface="微软雅黑"/>
              </a:rPr>
              <a:t>)</a:t>
            </a:r>
            <a:r>
              <a:rPr sz="1600" b="0" dirty="0" err="1">
                <a:solidFill>
                  <a:srgbClr val="222222"/>
                </a:solidFill>
                <a:latin typeface="微软雅黑"/>
                <a:ea typeface="微软雅黑"/>
              </a:rPr>
              <a:t>被约束为向右转</a:t>
            </a:r>
            <a:r>
              <a:rPr sz="1600" b="0" dirty="0">
                <a:solidFill>
                  <a:srgbClr val="222222"/>
                </a:solidFill>
                <a:latin typeface="微软雅黑"/>
                <a:ea typeface="微软雅黑"/>
              </a:rPr>
              <a:t>; </a:t>
            </a:r>
            <a:r>
              <a:rPr sz="1600" b="0" dirty="0" err="1">
                <a:solidFill>
                  <a:srgbClr val="222222"/>
                </a:solidFill>
                <a:latin typeface="微软雅黑"/>
                <a:ea typeface="微软雅黑"/>
              </a:rPr>
              <a:t>直航船被约束为保向保速</a:t>
            </a:r>
            <a:r>
              <a:rPr sz="1600" b="0" dirty="0">
                <a:solidFill>
                  <a:srgbClr val="222222"/>
                </a:solidFill>
                <a:latin typeface="微软雅黑"/>
                <a:ea typeface="微软雅黑"/>
              </a:rPr>
              <a:t>, </a:t>
            </a:r>
            <a:r>
              <a:rPr sz="1600" b="0" dirty="0" err="1">
                <a:solidFill>
                  <a:srgbClr val="222222"/>
                </a:solidFill>
                <a:latin typeface="微软雅黑"/>
                <a:ea typeface="微软雅黑"/>
              </a:rPr>
              <a:t>转艏率与加速度都压在很小的窄带内</a:t>
            </a:r>
            <a:r>
              <a:rPr sz="1600" b="0" dirty="0">
                <a:solidFill>
                  <a:srgbClr val="222222"/>
                </a:solidFill>
                <a:latin typeface="微软雅黑"/>
                <a:ea typeface="微软雅黑"/>
              </a:rPr>
              <a:t>; </a:t>
            </a:r>
            <a:r>
              <a:rPr sz="1600" b="0" dirty="0" err="1">
                <a:solidFill>
                  <a:srgbClr val="222222"/>
                </a:solidFill>
                <a:latin typeface="微软雅黑"/>
                <a:ea typeface="微软雅黑"/>
              </a:rPr>
              <a:t>无冲突态势不施加方向约束</a:t>
            </a:r>
            <a:r>
              <a:rPr sz="1600" b="0" dirty="0">
                <a:solidFill>
                  <a:srgbClr val="222222"/>
                </a:solidFill>
                <a:latin typeface="微软雅黑"/>
                <a:ea typeface="微软雅黑"/>
              </a:rPr>
              <a:t>。</a:t>
            </a:r>
          </a:p>
          <a:p>
            <a:pPr algn="l">
              <a:spcBef>
                <a:spcPts val="0"/>
              </a:spcBef>
              <a:spcAft>
                <a:spcPts val="400"/>
              </a:spcAft>
            </a:pPr>
            <a:endParaRPr sz="1600" b="0" dirty="0">
              <a:solidFill>
                <a:srgbClr val="222222"/>
              </a:solidFill>
              <a:latin typeface="微软雅黑"/>
              <a:ea typeface="微软雅黑"/>
            </a:endParaRPr>
          </a:p>
          <a:p>
            <a:pPr algn="l">
              <a:spcBef>
                <a:spcPts val="0"/>
              </a:spcBef>
              <a:spcAft>
                <a:spcPts val="400"/>
              </a:spcAft>
            </a:pPr>
            <a:r>
              <a:rPr sz="1600" b="1" dirty="0" err="1">
                <a:solidFill>
                  <a:srgbClr val="222222"/>
                </a:solidFill>
                <a:latin typeface="微软雅黑"/>
                <a:ea typeface="微软雅黑"/>
              </a:rPr>
              <a:t>无碰撞约束</a:t>
            </a:r>
            <a:endParaRPr sz="1600" b="1" dirty="0">
              <a:solidFill>
                <a:srgbClr val="222222"/>
              </a:solidFill>
              <a:latin typeface="微软雅黑"/>
              <a:ea typeface="微软雅黑"/>
            </a:endParaRPr>
          </a:p>
          <a:p>
            <a:pPr algn="l">
              <a:spcBef>
                <a:spcPts val="0"/>
              </a:spcBef>
              <a:spcAft>
                <a:spcPts val="400"/>
              </a:spcAft>
            </a:pPr>
            <a:r>
              <a:rPr sz="1600" b="0" dirty="0" err="1">
                <a:solidFill>
                  <a:srgbClr val="222222"/>
                </a:solidFill>
                <a:latin typeface="微软雅黑"/>
                <a:ea typeface="微软雅黑"/>
              </a:rPr>
              <a:t>要求本船下一步的占据区域与每艘他船的预测占据区域不相交</a:t>
            </a:r>
            <a:r>
              <a:rPr sz="1600" b="0" dirty="0">
                <a:solidFill>
                  <a:srgbClr val="222222"/>
                </a:solidFill>
                <a:latin typeface="微软雅黑"/>
                <a:ea typeface="微软雅黑"/>
              </a:rPr>
              <a:t>, </a:t>
            </a:r>
            <a:r>
              <a:rPr sz="1600" b="0" dirty="0" err="1">
                <a:solidFill>
                  <a:srgbClr val="222222"/>
                </a:solidFill>
                <a:latin typeface="微软雅黑"/>
                <a:ea typeface="微软雅黑"/>
              </a:rPr>
              <a:t>并留出安全裕度</a:t>
            </a:r>
            <a:r>
              <a:rPr sz="1600" b="0" dirty="0">
                <a:solidFill>
                  <a:srgbClr val="222222"/>
                </a:solidFill>
                <a:latin typeface="微软雅黑"/>
                <a:ea typeface="微软雅黑"/>
              </a:rPr>
              <a:t>, </a:t>
            </a:r>
            <a:r>
              <a:rPr sz="1600" b="0" dirty="0" err="1">
                <a:solidFill>
                  <a:srgbClr val="222222"/>
                </a:solidFill>
                <a:latin typeface="微软雅黑"/>
                <a:ea typeface="微软雅黑"/>
              </a:rPr>
              <a:t>线性化后得到一组分离超平面约束</a:t>
            </a:r>
            <a:r>
              <a:rPr sz="1600" b="0" dirty="0">
                <a:solidFill>
                  <a:srgbClr val="222222"/>
                </a:solidFill>
                <a:latin typeface="微软雅黑"/>
                <a:ea typeface="微软雅黑"/>
              </a:rPr>
              <a:t>。</a:t>
            </a:r>
          </a:p>
          <a:p>
            <a:pPr algn="l">
              <a:spcBef>
                <a:spcPts val="0"/>
              </a:spcBef>
              <a:spcAft>
                <a:spcPts val="400"/>
              </a:spcAft>
            </a:pPr>
            <a:endParaRPr sz="1600" b="0" dirty="0">
              <a:solidFill>
                <a:srgbClr val="222222"/>
              </a:solidFill>
              <a:latin typeface="微软雅黑"/>
              <a:ea typeface="微软雅黑"/>
            </a:endParaRPr>
          </a:p>
          <a:p>
            <a:pPr algn="l">
              <a:spcBef>
                <a:spcPts val="0"/>
              </a:spcBef>
              <a:spcAft>
                <a:spcPts val="400"/>
              </a:spcAft>
            </a:pPr>
            <a:r>
              <a:rPr sz="1600" b="1" dirty="0" err="1">
                <a:solidFill>
                  <a:srgbClr val="222222"/>
                </a:solidFill>
                <a:latin typeface="微软雅黑"/>
                <a:ea typeface="微软雅黑"/>
              </a:rPr>
              <a:t>二次规划投影与兜底</a:t>
            </a:r>
            <a:endParaRPr sz="1600" b="1" dirty="0">
              <a:solidFill>
                <a:srgbClr val="222222"/>
              </a:solidFill>
              <a:latin typeface="微软雅黑"/>
              <a:ea typeface="微软雅黑"/>
            </a:endParaRPr>
          </a:p>
          <a:p>
            <a:pPr algn="l">
              <a:spcBef>
                <a:spcPts val="0"/>
              </a:spcBef>
              <a:spcAft>
                <a:spcPts val="400"/>
              </a:spcAft>
            </a:pPr>
            <a:r>
              <a:rPr sz="1600" b="0" dirty="0" err="1">
                <a:solidFill>
                  <a:srgbClr val="222222"/>
                </a:solidFill>
                <a:latin typeface="微软雅黑"/>
                <a:ea typeface="微软雅黑"/>
              </a:rPr>
              <a:t>用二次规划把策略输出的期望控制以最小改动投影进既合规又无碰撞的可行集</a:t>
            </a:r>
            <a:r>
              <a:rPr sz="1600" b="0" dirty="0">
                <a:solidFill>
                  <a:srgbClr val="222222"/>
                </a:solidFill>
                <a:latin typeface="微软雅黑"/>
                <a:ea typeface="微软雅黑"/>
              </a:rPr>
              <a:t>; </a:t>
            </a:r>
            <a:r>
              <a:rPr sz="1600" b="0" dirty="0" err="1">
                <a:solidFill>
                  <a:srgbClr val="222222"/>
                </a:solidFill>
                <a:latin typeface="微软雅黑"/>
                <a:ea typeface="微软雅黑"/>
              </a:rPr>
              <a:t>可行集为空或出现紧急态势时</a:t>
            </a:r>
            <a:r>
              <a:rPr sz="1600" b="0" dirty="0">
                <a:solidFill>
                  <a:srgbClr val="222222"/>
                </a:solidFill>
                <a:latin typeface="微软雅黑"/>
                <a:ea typeface="微软雅黑"/>
              </a:rPr>
              <a:t>, </a:t>
            </a:r>
            <a:r>
              <a:rPr sz="1600" b="0" dirty="0" err="1">
                <a:solidFill>
                  <a:srgbClr val="222222"/>
                </a:solidFill>
                <a:latin typeface="微软雅黑"/>
                <a:ea typeface="微软雅黑"/>
              </a:rPr>
              <a:t>放松合规以保证无碰撞</a:t>
            </a:r>
            <a:r>
              <a:rPr sz="1600" b="0" dirty="0">
                <a:solidFill>
                  <a:srgbClr val="222222"/>
                </a:solidFill>
                <a:latin typeface="微软雅黑"/>
                <a:ea typeface="微软雅黑"/>
              </a:rPr>
              <a:t>, </a:t>
            </a:r>
            <a:r>
              <a:rPr sz="1600" b="0" dirty="0" err="1">
                <a:solidFill>
                  <a:srgbClr val="222222"/>
                </a:solidFill>
                <a:latin typeface="微软雅黑"/>
                <a:ea typeface="微软雅黑"/>
              </a:rPr>
              <a:t>或切换到紧急控制器</a:t>
            </a:r>
            <a:r>
              <a:rPr sz="1600" b="0" dirty="0">
                <a:solidFill>
                  <a:srgbClr val="222222"/>
                </a:solidFill>
                <a:latin typeface="微软雅黑"/>
                <a:ea typeface="微软雅黑"/>
              </a:rPr>
              <a:t>。</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502920" y="256032"/>
            <a:ext cx="11186160" cy="822960"/>
          </a:xfrm>
          <a:prstGeom prst="rect">
            <a:avLst/>
          </a:prstGeom>
          <a:noFill/>
        </p:spPr>
        <p:txBody>
          <a:bodyPr wrap="square" lIns="25400" tIns="25400" rIns="25400" bIns="25400" anchor="t">
            <a:spAutoFit/>
          </a:bodyPr>
          <a:lstStyle/>
          <a:p>
            <a:pPr algn="l">
              <a:spcBef>
                <a:spcPts val="0"/>
              </a:spcBef>
              <a:spcAft>
                <a:spcPts val="600"/>
              </a:spcAft>
            </a:pPr>
            <a:r>
              <a:rPr sz="2600" b="1">
                <a:solidFill>
                  <a:srgbClr val="000000"/>
                </a:solidFill>
                <a:latin typeface="微软雅黑"/>
                <a:ea typeface="微软雅黑"/>
              </a:rPr>
              <a:t>七、方法 (二): 我们在调整的方法</a:t>
            </a:r>
          </a:p>
        </p:txBody>
      </p:sp>
      <p:sp>
        <p:nvSpPr>
          <p:cNvPr id="4" name="TextBox 3"/>
          <p:cNvSpPr txBox="1"/>
          <p:nvPr/>
        </p:nvSpPr>
        <p:spPr>
          <a:xfrm>
            <a:off x="502920" y="1051560"/>
            <a:ext cx="11186160" cy="2998257"/>
          </a:xfrm>
          <a:prstGeom prst="rect">
            <a:avLst/>
          </a:prstGeom>
          <a:noFill/>
        </p:spPr>
        <p:txBody>
          <a:bodyPr wrap="square" lIns="25400" tIns="25400" rIns="25400" bIns="25400" anchor="t">
            <a:spAutoFit/>
          </a:bodyPr>
          <a:lstStyle/>
          <a:p>
            <a:pPr algn="l">
              <a:spcBef>
                <a:spcPts val="0"/>
              </a:spcBef>
              <a:spcAft>
                <a:spcPts val="400"/>
              </a:spcAft>
            </a:pPr>
            <a:r>
              <a:rPr sz="1600" b="0" dirty="0" err="1">
                <a:solidFill>
                  <a:srgbClr val="222222"/>
                </a:solidFill>
                <a:latin typeface="微软雅黑"/>
                <a:ea typeface="微软雅黑"/>
              </a:rPr>
              <a:t>目标是在第一类固定基础之上叠加塑形</a:t>
            </a:r>
            <a:r>
              <a:rPr sz="1600" b="0" dirty="0">
                <a:solidFill>
                  <a:srgbClr val="222222"/>
                </a:solidFill>
                <a:latin typeface="微软雅黑"/>
                <a:ea typeface="微软雅黑"/>
              </a:rPr>
              <a:t>, </a:t>
            </a:r>
            <a:r>
              <a:rPr sz="1600" b="0" dirty="0" err="1">
                <a:solidFill>
                  <a:srgbClr val="222222"/>
                </a:solidFill>
                <a:latin typeface="微软雅黑"/>
                <a:ea typeface="微软雅黑"/>
              </a:rPr>
              <a:t>让连续策略学得更好</a:t>
            </a:r>
            <a:r>
              <a:rPr sz="1600" b="0" dirty="0">
                <a:solidFill>
                  <a:srgbClr val="222222"/>
                </a:solidFill>
                <a:latin typeface="微软雅黑"/>
                <a:ea typeface="微软雅黑"/>
              </a:rPr>
              <a:t>, </a:t>
            </a:r>
            <a:r>
              <a:rPr sz="1600" b="0" dirty="0" err="1">
                <a:solidFill>
                  <a:srgbClr val="222222"/>
                </a:solidFill>
                <a:latin typeface="微软雅黑"/>
                <a:ea typeface="微软雅黑"/>
              </a:rPr>
              <a:t>环境</a:t>
            </a:r>
            <a:r>
              <a:rPr sz="1600" b="0" dirty="0">
                <a:solidFill>
                  <a:srgbClr val="222222"/>
                </a:solidFill>
                <a:latin typeface="微软雅黑"/>
                <a:ea typeface="微软雅黑"/>
              </a:rPr>
              <a:t>, </a:t>
            </a:r>
            <a:r>
              <a:rPr sz="1600" b="0" dirty="0" err="1">
                <a:solidFill>
                  <a:srgbClr val="222222"/>
                </a:solidFill>
                <a:latin typeface="微软雅黑"/>
                <a:ea typeface="微软雅黑"/>
              </a:rPr>
              <a:t>状态机与安全盾都不改动</a:t>
            </a:r>
            <a:r>
              <a:rPr sz="1600" b="0" dirty="0">
                <a:solidFill>
                  <a:srgbClr val="222222"/>
                </a:solidFill>
                <a:latin typeface="微软雅黑"/>
                <a:ea typeface="微软雅黑"/>
              </a:rPr>
              <a:t>。</a:t>
            </a:r>
          </a:p>
          <a:p>
            <a:pPr algn="l">
              <a:spcBef>
                <a:spcPts val="0"/>
              </a:spcBef>
              <a:spcAft>
                <a:spcPts val="400"/>
              </a:spcAft>
            </a:pPr>
            <a:endParaRPr sz="1350" b="0" dirty="0">
              <a:solidFill>
                <a:srgbClr val="222222"/>
              </a:solidFill>
              <a:latin typeface="微软雅黑"/>
              <a:ea typeface="微软雅黑"/>
            </a:endParaRPr>
          </a:p>
          <a:p>
            <a:pPr algn="l">
              <a:spcBef>
                <a:spcPts val="0"/>
              </a:spcBef>
              <a:spcAft>
                <a:spcPts val="400"/>
              </a:spcAft>
            </a:pPr>
            <a:r>
              <a:rPr sz="1600" b="1" dirty="0" err="1">
                <a:solidFill>
                  <a:srgbClr val="222222"/>
                </a:solidFill>
                <a:latin typeface="微软雅黑"/>
                <a:ea typeface="微软雅黑"/>
              </a:rPr>
              <a:t>进门势塑形</a:t>
            </a:r>
            <a:endParaRPr sz="1600" b="1" dirty="0">
              <a:solidFill>
                <a:srgbClr val="222222"/>
              </a:solidFill>
              <a:latin typeface="微软雅黑"/>
              <a:ea typeface="微软雅黑"/>
            </a:endParaRPr>
          </a:p>
          <a:p>
            <a:pPr algn="l">
              <a:spcBef>
                <a:spcPts val="0"/>
              </a:spcBef>
              <a:spcAft>
                <a:spcPts val="400"/>
              </a:spcAft>
            </a:pPr>
            <a:r>
              <a:rPr sz="1600" b="0" dirty="0" err="1">
                <a:solidFill>
                  <a:srgbClr val="222222"/>
                </a:solidFill>
                <a:latin typeface="微软雅黑"/>
                <a:ea typeface="微软雅黑"/>
              </a:rPr>
              <a:t>给近目标区一个稠密梯度帮助学习进入</a:t>
            </a:r>
            <a:r>
              <a:rPr sz="1600" b="0" dirty="0">
                <a:solidFill>
                  <a:srgbClr val="222222"/>
                </a:solidFill>
                <a:latin typeface="微软雅黑"/>
                <a:ea typeface="微软雅黑"/>
              </a:rPr>
              <a:t>, </a:t>
            </a:r>
            <a:r>
              <a:rPr sz="1600" b="0" dirty="0" err="1">
                <a:solidFill>
                  <a:srgbClr val="222222"/>
                </a:solidFill>
                <a:latin typeface="微软雅黑"/>
                <a:ea typeface="微软雅黑"/>
              </a:rPr>
              <a:t>把种子间方差砍半</a:t>
            </a:r>
            <a:r>
              <a:rPr sz="1600" b="0" dirty="0">
                <a:solidFill>
                  <a:srgbClr val="222222"/>
                </a:solidFill>
                <a:latin typeface="微软雅黑"/>
                <a:ea typeface="微软雅黑"/>
              </a:rPr>
              <a:t>, </a:t>
            </a:r>
            <a:r>
              <a:rPr sz="1600" b="0" dirty="0" err="1">
                <a:solidFill>
                  <a:srgbClr val="222222"/>
                </a:solidFill>
                <a:latin typeface="微软雅黑"/>
                <a:ea typeface="微软雅黑"/>
              </a:rPr>
              <a:t>属于策略不变的势函数塑形</a:t>
            </a:r>
            <a:r>
              <a:rPr sz="1600" b="0" dirty="0">
                <a:solidFill>
                  <a:srgbClr val="222222"/>
                </a:solidFill>
                <a:latin typeface="微软雅黑"/>
                <a:ea typeface="微软雅黑"/>
              </a:rPr>
              <a:t>。</a:t>
            </a:r>
            <a:endParaRPr lang="en-US" sz="1600" b="0" dirty="0">
              <a:solidFill>
                <a:srgbClr val="222222"/>
              </a:solidFill>
              <a:latin typeface="微软雅黑"/>
              <a:ea typeface="微软雅黑"/>
            </a:endParaRPr>
          </a:p>
          <a:p>
            <a:pPr algn="l">
              <a:spcBef>
                <a:spcPts val="0"/>
              </a:spcBef>
              <a:spcAft>
                <a:spcPts val="400"/>
              </a:spcAft>
            </a:pPr>
            <a:endParaRPr sz="1600" b="0" dirty="0">
              <a:solidFill>
                <a:srgbClr val="222222"/>
              </a:solidFill>
              <a:latin typeface="微软雅黑"/>
              <a:ea typeface="微软雅黑"/>
            </a:endParaRPr>
          </a:p>
          <a:p>
            <a:pPr algn="l">
              <a:spcBef>
                <a:spcPts val="0"/>
              </a:spcBef>
              <a:spcAft>
                <a:spcPts val="400"/>
              </a:spcAft>
            </a:pPr>
            <a:r>
              <a:rPr sz="1600" b="1" dirty="0" err="1">
                <a:solidFill>
                  <a:srgbClr val="222222"/>
                </a:solidFill>
                <a:latin typeface="微软雅黑"/>
                <a:ea typeface="微软雅黑"/>
              </a:rPr>
              <a:t>每步生存成本</a:t>
            </a:r>
            <a:r>
              <a:rPr sz="1600" b="1" dirty="0">
                <a:solidFill>
                  <a:srgbClr val="222222"/>
                </a:solidFill>
                <a:latin typeface="微软雅黑"/>
                <a:ea typeface="微软雅黑"/>
              </a:rPr>
              <a:t> </a:t>
            </a:r>
            <a:r>
              <a:rPr sz="1600" b="1" dirty="0" err="1">
                <a:solidFill>
                  <a:srgbClr val="222222"/>
                </a:solidFill>
                <a:latin typeface="微软雅黑"/>
                <a:ea typeface="微软雅黑"/>
              </a:rPr>
              <a:t>c_step</a:t>
            </a:r>
            <a:r>
              <a:rPr sz="1600" b="1" dirty="0">
                <a:solidFill>
                  <a:srgbClr val="222222"/>
                </a:solidFill>
                <a:latin typeface="微软雅黑"/>
                <a:ea typeface="微软雅黑"/>
              </a:rPr>
              <a:t> (</a:t>
            </a:r>
            <a:r>
              <a:rPr lang="zh-CN" altLang="en-US" sz="1600" b="1" dirty="0">
                <a:solidFill>
                  <a:srgbClr val="222222"/>
                </a:solidFill>
                <a:latin typeface="微软雅黑"/>
                <a:ea typeface="微软雅黑"/>
              </a:rPr>
              <a:t>当前在跑实验</a:t>
            </a:r>
            <a:r>
              <a:rPr sz="1600" b="1" dirty="0">
                <a:solidFill>
                  <a:srgbClr val="222222"/>
                </a:solidFill>
                <a:latin typeface="微软雅黑"/>
                <a:ea typeface="微软雅黑"/>
              </a:rPr>
              <a:t>)</a:t>
            </a:r>
          </a:p>
          <a:p>
            <a:pPr algn="l">
              <a:spcBef>
                <a:spcPts val="0"/>
              </a:spcBef>
              <a:spcAft>
                <a:spcPts val="400"/>
              </a:spcAft>
            </a:pPr>
            <a:r>
              <a:rPr sz="1600" b="0" dirty="0" err="1">
                <a:solidFill>
                  <a:srgbClr val="222222"/>
                </a:solidFill>
                <a:latin typeface="微软雅黑"/>
                <a:ea typeface="微软雅黑"/>
              </a:rPr>
              <a:t>每步给一点微小成本</a:t>
            </a:r>
            <a:r>
              <a:rPr sz="1600" b="0" dirty="0">
                <a:solidFill>
                  <a:srgbClr val="222222"/>
                </a:solidFill>
                <a:latin typeface="微软雅黑"/>
                <a:ea typeface="微软雅黑"/>
              </a:rPr>
              <a:t>, </a:t>
            </a:r>
            <a:r>
              <a:rPr sz="1600" b="0" dirty="0" err="1">
                <a:solidFill>
                  <a:srgbClr val="222222"/>
                </a:solidFill>
                <a:latin typeface="微软雅黑"/>
                <a:ea typeface="微软雅黑"/>
              </a:rPr>
              <a:t>让在目标附近往复而不进入变得不划算</a:t>
            </a:r>
            <a:r>
              <a:rPr sz="1600" b="0" dirty="0">
                <a:solidFill>
                  <a:srgbClr val="222222"/>
                </a:solidFill>
                <a:latin typeface="微软雅黑"/>
                <a:ea typeface="微软雅黑"/>
              </a:rPr>
              <a:t>, </a:t>
            </a:r>
            <a:r>
              <a:rPr sz="1600" b="0" dirty="0" err="1">
                <a:solidFill>
                  <a:srgbClr val="222222"/>
                </a:solidFill>
                <a:latin typeface="微软雅黑"/>
                <a:ea typeface="微软雅黑"/>
              </a:rPr>
              <a:t>从根本上改变奖励地形</a:t>
            </a:r>
            <a:r>
              <a:rPr sz="1600" b="0" dirty="0">
                <a:solidFill>
                  <a:srgbClr val="222222"/>
                </a:solidFill>
                <a:latin typeface="微软雅黑"/>
                <a:ea typeface="微软雅黑"/>
              </a:rPr>
              <a:t>。</a:t>
            </a:r>
          </a:p>
          <a:p>
            <a:pPr algn="l">
              <a:spcBef>
                <a:spcPts val="0"/>
              </a:spcBef>
              <a:spcAft>
                <a:spcPts val="400"/>
              </a:spcAft>
            </a:pPr>
            <a:endParaRPr lang="en-US" sz="1600" b="1" dirty="0">
              <a:solidFill>
                <a:srgbClr val="222222"/>
              </a:solidFill>
              <a:latin typeface="微软雅黑"/>
              <a:ea typeface="微软雅黑"/>
            </a:endParaRPr>
          </a:p>
          <a:p>
            <a:pPr algn="l">
              <a:spcBef>
                <a:spcPts val="0"/>
              </a:spcBef>
              <a:spcAft>
                <a:spcPts val="400"/>
              </a:spcAft>
            </a:pPr>
            <a:r>
              <a:rPr sz="1600" b="1" dirty="0" err="1">
                <a:solidFill>
                  <a:srgbClr val="222222"/>
                </a:solidFill>
                <a:latin typeface="微软雅黑"/>
                <a:ea typeface="微软雅黑"/>
              </a:rPr>
              <a:t>动作平滑</a:t>
            </a:r>
            <a:r>
              <a:rPr lang="zh-CN" altLang="en-US" sz="1600" b="1" dirty="0">
                <a:solidFill>
                  <a:srgbClr val="222222"/>
                </a:solidFill>
                <a:latin typeface="微软雅黑"/>
                <a:ea typeface="微软雅黑"/>
              </a:rPr>
              <a:t>（计划做）</a:t>
            </a:r>
            <a:endParaRPr sz="1600" b="1" dirty="0">
              <a:solidFill>
                <a:srgbClr val="222222"/>
              </a:solidFill>
              <a:latin typeface="微软雅黑"/>
              <a:ea typeface="微软雅黑"/>
            </a:endParaRPr>
          </a:p>
          <a:p>
            <a:pPr algn="l">
              <a:spcBef>
                <a:spcPts val="0"/>
              </a:spcBef>
              <a:spcAft>
                <a:spcPts val="400"/>
              </a:spcAft>
            </a:pPr>
            <a:r>
              <a:rPr sz="1600" b="0" dirty="0" err="1">
                <a:solidFill>
                  <a:srgbClr val="222222"/>
                </a:solidFill>
                <a:latin typeface="微软雅黑"/>
                <a:ea typeface="微软雅黑"/>
              </a:rPr>
              <a:t>惩罚相邻两步控制的变化</a:t>
            </a:r>
            <a:r>
              <a:rPr sz="1600" b="0" dirty="0">
                <a:solidFill>
                  <a:srgbClr val="222222"/>
                </a:solidFill>
                <a:latin typeface="微软雅黑"/>
                <a:ea typeface="微软雅黑"/>
              </a:rPr>
              <a:t>, </a:t>
            </a:r>
            <a:r>
              <a:rPr sz="1600" b="0" dirty="0" err="1">
                <a:solidFill>
                  <a:srgbClr val="222222"/>
                </a:solidFill>
                <a:latin typeface="微软雅黑"/>
                <a:ea typeface="微软雅黑"/>
              </a:rPr>
              <a:t>降低抖动</a:t>
            </a:r>
            <a:r>
              <a:rPr sz="1600" b="0" dirty="0">
                <a:solidFill>
                  <a:srgbClr val="222222"/>
                </a:solidFill>
                <a:latin typeface="微软雅黑"/>
                <a:ea typeface="微软雅黑"/>
              </a:rPr>
              <a:t>。</a:t>
            </a:r>
          </a:p>
        </p:txBody>
      </p:sp>
      <p:pic>
        <p:nvPicPr>
          <p:cNvPr id="5" name="Picture 4" descr="fig_math_shaping.png"/>
          <p:cNvPicPr>
            <a:picLocks noChangeAspect="1"/>
          </p:cNvPicPr>
          <p:nvPr/>
        </p:nvPicPr>
        <p:blipFill>
          <a:blip r:embed="rId2"/>
          <a:stretch>
            <a:fillRect/>
          </a:stretch>
        </p:blipFill>
        <p:spPr>
          <a:xfrm>
            <a:off x="6943412" y="3136020"/>
            <a:ext cx="5164852" cy="3586528"/>
          </a:xfrm>
          <a:prstGeom prst="rect">
            <a:avLst/>
          </a:prstGeom>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502920" y="256032"/>
            <a:ext cx="11186160" cy="822960"/>
          </a:xfrm>
          <a:prstGeom prst="rect">
            <a:avLst/>
          </a:prstGeom>
          <a:noFill/>
        </p:spPr>
        <p:txBody>
          <a:bodyPr wrap="square" lIns="25400" tIns="25400" rIns="25400" bIns="25400" anchor="t">
            <a:spAutoFit/>
          </a:bodyPr>
          <a:lstStyle/>
          <a:p>
            <a:pPr algn="l">
              <a:spcBef>
                <a:spcPts val="0"/>
              </a:spcBef>
              <a:spcAft>
                <a:spcPts val="600"/>
              </a:spcAft>
            </a:pPr>
            <a:r>
              <a:rPr sz="2600" b="1">
                <a:solidFill>
                  <a:srgbClr val="000000"/>
                </a:solidFill>
                <a:latin typeface="微软雅黑"/>
                <a:ea typeface="微软雅黑"/>
              </a:rPr>
              <a:t>七、可证明的部分与诚实边界</a:t>
            </a:r>
          </a:p>
        </p:txBody>
      </p:sp>
      <p:sp>
        <p:nvSpPr>
          <p:cNvPr id="4" name="TextBox 3"/>
          <p:cNvSpPr txBox="1"/>
          <p:nvPr/>
        </p:nvSpPr>
        <p:spPr>
          <a:xfrm>
            <a:off x="502920" y="1188720"/>
            <a:ext cx="11186160" cy="4034438"/>
          </a:xfrm>
          <a:prstGeom prst="rect">
            <a:avLst/>
          </a:prstGeom>
          <a:noFill/>
        </p:spPr>
        <p:txBody>
          <a:bodyPr wrap="square" lIns="25400" tIns="25400" rIns="25400" bIns="25400" anchor="t">
            <a:spAutoFit/>
          </a:bodyPr>
          <a:lstStyle/>
          <a:p>
            <a:pPr algn="l">
              <a:spcBef>
                <a:spcPts val="0"/>
              </a:spcBef>
              <a:spcAft>
                <a:spcPts val="400"/>
              </a:spcAft>
            </a:pPr>
            <a:r>
              <a:rPr sz="1600" b="1" dirty="0" err="1">
                <a:solidFill>
                  <a:srgbClr val="222222"/>
                </a:solidFill>
                <a:latin typeface="微软雅黑"/>
                <a:ea typeface="微软雅黑"/>
              </a:rPr>
              <a:t>命题</a:t>
            </a:r>
            <a:r>
              <a:rPr lang="zh-CN" altLang="en-US" sz="1600" b="1" dirty="0">
                <a:solidFill>
                  <a:srgbClr val="222222"/>
                </a:solidFill>
                <a:latin typeface="微软雅黑"/>
                <a:ea typeface="微软雅黑"/>
              </a:rPr>
              <a:t>一：</a:t>
            </a:r>
            <a:r>
              <a:rPr sz="1600" b="1" dirty="0" err="1">
                <a:solidFill>
                  <a:srgbClr val="222222"/>
                </a:solidFill>
                <a:latin typeface="微软雅黑"/>
                <a:ea typeface="微软雅黑"/>
              </a:rPr>
              <a:t>塑形不改最优</a:t>
            </a:r>
            <a:endParaRPr sz="1600" b="1" dirty="0">
              <a:solidFill>
                <a:srgbClr val="222222"/>
              </a:solidFill>
              <a:latin typeface="微软雅黑"/>
              <a:ea typeface="微软雅黑"/>
            </a:endParaRPr>
          </a:p>
          <a:p>
            <a:pPr algn="l">
              <a:spcBef>
                <a:spcPts val="0"/>
              </a:spcBef>
              <a:spcAft>
                <a:spcPts val="400"/>
              </a:spcAft>
            </a:pPr>
            <a:r>
              <a:rPr sz="1600" b="0" dirty="0" err="1">
                <a:solidFill>
                  <a:srgbClr val="222222"/>
                </a:solidFill>
                <a:latin typeface="微软雅黑"/>
                <a:ea typeface="微软雅黑"/>
              </a:rPr>
              <a:t>进门势</a:t>
            </a:r>
            <a:r>
              <a:rPr lang="zh-CN" altLang="en-US" sz="1600" dirty="0">
                <a:solidFill>
                  <a:srgbClr val="222222"/>
                </a:solidFill>
                <a:latin typeface="微软雅黑"/>
                <a:ea typeface="微软雅黑"/>
              </a:rPr>
              <a:t>模块设计</a:t>
            </a:r>
            <a:r>
              <a:rPr sz="1600" b="0" dirty="0" err="1">
                <a:solidFill>
                  <a:srgbClr val="222222"/>
                </a:solidFill>
                <a:latin typeface="微软雅黑"/>
                <a:ea typeface="微软雅黑"/>
              </a:rPr>
              <a:t>是纯状态的势函数塑形</a:t>
            </a:r>
            <a:r>
              <a:rPr sz="1600" b="0" dirty="0">
                <a:solidFill>
                  <a:srgbClr val="222222"/>
                </a:solidFill>
                <a:latin typeface="微软雅黑"/>
                <a:ea typeface="微软雅黑"/>
              </a:rPr>
              <a:t>, </a:t>
            </a:r>
            <a:r>
              <a:rPr sz="1600" b="0" dirty="0" err="1">
                <a:solidFill>
                  <a:srgbClr val="222222"/>
                </a:solidFill>
                <a:latin typeface="微软雅黑"/>
                <a:ea typeface="微软雅黑"/>
              </a:rPr>
              <a:t>按</a:t>
            </a:r>
            <a:r>
              <a:rPr sz="1600" b="0" dirty="0">
                <a:solidFill>
                  <a:srgbClr val="222222"/>
                </a:solidFill>
                <a:latin typeface="微软雅黑"/>
                <a:ea typeface="微软雅黑"/>
              </a:rPr>
              <a:t> Ng</a:t>
            </a:r>
            <a:r>
              <a:rPr lang="en-US" altLang="zh-CN" sz="1600" b="0" dirty="0">
                <a:solidFill>
                  <a:srgbClr val="222222"/>
                </a:solidFill>
                <a:latin typeface="微软雅黑"/>
                <a:ea typeface="微软雅黑"/>
              </a:rPr>
              <a:t>-</a:t>
            </a:r>
            <a:r>
              <a:rPr sz="1600" b="0" dirty="0">
                <a:solidFill>
                  <a:srgbClr val="222222"/>
                </a:solidFill>
                <a:latin typeface="微软雅黑"/>
                <a:ea typeface="微软雅黑"/>
              </a:rPr>
              <a:t>1999的策略不变性定理不改变最优策略</a:t>
            </a:r>
            <a:r>
              <a:rPr lang="zh-CN" altLang="en-US" sz="1600" b="0" dirty="0">
                <a:solidFill>
                  <a:srgbClr val="222222"/>
                </a:solidFill>
                <a:latin typeface="微软雅黑"/>
                <a:ea typeface="微软雅黑"/>
              </a:rPr>
              <a:t>，</a:t>
            </a:r>
            <a:r>
              <a:rPr sz="1600" b="0" dirty="0" err="1">
                <a:solidFill>
                  <a:srgbClr val="222222"/>
                </a:solidFill>
                <a:latin typeface="微软雅黑"/>
                <a:ea typeface="微软雅黑"/>
              </a:rPr>
              <a:t>因此不破坏安全盾的任何约束与合规保证</a:t>
            </a:r>
            <a:r>
              <a:rPr lang="zh-CN" altLang="en-US" sz="1600" dirty="0">
                <a:solidFill>
                  <a:srgbClr val="222222"/>
                </a:solidFill>
                <a:latin typeface="微软雅黑"/>
                <a:ea typeface="微软雅黑"/>
              </a:rPr>
              <a:t>，</a:t>
            </a:r>
            <a:r>
              <a:rPr sz="1600" b="0" dirty="0" err="1">
                <a:solidFill>
                  <a:srgbClr val="222222"/>
                </a:solidFill>
                <a:latin typeface="微软雅黑"/>
                <a:ea typeface="微软雅黑"/>
              </a:rPr>
              <a:t>这正是它区别于一般软奖励的关键</a:t>
            </a:r>
            <a:r>
              <a:rPr sz="1600" b="0" dirty="0">
                <a:solidFill>
                  <a:srgbClr val="222222"/>
                </a:solidFill>
                <a:latin typeface="微软雅黑"/>
                <a:ea typeface="微软雅黑"/>
              </a:rPr>
              <a:t>。</a:t>
            </a:r>
          </a:p>
          <a:p>
            <a:pPr algn="l">
              <a:spcBef>
                <a:spcPts val="0"/>
              </a:spcBef>
              <a:spcAft>
                <a:spcPts val="400"/>
              </a:spcAft>
            </a:pPr>
            <a:endParaRPr sz="1600" b="0" dirty="0">
              <a:solidFill>
                <a:srgbClr val="222222"/>
              </a:solidFill>
              <a:latin typeface="微软雅黑"/>
              <a:ea typeface="微软雅黑"/>
            </a:endParaRPr>
          </a:p>
          <a:p>
            <a:pPr algn="l">
              <a:spcBef>
                <a:spcPts val="0"/>
              </a:spcBef>
              <a:spcAft>
                <a:spcPts val="400"/>
              </a:spcAft>
            </a:pPr>
            <a:r>
              <a:rPr sz="1600" b="1" dirty="0" err="1">
                <a:solidFill>
                  <a:srgbClr val="222222"/>
                </a:solidFill>
                <a:latin typeface="微软雅黑"/>
                <a:ea typeface="微软雅黑"/>
              </a:rPr>
              <a:t>命题二</a:t>
            </a:r>
            <a:r>
              <a:rPr lang="zh-CN" altLang="en-US" sz="1600" b="1" dirty="0">
                <a:solidFill>
                  <a:srgbClr val="222222"/>
                </a:solidFill>
                <a:latin typeface="微软雅黑"/>
                <a:ea typeface="微软雅黑"/>
              </a:rPr>
              <a:t>：</a:t>
            </a:r>
            <a:r>
              <a:rPr sz="1600" b="1" dirty="0" err="1">
                <a:solidFill>
                  <a:srgbClr val="222222"/>
                </a:solidFill>
                <a:latin typeface="微软雅黑"/>
                <a:ea typeface="微软雅黑"/>
              </a:rPr>
              <a:t>合规方向的构造性保证</a:t>
            </a:r>
            <a:endParaRPr sz="1600" b="1" dirty="0">
              <a:solidFill>
                <a:srgbClr val="222222"/>
              </a:solidFill>
              <a:latin typeface="微软雅黑"/>
              <a:ea typeface="微软雅黑"/>
            </a:endParaRPr>
          </a:p>
          <a:p>
            <a:pPr algn="l">
              <a:spcBef>
                <a:spcPts val="0"/>
              </a:spcBef>
              <a:spcAft>
                <a:spcPts val="400"/>
              </a:spcAft>
            </a:pPr>
            <a:r>
              <a:rPr sz="1600" b="0" dirty="0" err="1">
                <a:solidFill>
                  <a:srgbClr val="222222"/>
                </a:solidFill>
                <a:latin typeface="微软雅黑"/>
                <a:ea typeface="微软雅黑"/>
              </a:rPr>
              <a:t>只要安全集非空且投影有解</a:t>
            </a:r>
            <a:r>
              <a:rPr lang="zh-CN" altLang="en-US" sz="1600" dirty="0">
                <a:solidFill>
                  <a:srgbClr val="222222"/>
                </a:solidFill>
                <a:latin typeface="微软雅黑"/>
                <a:ea typeface="微软雅黑"/>
              </a:rPr>
              <a:t>，</a:t>
            </a:r>
            <a:r>
              <a:rPr sz="1600" b="0" dirty="0" err="1">
                <a:solidFill>
                  <a:srgbClr val="222222"/>
                </a:solidFill>
                <a:latin typeface="微软雅黑"/>
                <a:ea typeface="微软雅黑"/>
              </a:rPr>
              <a:t>安全动作就一定落在合规方向集里</a:t>
            </a:r>
            <a:r>
              <a:rPr lang="zh-CN" altLang="en-US" sz="1600" dirty="0">
                <a:solidFill>
                  <a:srgbClr val="222222"/>
                </a:solidFill>
                <a:latin typeface="微软雅黑"/>
                <a:ea typeface="微软雅黑"/>
              </a:rPr>
              <a:t>，</a:t>
            </a:r>
            <a:r>
              <a:rPr sz="1600" b="0" dirty="0" err="1">
                <a:solidFill>
                  <a:srgbClr val="222222"/>
                </a:solidFill>
                <a:latin typeface="微软雅黑"/>
                <a:ea typeface="微软雅黑"/>
              </a:rPr>
              <a:t>让路时向右转</a:t>
            </a:r>
            <a:r>
              <a:rPr lang="zh-CN" altLang="en-US" sz="1600" dirty="0">
                <a:solidFill>
                  <a:srgbClr val="222222"/>
                </a:solidFill>
                <a:latin typeface="微软雅黑"/>
                <a:ea typeface="微软雅黑"/>
              </a:rPr>
              <a:t>，</a:t>
            </a:r>
            <a:r>
              <a:rPr sz="1600" b="0" dirty="0" err="1">
                <a:solidFill>
                  <a:srgbClr val="222222"/>
                </a:solidFill>
                <a:latin typeface="微软雅黑"/>
                <a:ea typeface="微软雅黑"/>
              </a:rPr>
              <a:t>直航时保向保速。这个保证是构造出来的</a:t>
            </a:r>
            <a:r>
              <a:rPr sz="1600" b="0" dirty="0">
                <a:solidFill>
                  <a:srgbClr val="222222"/>
                </a:solidFill>
                <a:latin typeface="微软雅黑"/>
                <a:ea typeface="微软雅黑"/>
              </a:rPr>
              <a:t>, </a:t>
            </a:r>
            <a:r>
              <a:rPr sz="1600" b="0" dirty="0" err="1">
                <a:solidFill>
                  <a:srgbClr val="222222"/>
                </a:solidFill>
                <a:latin typeface="微软雅黑"/>
                <a:ea typeface="微软雅黑"/>
              </a:rPr>
              <a:t>对所有随机种子都成立</a:t>
            </a:r>
            <a:r>
              <a:rPr sz="1600" b="0" dirty="0">
                <a:solidFill>
                  <a:srgbClr val="222222"/>
                </a:solidFill>
                <a:latin typeface="微软雅黑"/>
                <a:ea typeface="微软雅黑"/>
              </a:rPr>
              <a:t>, </a:t>
            </a:r>
            <a:r>
              <a:rPr sz="1600" b="0" dirty="0" err="1">
                <a:solidFill>
                  <a:srgbClr val="222222"/>
                </a:solidFill>
                <a:latin typeface="微软雅黑"/>
                <a:ea typeface="微软雅黑"/>
              </a:rPr>
              <a:t>与策略学得好不好无关</a:t>
            </a:r>
            <a:r>
              <a:rPr sz="1600" b="0" dirty="0">
                <a:solidFill>
                  <a:srgbClr val="222222"/>
                </a:solidFill>
                <a:latin typeface="微软雅黑"/>
                <a:ea typeface="微软雅黑"/>
              </a:rPr>
              <a:t>。</a:t>
            </a:r>
            <a:endParaRPr lang="en-US" sz="1600" b="0" dirty="0">
              <a:solidFill>
                <a:srgbClr val="222222"/>
              </a:solidFill>
              <a:latin typeface="微软雅黑"/>
              <a:ea typeface="微软雅黑"/>
            </a:endParaRPr>
          </a:p>
          <a:p>
            <a:pPr algn="l">
              <a:spcBef>
                <a:spcPts val="0"/>
              </a:spcBef>
              <a:spcAft>
                <a:spcPts val="400"/>
              </a:spcAft>
            </a:pPr>
            <a:r>
              <a:rPr sz="1600" b="0" dirty="0" err="1">
                <a:solidFill>
                  <a:srgbClr val="222222"/>
                </a:solidFill>
                <a:latin typeface="微软雅黑"/>
                <a:ea typeface="微软雅黑"/>
              </a:rPr>
              <a:t>例外是紧急兜底那一步</a:t>
            </a:r>
            <a:r>
              <a:rPr sz="1600" b="0" dirty="0">
                <a:solidFill>
                  <a:srgbClr val="222222"/>
                </a:solidFill>
                <a:latin typeface="微软雅黑"/>
                <a:ea typeface="微软雅黑"/>
              </a:rPr>
              <a:t>, </a:t>
            </a:r>
            <a:r>
              <a:rPr sz="1600" b="0" dirty="0" err="1">
                <a:solidFill>
                  <a:srgbClr val="222222"/>
                </a:solidFill>
                <a:latin typeface="微软雅黑"/>
                <a:ea typeface="微软雅黑"/>
              </a:rPr>
              <a:t>方向约束被放松以优先避碰</a:t>
            </a:r>
            <a:r>
              <a:rPr sz="1600" b="0" dirty="0">
                <a:solidFill>
                  <a:srgbClr val="222222"/>
                </a:solidFill>
                <a:latin typeface="微软雅黑"/>
                <a:ea typeface="微软雅黑"/>
              </a:rPr>
              <a:t>, </a:t>
            </a:r>
            <a:r>
              <a:rPr sz="1600" b="0" dirty="0" err="1">
                <a:solidFill>
                  <a:srgbClr val="222222"/>
                </a:solidFill>
                <a:latin typeface="微软雅黑"/>
                <a:ea typeface="微软雅黑"/>
              </a:rPr>
              <a:t>这一步的比例</a:t>
            </a:r>
            <a:r>
              <a:rPr lang="zh-CN" altLang="en-US" sz="1600" b="0" dirty="0">
                <a:solidFill>
                  <a:srgbClr val="222222"/>
                </a:solidFill>
                <a:latin typeface="微软雅黑"/>
                <a:ea typeface="微软雅黑"/>
              </a:rPr>
              <a:t>数据上也会</a:t>
            </a:r>
            <a:r>
              <a:rPr lang="zh-CN" altLang="en-US" sz="1600" dirty="0">
                <a:solidFill>
                  <a:srgbClr val="222222"/>
                </a:solidFill>
                <a:latin typeface="微软雅黑"/>
                <a:ea typeface="微软雅黑"/>
              </a:rPr>
              <a:t>如实</a:t>
            </a:r>
            <a:r>
              <a:rPr sz="1600" b="0" dirty="0" err="1">
                <a:solidFill>
                  <a:srgbClr val="222222"/>
                </a:solidFill>
                <a:latin typeface="微软雅黑"/>
                <a:ea typeface="微软雅黑"/>
              </a:rPr>
              <a:t>报告</a:t>
            </a:r>
            <a:r>
              <a:rPr sz="1600" b="0" dirty="0">
                <a:solidFill>
                  <a:srgbClr val="222222"/>
                </a:solidFill>
                <a:latin typeface="微软雅黑"/>
                <a:ea typeface="微软雅黑"/>
              </a:rPr>
              <a:t>。</a:t>
            </a:r>
          </a:p>
          <a:p>
            <a:pPr algn="l">
              <a:spcBef>
                <a:spcPts val="0"/>
              </a:spcBef>
              <a:spcAft>
                <a:spcPts val="400"/>
              </a:spcAft>
            </a:pPr>
            <a:endParaRPr sz="1600" b="0" dirty="0">
              <a:solidFill>
                <a:srgbClr val="222222"/>
              </a:solidFill>
              <a:latin typeface="微软雅黑"/>
              <a:ea typeface="微软雅黑"/>
            </a:endParaRPr>
          </a:p>
          <a:p>
            <a:pPr algn="l">
              <a:spcBef>
                <a:spcPts val="0"/>
              </a:spcBef>
              <a:spcAft>
                <a:spcPts val="400"/>
              </a:spcAft>
            </a:pPr>
            <a:r>
              <a:rPr lang="en-US" sz="1600" b="1" dirty="0" err="1">
                <a:solidFill>
                  <a:srgbClr val="222222"/>
                </a:solidFill>
                <a:latin typeface="微软雅黑"/>
                <a:ea typeface="微软雅黑"/>
              </a:rPr>
              <a:t>具体说明</a:t>
            </a:r>
            <a:r>
              <a:rPr lang="zh-CN" altLang="en-US" sz="1600" b="1" dirty="0">
                <a:solidFill>
                  <a:srgbClr val="222222"/>
                </a:solidFill>
                <a:latin typeface="微软雅黑"/>
                <a:ea typeface="微软雅黑"/>
              </a:rPr>
              <a:t>：</a:t>
            </a:r>
            <a:endParaRPr lang="en-US" sz="1600" b="1" dirty="0">
              <a:solidFill>
                <a:srgbClr val="222222"/>
              </a:solidFill>
              <a:latin typeface="微软雅黑"/>
              <a:ea typeface="微软雅黑"/>
            </a:endParaRPr>
          </a:p>
          <a:p>
            <a:pPr algn="l">
              <a:spcBef>
                <a:spcPts val="0"/>
              </a:spcBef>
              <a:spcAft>
                <a:spcPts val="400"/>
              </a:spcAft>
            </a:pPr>
            <a:r>
              <a:rPr sz="1600" b="0" dirty="0" err="1">
                <a:solidFill>
                  <a:srgbClr val="222222"/>
                </a:solidFill>
                <a:latin typeface="微软雅黑"/>
                <a:ea typeface="微软雅黑"/>
              </a:rPr>
              <a:t>零船体碰撞目前是经验结果</a:t>
            </a:r>
            <a:r>
              <a:rPr sz="1600" b="0" dirty="0">
                <a:solidFill>
                  <a:srgbClr val="222222"/>
                </a:solidFill>
                <a:latin typeface="微软雅黑"/>
                <a:ea typeface="微软雅黑"/>
              </a:rPr>
              <a:t>, </a:t>
            </a:r>
            <a:r>
              <a:rPr sz="1600" b="0" dirty="0" err="1">
                <a:solidFill>
                  <a:srgbClr val="222222"/>
                </a:solidFill>
                <a:latin typeface="微软雅黑"/>
                <a:ea typeface="微软雅黑"/>
              </a:rPr>
              <a:t>来自单前瞻的一阶近似加保守裕度</a:t>
            </a:r>
            <a:r>
              <a:rPr sz="1600" b="0" dirty="0">
                <a:solidFill>
                  <a:srgbClr val="222222"/>
                </a:solidFill>
                <a:latin typeface="微软雅黑"/>
                <a:ea typeface="微软雅黑"/>
              </a:rPr>
              <a:t>, </a:t>
            </a:r>
            <a:r>
              <a:rPr lang="zh-CN" altLang="en-US" sz="1600" dirty="0">
                <a:solidFill>
                  <a:srgbClr val="222222"/>
                </a:solidFill>
                <a:latin typeface="微软雅黑"/>
                <a:ea typeface="微软雅黑"/>
              </a:rPr>
              <a:t>暂时</a:t>
            </a:r>
            <a:r>
              <a:rPr sz="1600" b="0" dirty="0" err="1">
                <a:solidFill>
                  <a:srgbClr val="222222"/>
                </a:solidFill>
                <a:latin typeface="微软雅黑"/>
                <a:ea typeface="微软雅黑"/>
              </a:rPr>
              <a:t>不声称可证明零碰撞</a:t>
            </a:r>
            <a:r>
              <a:rPr sz="1600" b="0" dirty="0">
                <a:solidFill>
                  <a:srgbClr val="222222"/>
                </a:solidFill>
                <a:latin typeface="微软雅黑"/>
                <a:ea typeface="微软雅黑"/>
              </a:rPr>
              <a:t>。</a:t>
            </a:r>
            <a:endParaRPr lang="en-US" sz="1600" b="0" dirty="0">
              <a:solidFill>
                <a:srgbClr val="222222"/>
              </a:solidFill>
              <a:latin typeface="微软雅黑"/>
              <a:ea typeface="微软雅黑"/>
            </a:endParaRPr>
          </a:p>
          <a:p>
            <a:pPr algn="l">
              <a:spcBef>
                <a:spcPts val="0"/>
              </a:spcBef>
              <a:spcAft>
                <a:spcPts val="400"/>
              </a:spcAft>
            </a:pPr>
            <a:endParaRPr lang="en-US" sz="1350" dirty="0">
              <a:solidFill>
                <a:srgbClr val="222222"/>
              </a:solidFill>
              <a:latin typeface="微软雅黑"/>
              <a:ea typeface="微软雅黑"/>
            </a:endParaRPr>
          </a:p>
          <a:p>
            <a:pPr algn="l">
              <a:spcBef>
                <a:spcPts val="0"/>
              </a:spcBef>
              <a:spcAft>
                <a:spcPts val="400"/>
              </a:spcAft>
            </a:pPr>
            <a:r>
              <a:rPr lang="zh-CN" altLang="en-US" b="1" dirty="0">
                <a:solidFill>
                  <a:srgbClr val="222222"/>
                </a:solidFill>
                <a:latin typeface="微软雅黑"/>
                <a:ea typeface="微软雅黑"/>
              </a:rPr>
              <a:t>未来工作中，会</a:t>
            </a:r>
            <a:r>
              <a:rPr b="1" dirty="0" err="1">
                <a:solidFill>
                  <a:srgbClr val="222222"/>
                </a:solidFill>
                <a:latin typeface="微软雅黑"/>
                <a:ea typeface="微软雅黑"/>
              </a:rPr>
              <a:t>把递归可行性做进硬约束以拿到可证明零碰撞</a:t>
            </a:r>
            <a:r>
              <a:rPr lang="zh-CN" altLang="en-US" b="1" dirty="0">
                <a:solidFill>
                  <a:srgbClr val="222222"/>
                </a:solidFill>
                <a:latin typeface="微软雅黑"/>
                <a:ea typeface="微软雅黑"/>
              </a:rPr>
              <a:t>，</a:t>
            </a:r>
            <a:r>
              <a:rPr b="1" dirty="0" err="1">
                <a:solidFill>
                  <a:srgbClr val="222222"/>
                </a:solidFill>
                <a:latin typeface="微软雅黑"/>
                <a:ea typeface="微软雅黑"/>
              </a:rPr>
              <a:t>它决定英文标题能不能用可证明无碰撞这个说法</a:t>
            </a:r>
            <a:r>
              <a:rPr b="1" dirty="0">
                <a:solidFill>
                  <a:srgbClr val="222222"/>
                </a:solidFill>
                <a:latin typeface="微软雅黑"/>
                <a:ea typeface="微软雅黑"/>
              </a:rPr>
              <a:t>。</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502920" y="256032"/>
            <a:ext cx="11186160" cy="822960"/>
          </a:xfrm>
          <a:prstGeom prst="rect">
            <a:avLst/>
          </a:prstGeom>
          <a:noFill/>
        </p:spPr>
        <p:txBody>
          <a:bodyPr wrap="square" lIns="25400" tIns="25400" rIns="25400" bIns="25400" anchor="t">
            <a:spAutoFit/>
          </a:bodyPr>
          <a:lstStyle/>
          <a:p>
            <a:pPr algn="l">
              <a:spcBef>
                <a:spcPts val="0"/>
              </a:spcBef>
              <a:spcAft>
                <a:spcPts val="600"/>
              </a:spcAft>
            </a:pPr>
            <a:r>
              <a:rPr sz="2600" b="1">
                <a:solidFill>
                  <a:srgbClr val="000000"/>
                </a:solidFill>
                <a:latin typeface="微软雅黑"/>
                <a:ea typeface="微软雅黑"/>
              </a:rPr>
              <a:t>八、实验结果: 主对比 (同一冻结数据集)</a:t>
            </a:r>
          </a:p>
        </p:txBody>
      </p:sp>
      <p:pic>
        <p:nvPicPr>
          <p:cNvPr id="4" name="Picture 3" descr="table_main_comparison.png"/>
          <p:cNvPicPr>
            <a:picLocks noChangeAspect="1"/>
          </p:cNvPicPr>
          <p:nvPr/>
        </p:nvPicPr>
        <p:blipFill>
          <a:blip r:embed="rId2"/>
          <a:stretch>
            <a:fillRect/>
          </a:stretch>
        </p:blipFill>
        <p:spPr>
          <a:xfrm>
            <a:off x="990213" y="1143000"/>
            <a:ext cx="10211573" cy="2011680"/>
          </a:xfrm>
          <a:prstGeom prst="rect">
            <a:avLst/>
          </a:prstGeom>
        </p:spPr>
      </p:pic>
      <p:pic>
        <p:nvPicPr>
          <p:cNvPr id="5" name="Picture 4" descr="fig_training_curves.png"/>
          <p:cNvPicPr>
            <a:picLocks noChangeAspect="1"/>
          </p:cNvPicPr>
          <p:nvPr/>
        </p:nvPicPr>
        <p:blipFill>
          <a:blip r:embed="rId3"/>
          <a:stretch>
            <a:fillRect/>
          </a:stretch>
        </p:blipFill>
        <p:spPr>
          <a:xfrm>
            <a:off x="457200" y="3457677"/>
            <a:ext cx="11277600" cy="2137205"/>
          </a:xfrm>
          <a:prstGeom prst="rect">
            <a:avLst/>
          </a:prstGeom>
        </p:spPr>
      </p:pic>
      <p:sp>
        <p:nvSpPr>
          <p:cNvPr id="6" name="TextBox 5"/>
          <p:cNvSpPr txBox="1"/>
          <p:nvPr/>
        </p:nvSpPr>
        <p:spPr>
          <a:xfrm>
            <a:off x="502920" y="5897880"/>
            <a:ext cx="11186160" cy="640080"/>
          </a:xfrm>
          <a:prstGeom prst="rect">
            <a:avLst/>
          </a:prstGeom>
          <a:noFill/>
        </p:spPr>
        <p:txBody>
          <a:bodyPr wrap="square" lIns="25400" tIns="25400" rIns="25400" bIns="25400" anchor="t">
            <a:spAutoFit/>
          </a:bodyPr>
          <a:lstStyle/>
          <a:p>
            <a:pPr algn="l">
              <a:spcBef>
                <a:spcPts val="0"/>
              </a:spcBef>
              <a:spcAft>
                <a:spcPts val="600"/>
              </a:spcAft>
            </a:pPr>
            <a:r>
              <a:rPr sz="1250" b="0">
                <a:solidFill>
                  <a:srgbClr val="555555"/>
                </a:solidFill>
                <a:latin typeface="微软雅黑"/>
                <a:ea typeface="微软雅黑"/>
              </a:rPr>
              <a:t>全程零碰撞是安全盾的核心贡献且稳定。当前离散基线在到达率与控制平滑上仍占优, 连续方法的平滑卖点待后续工作。</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502920" y="256032"/>
            <a:ext cx="11186160" cy="822960"/>
          </a:xfrm>
          <a:prstGeom prst="rect">
            <a:avLst/>
          </a:prstGeom>
          <a:noFill/>
        </p:spPr>
        <p:txBody>
          <a:bodyPr wrap="square" lIns="25400" tIns="25400" rIns="25400" bIns="25400" anchor="t">
            <a:spAutoFit/>
          </a:bodyPr>
          <a:lstStyle/>
          <a:p>
            <a:pPr algn="l">
              <a:spcBef>
                <a:spcPts val="0"/>
              </a:spcBef>
              <a:spcAft>
                <a:spcPts val="600"/>
              </a:spcAft>
            </a:pPr>
            <a:r>
              <a:rPr sz="2600" b="1">
                <a:solidFill>
                  <a:srgbClr val="000000"/>
                </a:solidFill>
                <a:latin typeface="微软雅黑"/>
                <a:ea typeface="微软雅黑"/>
              </a:rPr>
              <a:t>八、实验结果: 训练稳定性与每步生存成本</a:t>
            </a:r>
          </a:p>
        </p:txBody>
      </p:sp>
      <p:pic>
        <p:nvPicPr>
          <p:cNvPr id="4" name="Picture 3" descr="fig_seed_recovery.png"/>
          <p:cNvPicPr>
            <a:picLocks noChangeAspect="1"/>
          </p:cNvPicPr>
          <p:nvPr/>
        </p:nvPicPr>
        <p:blipFill>
          <a:blip r:embed="rId2"/>
          <a:stretch>
            <a:fillRect/>
          </a:stretch>
        </p:blipFill>
        <p:spPr>
          <a:xfrm>
            <a:off x="1934452" y="1188720"/>
            <a:ext cx="8323095" cy="3200400"/>
          </a:xfrm>
          <a:prstGeom prst="rect">
            <a:avLst/>
          </a:prstGeom>
        </p:spPr>
      </p:pic>
      <p:pic>
        <p:nvPicPr>
          <p:cNvPr id="5" name="Picture 4" descr="table_cstep.png"/>
          <p:cNvPicPr>
            <a:picLocks noChangeAspect="1"/>
          </p:cNvPicPr>
          <p:nvPr/>
        </p:nvPicPr>
        <p:blipFill>
          <a:blip r:embed="rId3"/>
          <a:stretch>
            <a:fillRect/>
          </a:stretch>
        </p:blipFill>
        <p:spPr>
          <a:xfrm>
            <a:off x="3625276" y="4572000"/>
            <a:ext cx="4819527" cy="1737360"/>
          </a:xfrm>
          <a:prstGeom prst="rect">
            <a:avLst/>
          </a:prstGeom>
        </p:spPr>
      </p:pic>
      <p:sp>
        <p:nvSpPr>
          <p:cNvPr id="6" name="TextBox 5"/>
          <p:cNvSpPr txBox="1"/>
          <p:nvPr/>
        </p:nvSpPr>
        <p:spPr>
          <a:xfrm>
            <a:off x="502920" y="960120"/>
            <a:ext cx="11186160" cy="320040"/>
          </a:xfrm>
          <a:prstGeom prst="rect">
            <a:avLst/>
          </a:prstGeom>
          <a:noFill/>
        </p:spPr>
        <p:txBody>
          <a:bodyPr wrap="square" lIns="25400" tIns="25400" rIns="25400" bIns="25400" anchor="t">
            <a:spAutoFit/>
          </a:bodyPr>
          <a:lstStyle/>
          <a:p>
            <a:pPr algn="l">
              <a:spcBef>
                <a:spcPts val="0"/>
              </a:spcBef>
              <a:spcAft>
                <a:spcPts val="600"/>
              </a:spcAft>
            </a:pPr>
            <a:r>
              <a:rPr sz="1250" b="0">
                <a:solidFill>
                  <a:srgbClr val="555555"/>
                </a:solidFill>
                <a:latin typeface="微软雅黑"/>
                <a:ea typeface="微软雅黑"/>
              </a:rPr>
              <a:t>部分种子到达率为零的原因是进入目标的奖励太弱; 每步生存成本随取值增大单调恢复失败种子</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502920" y="256032"/>
            <a:ext cx="11186160" cy="822960"/>
          </a:xfrm>
          <a:prstGeom prst="rect">
            <a:avLst/>
          </a:prstGeom>
          <a:noFill/>
        </p:spPr>
        <p:txBody>
          <a:bodyPr wrap="square" lIns="25400" tIns="25400" rIns="25400" bIns="25400" anchor="t">
            <a:spAutoFit/>
          </a:bodyPr>
          <a:lstStyle/>
          <a:p>
            <a:pPr algn="l">
              <a:spcBef>
                <a:spcPts val="0"/>
              </a:spcBef>
              <a:spcAft>
                <a:spcPts val="600"/>
              </a:spcAft>
            </a:pPr>
            <a:r>
              <a:rPr sz="2600" b="1">
                <a:solidFill>
                  <a:srgbClr val="000000"/>
                </a:solidFill>
                <a:latin typeface="微软雅黑"/>
                <a:ea typeface="微软雅黑"/>
              </a:rPr>
              <a:t>九、深入可视化: 轨迹与控制平滑度</a:t>
            </a:r>
          </a:p>
        </p:txBody>
      </p:sp>
      <p:pic>
        <p:nvPicPr>
          <p:cNvPr id="4" name="Picture 3" descr="fig_trajectory_control.png"/>
          <p:cNvPicPr>
            <a:picLocks noChangeAspect="1"/>
          </p:cNvPicPr>
          <p:nvPr/>
        </p:nvPicPr>
        <p:blipFill>
          <a:blip r:embed="rId2"/>
          <a:stretch>
            <a:fillRect/>
          </a:stretch>
        </p:blipFill>
        <p:spPr>
          <a:xfrm>
            <a:off x="887429" y="1188720"/>
            <a:ext cx="10417141" cy="2743200"/>
          </a:xfrm>
          <a:prstGeom prst="rect">
            <a:avLst/>
          </a:prstGeom>
        </p:spPr>
      </p:pic>
      <p:pic>
        <p:nvPicPr>
          <p:cNvPr id="5" name="Picture 4" descr="fig_dither_preview.png"/>
          <p:cNvPicPr>
            <a:picLocks noChangeAspect="1"/>
          </p:cNvPicPr>
          <p:nvPr/>
        </p:nvPicPr>
        <p:blipFill>
          <a:blip r:embed="rId3"/>
          <a:stretch>
            <a:fillRect/>
          </a:stretch>
        </p:blipFill>
        <p:spPr>
          <a:xfrm>
            <a:off x="457200" y="4114800"/>
            <a:ext cx="5034301" cy="2194560"/>
          </a:xfrm>
          <a:prstGeom prst="rect">
            <a:avLst/>
          </a:prstGeom>
        </p:spPr>
      </p:pic>
      <p:sp>
        <p:nvSpPr>
          <p:cNvPr id="6" name="TextBox 5"/>
          <p:cNvSpPr txBox="1"/>
          <p:nvPr/>
        </p:nvSpPr>
        <p:spPr>
          <a:xfrm>
            <a:off x="6126480" y="4297680"/>
            <a:ext cx="5577840" cy="1667123"/>
          </a:xfrm>
          <a:prstGeom prst="rect">
            <a:avLst/>
          </a:prstGeom>
          <a:noFill/>
        </p:spPr>
        <p:txBody>
          <a:bodyPr wrap="square" lIns="25400" tIns="25400" rIns="25400" bIns="25400" anchor="t">
            <a:spAutoFit/>
          </a:bodyPr>
          <a:lstStyle/>
          <a:p>
            <a:pPr algn="l">
              <a:spcBef>
                <a:spcPts val="0"/>
              </a:spcBef>
              <a:spcAft>
                <a:spcPts val="600"/>
              </a:spcAft>
            </a:pPr>
            <a:endParaRPr lang="en-US" b="0" dirty="0">
              <a:solidFill>
                <a:srgbClr val="222222"/>
              </a:solidFill>
              <a:latin typeface="微软雅黑"/>
              <a:ea typeface="微软雅黑"/>
            </a:endParaRPr>
          </a:p>
          <a:p>
            <a:pPr algn="l">
              <a:spcBef>
                <a:spcPts val="0"/>
              </a:spcBef>
              <a:spcAft>
                <a:spcPts val="600"/>
              </a:spcAft>
            </a:pPr>
            <a:r>
              <a:rPr b="0" dirty="0" err="1">
                <a:solidFill>
                  <a:srgbClr val="222222"/>
                </a:solidFill>
                <a:latin typeface="微软雅黑"/>
                <a:ea typeface="微软雅黑"/>
              </a:rPr>
              <a:t>当前无平滑处理的连续控制在方向盘轴上比离散更抖</a:t>
            </a:r>
            <a:r>
              <a:rPr b="0" dirty="0">
                <a:solidFill>
                  <a:srgbClr val="222222"/>
                </a:solidFill>
                <a:latin typeface="微软雅黑"/>
                <a:ea typeface="微软雅黑"/>
              </a:rPr>
              <a:t>。</a:t>
            </a:r>
          </a:p>
          <a:p>
            <a:pPr algn="l">
              <a:spcBef>
                <a:spcPts val="0"/>
              </a:spcBef>
              <a:spcAft>
                <a:spcPts val="600"/>
              </a:spcAft>
            </a:pPr>
            <a:endParaRPr b="0" dirty="0">
              <a:solidFill>
                <a:srgbClr val="222222"/>
              </a:solidFill>
              <a:latin typeface="微软雅黑"/>
              <a:ea typeface="微软雅黑"/>
            </a:endParaRPr>
          </a:p>
          <a:p>
            <a:pPr algn="l">
              <a:spcBef>
                <a:spcPts val="0"/>
              </a:spcBef>
              <a:spcAft>
                <a:spcPts val="600"/>
              </a:spcAft>
            </a:pPr>
            <a:r>
              <a:rPr b="0" dirty="0" err="1">
                <a:solidFill>
                  <a:srgbClr val="222222"/>
                </a:solidFill>
                <a:latin typeface="微软雅黑"/>
                <a:ea typeface="微软雅黑"/>
              </a:rPr>
              <a:t>动作平滑处理已在历史数据上验证</a:t>
            </a:r>
            <a:r>
              <a:rPr b="0" dirty="0">
                <a:solidFill>
                  <a:srgbClr val="222222"/>
                </a:solidFill>
                <a:latin typeface="微软雅黑"/>
                <a:ea typeface="微软雅黑"/>
              </a:rPr>
              <a:t>, </a:t>
            </a:r>
            <a:r>
              <a:rPr b="0" dirty="0" err="1">
                <a:solidFill>
                  <a:srgbClr val="222222"/>
                </a:solidFill>
                <a:latin typeface="微软雅黑"/>
                <a:ea typeface="微软雅黑"/>
              </a:rPr>
              <a:t>可把抖动降约三分之一且到达率不掉</a:t>
            </a:r>
            <a:r>
              <a:rPr b="0" dirty="0">
                <a:solidFill>
                  <a:srgbClr val="222222"/>
                </a:solidFill>
                <a:latin typeface="微软雅黑"/>
                <a:ea typeface="微软雅黑"/>
              </a:rPr>
              <a:t>, </a:t>
            </a:r>
            <a:r>
              <a:rPr b="0" dirty="0" err="1">
                <a:solidFill>
                  <a:srgbClr val="222222"/>
                </a:solidFill>
                <a:latin typeface="微软雅黑"/>
                <a:ea typeface="微软雅黑"/>
              </a:rPr>
              <a:t>是下一步要施加的改进</a:t>
            </a:r>
            <a:r>
              <a:rPr b="0" dirty="0">
                <a:solidFill>
                  <a:srgbClr val="222222"/>
                </a:solidFill>
                <a:latin typeface="微软雅黑"/>
                <a:ea typeface="微软雅黑"/>
              </a:rPr>
              <a:t>。</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502920" y="256032"/>
            <a:ext cx="11186160" cy="822960"/>
          </a:xfrm>
          <a:prstGeom prst="rect">
            <a:avLst/>
          </a:prstGeom>
          <a:noFill/>
        </p:spPr>
        <p:txBody>
          <a:bodyPr wrap="square" lIns="25400" tIns="25400" rIns="25400" bIns="25400" anchor="t">
            <a:spAutoFit/>
          </a:bodyPr>
          <a:lstStyle/>
          <a:p>
            <a:pPr algn="l">
              <a:spcBef>
                <a:spcPts val="0"/>
              </a:spcBef>
              <a:spcAft>
                <a:spcPts val="600"/>
              </a:spcAft>
            </a:pPr>
            <a:r>
              <a:rPr sz="2600" b="1">
                <a:solidFill>
                  <a:srgbClr val="000000"/>
                </a:solidFill>
                <a:latin typeface="微软雅黑"/>
                <a:ea typeface="微软雅黑"/>
              </a:rPr>
              <a:t>九、已完成工作: 追越场景构建</a:t>
            </a:r>
          </a:p>
        </p:txBody>
      </p:sp>
      <p:sp>
        <p:nvSpPr>
          <p:cNvPr id="4" name="TextBox 3"/>
          <p:cNvSpPr txBox="1"/>
          <p:nvPr/>
        </p:nvSpPr>
        <p:spPr>
          <a:xfrm>
            <a:off x="502920" y="1005840"/>
            <a:ext cx="11186160" cy="328295"/>
          </a:xfrm>
          <a:prstGeom prst="rect">
            <a:avLst/>
          </a:prstGeom>
          <a:noFill/>
        </p:spPr>
        <p:txBody>
          <a:bodyPr wrap="square" lIns="25400" tIns="25400" rIns="25400" bIns="25400" anchor="t">
            <a:spAutoFit/>
          </a:bodyPr>
          <a:lstStyle/>
          <a:p>
            <a:pPr algn="l">
              <a:spcBef>
                <a:spcPts val="0"/>
              </a:spcBef>
              <a:spcAft>
                <a:spcPts val="600"/>
              </a:spcAft>
            </a:pPr>
            <a:r>
              <a:rPr b="1" dirty="0" err="1">
                <a:latin typeface="微软雅黑"/>
                <a:ea typeface="微软雅黑"/>
              </a:rPr>
              <a:t>追越会遇的场景已经构建</a:t>
            </a:r>
            <a:r>
              <a:rPr lang="zh-CN" altLang="en-US" b="1" dirty="0">
                <a:latin typeface="微软雅黑"/>
                <a:ea typeface="微软雅黑"/>
              </a:rPr>
              <a:t>，后期考虑加入追越的场景，前提是会遇场景训练稳定、指标较好</a:t>
            </a:r>
            <a:endParaRPr b="1" dirty="0">
              <a:latin typeface="微软雅黑"/>
              <a:ea typeface="微软雅黑"/>
            </a:endParaRPr>
          </a:p>
        </p:txBody>
      </p:sp>
      <p:pic>
        <p:nvPicPr>
          <p:cNvPr id="5" name="Picture 4" descr="1_追越_全覆盖演示_9类.png"/>
          <p:cNvPicPr>
            <a:picLocks noChangeAspect="1"/>
          </p:cNvPicPr>
          <p:nvPr/>
        </p:nvPicPr>
        <p:blipFill>
          <a:blip r:embed="rId2"/>
          <a:stretch>
            <a:fillRect/>
          </a:stretch>
        </p:blipFill>
        <p:spPr>
          <a:xfrm>
            <a:off x="306473" y="1463040"/>
            <a:ext cx="6384967" cy="4746840"/>
          </a:xfrm>
          <a:prstGeom prst="rect">
            <a:avLst/>
          </a:prstGeom>
        </p:spPr>
      </p:pic>
      <p:pic>
        <p:nvPicPr>
          <p:cNvPr id="6" name="Picture 5" descr="4_最经典超车_同一条线.png"/>
          <p:cNvPicPr>
            <a:picLocks noChangeAspect="1"/>
          </p:cNvPicPr>
          <p:nvPr/>
        </p:nvPicPr>
        <p:blipFill>
          <a:blip r:embed="rId3"/>
          <a:stretch>
            <a:fillRect/>
          </a:stretch>
        </p:blipFill>
        <p:spPr>
          <a:xfrm>
            <a:off x="6792684" y="1463040"/>
            <a:ext cx="4079630" cy="2203686"/>
          </a:xfrm>
          <a:prstGeom prst="rect">
            <a:avLst/>
          </a:prstGeom>
        </p:spPr>
      </p:pic>
      <p:pic>
        <p:nvPicPr>
          <p:cNvPr id="7" name="Picture 6" descr="2_追越_近景放大.png"/>
          <p:cNvPicPr>
            <a:picLocks noChangeAspect="1"/>
          </p:cNvPicPr>
          <p:nvPr/>
        </p:nvPicPr>
        <p:blipFill>
          <a:blip r:embed="rId4"/>
          <a:stretch>
            <a:fillRect/>
          </a:stretch>
        </p:blipFill>
        <p:spPr>
          <a:xfrm>
            <a:off x="6792684" y="3663686"/>
            <a:ext cx="4079631" cy="2669106"/>
          </a:xfrm>
          <a:prstGeom prst="rect">
            <a:avLst/>
          </a:prstGeom>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502920" y="256032"/>
            <a:ext cx="11186160" cy="822960"/>
          </a:xfrm>
          <a:prstGeom prst="rect">
            <a:avLst/>
          </a:prstGeom>
          <a:noFill/>
        </p:spPr>
        <p:txBody>
          <a:bodyPr wrap="square" lIns="25400" tIns="25400" rIns="25400" bIns="25400" anchor="t">
            <a:spAutoFit/>
          </a:bodyPr>
          <a:lstStyle/>
          <a:p>
            <a:pPr algn="l">
              <a:spcBef>
                <a:spcPts val="0"/>
              </a:spcBef>
              <a:spcAft>
                <a:spcPts val="600"/>
              </a:spcAft>
            </a:pPr>
            <a:r>
              <a:rPr sz="2600" b="1">
                <a:solidFill>
                  <a:srgbClr val="000000"/>
                </a:solidFill>
                <a:latin typeface="微软雅黑"/>
                <a:ea typeface="微软雅黑"/>
              </a:rPr>
              <a:t>十、失败方案时间线</a:t>
            </a:r>
          </a:p>
        </p:txBody>
      </p:sp>
      <p:sp>
        <p:nvSpPr>
          <p:cNvPr id="4" name="TextBox 3"/>
          <p:cNvSpPr txBox="1"/>
          <p:nvPr/>
        </p:nvSpPr>
        <p:spPr>
          <a:xfrm>
            <a:off x="502920" y="1143000"/>
            <a:ext cx="11186160" cy="4567917"/>
          </a:xfrm>
          <a:prstGeom prst="rect">
            <a:avLst/>
          </a:prstGeom>
          <a:noFill/>
        </p:spPr>
        <p:txBody>
          <a:bodyPr wrap="square" lIns="25400" tIns="25400" rIns="25400" bIns="25400" anchor="t">
            <a:spAutoFit/>
          </a:bodyPr>
          <a:lstStyle/>
          <a:p>
            <a:pPr algn="l">
              <a:spcBef>
                <a:spcPts val="0"/>
              </a:spcBef>
              <a:spcAft>
                <a:spcPts val="300"/>
              </a:spcAft>
            </a:pPr>
            <a:r>
              <a:rPr sz="1600" b="1" dirty="0" err="1">
                <a:solidFill>
                  <a:srgbClr val="222222"/>
                </a:solidFill>
                <a:latin typeface="微软雅黑"/>
                <a:ea typeface="微软雅黑"/>
              </a:rPr>
              <a:t>换用</a:t>
            </a:r>
            <a:r>
              <a:rPr sz="1600" b="1" dirty="0">
                <a:solidFill>
                  <a:srgbClr val="222222"/>
                </a:solidFill>
                <a:latin typeface="微软雅黑"/>
                <a:ea typeface="微软雅黑"/>
              </a:rPr>
              <a:t> SAC </a:t>
            </a:r>
            <a:r>
              <a:rPr sz="1600" b="1" dirty="0" err="1">
                <a:solidFill>
                  <a:srgbClr val="222222"/>
                </a:solidFill>
                <a:latin typeface="微软雅黑"/>
                <a:ea typeface="微软雅黑"/>
              </a:rPr>
              <a:t>作主线算法</a:t>
            </a:r>
            <a:endParaRPr sz="1600" b="1" dirty="0">
              <a:solidFill>
                <a:srgbClr val="222222"/>
              </a:solidFill>
              <a:latin typeface="微软雅黑"/>
              <a:ea typeface="微软雅黑"/>
            </a:endParaRPr>
          </a:p>
          <a:p>
            <a:pPr algn="l">
              <a:spcBef>
                <a:spcPts val="0"/>
              </a:spcBef>
              <a:spcAft>
                <a:spcPts val="300"/>
              </a:spcAft>
            </a:pPr>
            <a:r>
              <a:rPr sz="1600" b="0" dirty="0" err="1">
                <a:solidFill>
                  <a:srgbClr val="222222"/>
                </a:solidFill>
                <a:latin typeface="微软雅黑"/>
                <a:ea typeface="微软雅黑"/>
              </a:rPr>
              <a:t>与投影盾信用分配冲突</a:t>
            </a:r>
            <a:r>
              <a:rPr sz="1600" b="0" dirty="0">
                <a:solidFill>
                  <a:srgbClr val="222222"/>
                </a:solidFill>
                <a:latin typeface="微软雅黑"/>
                <a:ea typeface="微软雅黑"/>
              </a:rPr>
              <a:t>, </a:t>
            </a:r>
            <a:r>
              <a:rPr sz="1600" b="0" dirty="0" err="1">
                <a:solidFill>
                  <a:srgbClr val="222222"/>
                </a:solidFill>
                <a:latin typeface="微软雅黑"/>
                <a:ea typeface="微软雅黑"/>
              </a:rPr>
              <a:t>梯度发散</a:t>
            </a:r>
            <a:r>
              <a:rPr sz="1600" b="0" dirty="0">
                <a:solidFill>
                  <a:srgbClr val="222222"/>
                </a:solidFill>
                <a:latin typeface="微软雅黑"/>
                <a:ea typeface="微软雅黑"/>
              </a:rPr>
              <a:t>, </a:t>
            </a:r>
            <a:r>
              <a:rPr sz="1600" b="0" dirty="0" err="1">
                <a:solidFill>
                  <a:srgbClr val="222222"/>
                </a:solidFill>
                <a:latin typeface="微软雅黑"/>
                <a:ea typeface="微软雅黑"/>
              </a:rPr>
              <a:t>转为</a:t>
            </a:r>
            <a:r>
              <a:rPr sz="1600" b="0" dirty="0">
                <a:solidFill>
                  <a:srgbClr val="222222"/>
                </a:solidFill>
                <a:latin typeface="微软雅黑"/>
                <a:ea typeface="微软雅黑"/>
              </a:rPr>
              <a:t> PPO。</a:t>
            </a:r>
          </a:p>
          <a:p>
            <a:pPr algn="l">
              <a:spcBef>
                <a:spcPts val="0"/>
              </a:spcBef>
              <a:spcAft>
                <a:spcPts val="300"/>
              </a:spcAft>
            </a:pPr>
            <a:r>
              <a:rPr sz="1600" b="1" dirty="0" err="1">
                <a:solidFill>
                  <a:srgbClr val="222222"/>
                </a:solidFill>
                <a:latin typeface="微软雅黑"/>
                <a:ea typeface="微软雅黑"/>
              </a:rPr>
              <a:t>增加训练数据</a:t>
            </a:r>
            <a:endParaRPr sz="1600" b="1" dirty="0">
              <a:solidFill>
                <a:srgbClr val="222222"/>
              </a:solidFill>
              <a:latin typeface="微软雅黑"/>
              <a:ea typeface="微软雅黑"/>
            </a:endParaRPr>
          </a:p>
          <a:p>
            <a:pPr algn="l">
              <a:spcBef>
                <a:spcPts val="0"/>
              </a:spcBef>
              <a:spcAft>
                <a:spcPts val="300"/>
              </a:spcAft>
            </a:pPr>
            <a:r>
              <a:rPr sz="1600" b="0" dirty="0" err="1">
                <a:solidFill>
                  <a:srgbClr val="222222"/>
                </a:solidFill>
                <a:latin typeface="微软雅黑"/>
                <a:ea typeface="微软雅黑"/>
              </a:rPr>
              <a:t>崩塌率不变</a:t>
            </a:r>
            <a:r>
              <a:rPr sz="1600" b="0" dirty="0">
                <a:solidFill>
                  <a:srgbClr val="222222"/>
                </a:solidFill>
                <a:latin typeface="微软雅黑"/>
                <a:ea typeface="微软雅黑"/>
              </a:rPr>
              <a:t>, </a:t>
            </a:r>
            <a:r>
              <a:rPr sz="1600" b="0" dirty="0" err="1">
                <a:solidFill>
                  <a:srgbClr val="222222"/>
                </a:solidFill>
                <a:latin typeface="微软雅黑"/>
                <a:ea typeface="微软雅黑"/>
              </a:rPr>
              <a:t>与数据量无关</a:t>
            </a:r>
            <a:r>
              <a:rPr sz="1600" b="0" dirty="0">
                <a:solidFill>
                  <a:srgbClr val="222222"/>
                </a:solidFill>
                <a:latin typeface="微软雅黑"/>
                <a:ea typeface="微软雅黑"/>
              </a:rPr>
              <a:t>。</a:t>
            </a:r>
            <a:endParaRPr lang="en-US" sz="1600" b="1" dirty="0">
              <a:solidFill>
                <a:srgbClr val="222222"/>
              </a:solidFill>
              <a:latin typeface="微软雅黑"/>
              <a:ea typeface="微软雅黑"/>
            </a:endParaRPr>
          </a:p>
          <a:p>
            <a:pPr algn="l">
              <a:spcBef>
                <a:spcPts val="0"/>
              </a:spcBef>
              <a:spcAft>
                <a:spcPts val="300"/>
              </a:spcAft>
            </a:pPr>
            <a:r>
              <a:rPr sz="1600" b="1" dirty="0" err="1">
                <a:solidFill>
                  <a:srgbClr val="222222"/>
                </a:solidFill>
                <a:latin typeface="微软雅黑"/>
                <a:ea typeface="微软雅黑"/>
              </a:rPr>
              <a:t>调节探索熵</a:t>
            </a:r>
            <a:endParaRPr sz="1600" b="1" dirty="0">
              <a:solidFill>
                <a:srgbClr val="222222"/>
              </a:solidFill>
              <a:latin typeface="微软雅黑"/>
              <a:ea typeface="微软雅黑"/>
            </a:endParaRPr>
          </a:p>
          <a:p>
            <a:pPr algn="l">
              <a:spcBef>
                <a:spcPts val="0"/>
              </a:spcBef>
              <a:spcAft>
                <a:spcPts val="300"/>
              </a:spcAft>
            </a:pPr>
            <a:r>
              <a:rPr sz="1600" b="0" dirty="0" err="1">
                <a:solidFill>
                  <a:srgbClr val="222222"/>
                </a:solidFill>
                <a:latin typeface="微软雅黑"/>
                <a:ea typeface="微软雅黑"/>
              </a:rPr>
              <a:t>调低导致崩塌</a:t>
            </a:r>
            <a:r>
              <a:rPr sz="1600" b="0" dirty="0">
                <a:solidFill>
                  <a:srgbClr val="222222"/>
                </a:solidFill>
                <a:latin typeface="微软雅黑"/>
                <a:ea typeface="微软雅黑"/>
              </a:rPr>
              <a:t>, </a:t>
            </a:r>
            <a:r>
              <a:rPr sz="1600" b="0" dirty="0" err="1">
                <a:solidFill>
                  <a:srgbClr val="222222"/>
                </a:solidFill>
                <a:latin typeface="微软雅黑"/>
                <a:ea typeface="微软雅黑"/>
              </a:rPr>
              <a:t>调高导致到达率下降</a:t>
            </a:r>
            <a:r>
              <a:rPr sz="1600" b="0" dirty="0">
                <a:solidFill>
                  <a:srgbClr val="222222"/>
                </a:solidFill>
                <a:latin typeface="微软雅黑"/>
                <a:ea typeface="微软雅黑"/>
              </a:rPr>
              <a:t>, </a:t>
            </a:r>
            <a:r>
              <a:rPr sz="1600" b="0" dirty="0" err="1">
                <a:solidFill>
                  <a:srgbClr val="222222"/>
                </a:solidFill>
                <a:latin typeface="微软雅黑"/>
                <a:ea typeface="微软雅黑"/>
              </a:rPr>
              <a:t>两个方向都伤</a:t>
            </a:r>
            <a:r>
              <a:rPr sz="1600" b="0" dirty="0">
                <a:solidFill>
                  <a:srgbClr val="222222"/>
                </a:solidFill>
                <a:latin typeface="微软雅黑"/>
                <a:ea typeface="微软雅黑"/>
              </a:rPr>
              <a:t>。</a:t>
            </a:r>
          </a:p>
          <a:p>
            <a:pPr algn="l">
              <a:spcBef>
                <a:spcPts val="0"/>
              </a:spcBef>
              <a:spcAft>
                <a:spcPts val="300"/>
              </a:spcAft>
            </a:pPr>
            <a:r>
              <a:rPr sz="1600" b="1" dirty="0" err="1">
                <a:solidFill>
                  <a:srgbClr val="222222"/>
                </a:solidFill>
                <a:latin typeface="微软雅黑"/>
                <a:ea typeface="微软雅黑"/>
              </a:rPr>
              <a:t>动作混叠惩罚</a:t>
            </a:r>
            <a:endParaRPr sz="1600" b="1" dirty="0">
              <a:solidFill>
                <a:srgbClr val="222222"/>
              </a:solidFill>
              <a:latin typeface="微软雅黑"/>
              <a:ea typeface="微软雅黑"/>
            </a:endParaRPr>
          </a:p>
          <a:p>
            <a:pPr algn="l">
              <a:spcBef>
                <a:spcPts val="0"/>
              </a:spcBef>
              <a:spcAft>
                <a:spcPts val="300"/>
              </a:spcAft>
            </a:pPr>
            <a:r>
              <a:rPr sz="1600" b="0" dirty="0" err="1">
                <a:solidFill>
                  <a:srgbClr val="222222"/>
                </a:solidFill>
                <a:latin typeface="微软雅黑"/>
                <a:ea typeface="微软雅黑"/>
              </a:rPr>
              <a:t>过强</a:t>
            </a:r>
            <a:r>
              <a:rPr sz="1600" b="0" dirty="0">
                <a:solidFill>
                  <a:srgbClr val="222222"/>
                </a:solidFill>
                <a:latin typeface="微软雅黑"/>
                <a:ea typeface="微软雅黑"/>
              </a:rPr>
              <a:t>, </a:t>
            </a:r>
            <a:r>
              <a:rPr sz="1600" b="0" dirty="0" err="1">
                <a:solidFill>
                  <a:srgbClr val="222222"/>
                </a:solidFill>
                <a:latin typeface="微软雅黑"/>
                <a:ea typeface="微软雅黑"/>
              </a:rPr>
              <a:t>多数种子崩塌</a:t>
            </a:r>
            <a:r>
              <a:rPr sz="1600" b="0" dirty="0">
                <a:solidFill>
                  <a:srgbClr val="222222"/>
                </a:solidFill>
                <a:latin typeface="微软雅黑"/>
                <a:ea typeface="微软雅黑"/>
              </a:rPr>
              <a:t>。</a:t>
            </a:r>
          </a:p>
          <a:p>
            <a:pPr algn="l">
              <a:spcBef>
                <a:spcPts val="0"/>
              </a:spcBef>
              <a:spcAft>
                <a:spcPts val="300"/>
              </a:spcAft>
            </a:pPr>
            <a:r>
              <a:rPr sz="1600" b="1" dirty="0" err="1">
                <a:solidFill>
                  <a:srgbClr val="222222"/>
                </a:solidFill>
                <a:latin typeface="微软雅黑"/>
                <a:ea typeface="微软雅黑"/>
              </a:rPr>
              <a:t>横向进带势</a:t>
            </a:r>
            <a:endParaRPr sz="1600" b="1" dirty="0">
              <a:solidFill>
                <a:srgbClr val="222222"/>
              </a:solidFill>
              <a:latin typeface="微软雅黑"/>
              <a:ea typeface="微软雅黑"/>
            </a:endParaRPr>
          </a:p>
          <a:p>
            <a:pPr algn="l">
              <a:spcBef>
                <a:spcPts val="0"/>
              </a:spcBef>
              <a:spcAft>
                <a:spcPts val="300"/>
              </a:spcAft>
            </a:pPr>
            <a:r>
              <a:rPr sz="1600" b="0" dirty="0" err="1">
                <a:solidFill>
                  <a:srgbClr val="222222"/>
                </a:solidFill>
                <a:latin typeface="微软雅黑"/>
                <a:ea typeface="微软雅黑"/>
              </a:rPr>
              <a:t>引发灾难性崩塌</a:t>
            </a:r>
            <a:r>
              <a:rPr sz="1600" b="0" dirty="0">
                <a:solidFill>
                  <a:srgbClr val="222222"/>
                </a:solidFill>
                <a:latin typeface="微软雅黑"/>
                <a:ea typeface="微软雅黑"/>
              </a:rPr>
              <a:t>, </a:t>
            </a:r>
            <a:r>
              <a:rPr sz="1600" b="0" dirty="0" err="1">
                <a:solidFill>
                  <a:srgbClr val="222222"/>
                </a:solidFill>
                <a:latin typeface="微软雅黑"/>
                <a:ea typeface="微软雅黑"/>
              </a:rPr>
              <a:t>净收益为负</a:t>
            </a:r>
            <a:r>
              <a:rPr sz="1600" b="0" dirty="0">
                <a:solidFill>
                  <a:srgbClr val="222222"/>
                </a:solidFill>
                <a:latin typeface="微软雅黑"/>
                <a:ea typeface="微软雅黑"/>
              </a:rPr>
              <a:t>。</a:t>
            </a:r>
          </a:p>
          <a:p>
            <a:pPr algn="l">
              <a:spcBef>
                <a:spcPts val="0"/>
              </a:spcBef>
              <a:spcAft>
                <a:spcPts val="300"/>
              </a:spcAft>
            </a:pPr>
            <a:r>
              <a:rPr sz="1600" b="1" dirty="0" err="1">
                <a:solidFill>
                  <a:srgbClr val="222222"/>
                </a:solidFill>
                <a:latin typeface="微软雅黑"/>
                <a:ea typeface="微软雅黑"/>
              </a:rPr>
              <a:t>终端保速势</a:t>
            </a:r>
            <a:endParaRPr sz="1600" b="1" dirty="0">
              <a:solidFill>
                <a:srgbClr val="222222"/>
              </a:solidFill>
              <a:latin typeface="微软雅黑"/>
              <a:ea typeface="微软雅黑"/>
            </a:endParaRPr>
          </a:p>
          <a:p>
            <a:pPr algn="l">
              <a:spcBef>
                <a:spcPts val="0"/>
              </a:spcBef>
              <a:spcAft>
                <a:spcPts val="300"/>
              </a:spcAft>
            </a:pPr>
            <a:r>
              <a:rPr sz="1600" b="0" dirty="0" err="1">
                <a:solidFill>
                  <a:srgbClr val="222222"/>
                </a:solidFill>
                <a:latin typeface="微软雅黑"/>
                <a:ea typeface="微软雅黑"/>
              </a:rPr>
              <a:t>只是重新洗牌</a:t>
            </a:r>
            <a:r>
              <a:rPr sz="1600" b="0" dirty="0">
                <a:solidFill>
                  <a:srgbClr val="222222"/>
                </a:solidFill>
                <a:latin typeface="微软雅黑"/>
                <a:ea typeface="微软雅黑"/>
              </a:rPr>
              <a:t>, </a:t>
            </a:r>
            <a:r>
              <a:rPr sz="1600" b="0" dirty="0" err="1">
                <a:solidFill>
                  <a:srgbClr val="222222"/>
                </a:solidFill>
                <a:latin typeface="微软雅黑"/>
                <a:ea typeface="微软雅黑"/>
              </a:rPr>
              <a:t>没有净收益</a:t>
            </a:r>
            <a:r>
              <a:rPr sz="1600" b="0" dirty="0">
                <a:solidFill>
                  <a:srgbClr val="222222"/>
                </a:solidFill>
                <a:latin typeface="微软雅黑"/>
                <a:ea typeface="微软雅黑"/>
              </a:rPr>
              <a:t>。</a:t>
            </a:r>
          </a:p>
          <a:p>
            <a:pPr algn="l">
              <a:spcBef>
                <a:spcPts val="0"/>
              </a:spcBef>
              <a:spcAft>
                <a:spcPts val="300"/>
              </a:spcAft>
            </a:pPr>
            <a:r>
              <a:rPr sz="1600" b="1" dirty="0" err="1">
                <a:solidFill>
                  <a:srgbClr val="222222"/>
                </a:solidFill>
                <a:latin typeface="微软雅黑"/>
                <a:ea typeface="微软雅黑"/>
              </a:rPr>
              <a:t>距离课程学习</a:t>
            </a:r>
            <a:endParaRPr sz="1600" b="1" dirty="0">
              <a:solidFill>
                <a:srgbClr val="222222"/>
              </a:solidFill>
              <a:latin typeface="微软雅黑"/>
              <a:ea typeface="微软雅黑"/>
            </a:endParaRPr>
          </a:p>
          <a:p>
            <a:pPr algn="l">
              <a:spcBef>
                <a:spcPts val="0"/>
              </a:spcBef>
              <a:spcAft>
                <a:spcPts val="300"/>
              </a:spcAft>
            </a:pPr>
            <a:r>
              <a:rPr sz="1600" b="0" dirty="0" err="1">
                <a:solidFill>
                  <a:srgbClr val="222222"/>
                </a:solidFill>
                <a:latin typeface="微软雅黑"/>
                <a:ea typeface="微软雅黑"/>
              </a:rPr>
              <a:t>场景距离基本恒定</a:t>
            </a:r>
            <a:r>
              <a:rPr sz="1600" b="0" dirty="0">
                <a:solidFill>
                  <a:srgbClr val="222222"/>
                </a:solidFill>
                <a:latin typeface="微软雅黑"/>
                <a:ea typeface="微软雅黑"/>
              </a:rPr>
              <a:t>, </a:t>
            </a:r>
            <a:r>
              <a:rPr sz="1600" b="0" dirty="0" err="1">
                <a:solidFill>
                  <a:srgbClr val="222222"/>
                </a:solidFill>
                <a:latin typeface="微软雅黑"/>
                <a:ea typeface="微软雅黑"/>
              </a:rPr>
              <a:t>课程没有梯度可用</a:t>
            </a:r>
            <a:r>
              <a:rPr sz="1600" b="0" dirty="0">
                <a:solidFill>
                  <a:srgbClr val="222222"/>
                </a:solidFill>
                <a:latin typeface="微软雅黑"/>
                <a:ea typeface="微软雅黑"/>
              </a:rPr>
              <a:t>。</a:t>
            </a:r>
          </a:p>
          <a:p>
            <a:pPr algn="l">
              <a:spcBef>
                <a:spcPts val="0"/>
              </a:spcBef>
              <a:spcAft>
                <a:spcPts val="300"/>
              </a:spcAft>
            </a:pPr>
            <a:r>
              <a:rPr sz="1600" b="1" dirty="0" err="1">
                <a:solidFill>
                  <a:srgbClr val="222222"/>
                </a:solidFill>
                <a:latin typeface="微软雅黑"/>
                <a:ea typeface="微软雅黑"/>
              </a:rPr>
              <a:t>热启动与路径惩罚</a:t>
            </a:r>
            <a:endParaRPr sz="1600" b="1" dirty="0">
              <a:solidFill>
                <a:srgbClr val="222222"/>
              </a:solidFill>
              <a:latin typeface="微软雅黑"/>
              <a:ea typeface="微软雅黑"/>
            </a:endParaRPr>
          </a:p>
          <a:p>
            <a:pPr algn="l">
              <a:spcBef>
                <a:spcPts val="0"/>
              </a:spcBef>
              <a:spcAft>
                <a:spcPts val="300"/>
              </a:spcAft>
            </a:pPr>
            <a:r>
              <a:rPr sz="1600" b="0" dirty="0" err="1">
                <a:solidFill>
                  <a:srgbClr val="222222"/>
                </a:solidFill>
                <a:latin typeface="微软雅黑"/>
                <a:ea typeface="微软雅黑"/>
              </a:rPr>
              <a:t>前者是复用已有模型并非真鲁棒</a:t>
            </a:r>
            <a:r>
              <a:rPr sz="1600" b="0" dirty="0">
                <a:solidFill>
                  <a:srgbClr val="222222"/>
                </a:solidFill>
                <a:latin typeface="微软雅黑"/>
                <a:ea typeface="微软雅黑"/>
              </a:rPr>
              <a:t>, </a:t>
            </a:r>
            <a:r>
              <a:rPr sz="1600" b="0" dirty="0" err="1">
                <a:solidFill>
                  <a:srgbClr val="222222"/>
                </a:solidFill>
                <a:latin typeface="微软雅黑"/>
                <a:ea typeface="微软雅黑"/>
              </a:rPr>
              <a:t>后者打错目标且产生退化解</a:t>
            </a:r>
            <a:r>
              <a:rPr sz="1600" b="0" dirty="0">
                <a:solidFill>
                  <a:srgbClr val="222222"/>
                </a:solidFill>
                <a:latin typeface="微软雅黑"/>
                <a:ea typeface="微软雅黑"/>
              </a:rPr>
              <a:t>。</a:t>
            </a:r>
          </a:p>
        </p:txBody>
      </p:sp>
      <p:pic>
        <p:nvPicPr>
          <p:cNvPr id="8" name="图片 7" descr="文本&#10;&#10;AI 生成的内容可能不正确。">
            <a:extLst>
              <a:ext uri="{FF2B5EF4-FFF2-40B4-BE49-F238E27FC236}">
                <a16:creationId xmlns:a16="http://schemas.microsoft.com/office/drawing/2014/main" id="{DF131FF5-4A5D-904A-175F-1CB888C2492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500475" y="974689"/>
            <a:ext cx="2522566" cy="5490290"/>
          </a:xfrm>
          <a:prstGeom prst="rect">
            <a:avLst/>
          </a:prstGeom>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502920" y="256032"/>
            <a:ext cx="11186160" cy="822960"/>
          </a:xfrm>
          <a:prstGeom prst="rect">
            <a:avLst/>
          </a:prstGeom>
          <a:noFill/>
        </p:spPr>
        <p:txBody>
          <a:bodyPr wrap="square" lIns="25400" tIns="25400" rIns="25400" bIns="25400" anchor="t">
            <a:spAutoFit/>
          </a:bodyPr>
          <a:lstStyle/>
          <a:p>
            <a:pPr algn="l">
              <a:spcBef>
                <a:spcPts val="0"/>
              </a:spcBef>
              <a:spcAft>
                <a:spcPts val="600"/>
              </a:spcAft>
            </a:pPr>
            <a:r>
              <a:rPr sz="2600" b="1">
                <a:solidFill>
                  <a:srgbClr val="000000"/>
                </a:solidFill>
                <a:latin typeface="微软雅黑"/>
                <a:ea typeface="微软雅黑"/>
              </a:rPr>
              <a:t>十一、待解决的问题与下一步</a:t>
            </a:r>
          </a:p>
        </p:txBody>
      </p:sp>
      <p:sp>
        <p:nvSpPr>
          <p:cNvPr id="4" name="TextBox 3"/>
          <p:cNvSpPr txBox="1"/>
          <p:nvPr/>
        </p:nvSpPr>
        <p:spPr>
          <a:xfrm>
            <a:off x="502920" y="1234440"/>
            <a:ext cx="11186160" cy="4572000"/>
          </a:xfrm>
          <a:prstGeom prst="rect">
            <a:avLst/>
          </a:prstGeom>
          <a:noFill/>
        </p:spPr>
        <p:txBody>
          <a:bodyPr wrap="square" lIns="25400" tIns="25400" rIns="25400" bIns="25400" anchor="t">
            <a:spAutoFit/>
          </a:bodyPr>
          <a:lstStyle/>
          <a:p>
            <a:pPr algn="l">
              <a:spcBef>
                <a:spcPts val="0"/>
              </a:spcBef>
              <a:spcAft>
                <a:spcPts val="600"/>
              </a:spcAft>
            </a:pPr>
            <a:r>
              <a:rPr sz="1600" b="1">
                <a:solidFill>
                  <a:srgbClr val="222222"/>
                </a:solidFill>
                <a:latin typeface="微软雅黑"/>
                <a:ea typeface="微软雅黑"/>
              </a:rPr>
              <a:t>标定每步生存成本的取值</a:t>
            </a:r>
          </a:p>
          <a:p>
            <a:pPr algn="l">
              <a:spcBef>
                <a:spcPts val="0"/>
              </a:spcBef>
              <a:spcAft>
                <a:spcPts val="600"/>
              </a:spcAft>
            </a:pPr>
            <a:r>
              <a:rPr sz="1600" b="0">
                <a:solidFill>
                  <a:srgbClr val="222222"/>
                </a:solidFill>
                <a:latin typeface="微软雅黑"/>
                <a:ea typeface="微软雅黑"/>
              </a:rPr>
              <a:t>找到既能恢复失败种子, 又不影响健康种子的取值。</a:t>
            </a:r>
          </a:p>
          <a:p>
            <a:pPr algn="l">
              <a:spcBef>
                <a:spcPts val="0"/>
              </a:spcBef>
              <a:spcAft>
                <a:spcPts val="600"/>
              </a:spcAft>
            </a:pPr>
            <a:endParaRPr sz="1600" b="0">
              <a:solidFill>
                <a:srgbClr val="222222"/>
              </a:solidFill>
              <a:latin typeface="微软雅黑"/>
              <a:ea typeface="微软雅黑"/>
            </a:endParaRPr>
          </a:p>
          <a:p>
            <a:pPr algn="l">
              <a:spcBef>
                <a:spcPts val="0"/>
              </a:spcBef>
              <a:spcAft>
                <a:spcPts val="600"/>
              </a:spcAft>
            </a:pPr>
            <a:r>
              <a:rPr sz="1600" b="1">
                <a:solidFill>
                  <a:srgbClr val="222222"/>
                </a:solidFill>
                <a:latin typeface="微软雅黑"/>
                <a:ea typeface="微软雅黑"/>
              </a:rPr>
              <a:t>平滑度卖点</a:t>
            </a:r>
          </a:p>
          <a:p>
            <a:pPr algn="l">
              <a:spcBef>
                <a:spcPts val="0"/>
              </a:spcBef>
              <a:spcAft>
                <a:spcPts val="600"/>
              </a:spcAft>
            </a:pPr>
            <a:r>
              <a:rPr sz="1600" b="0">
                <a:solidFill>
                  <a:srgbClr val="222222"/>
                </a:solidFill>
                <a:latin typeface="微软雅黑"/>
                <a:ea typeface="微软雅黑"/>
              </a:rPr>
              <a:t>施加动作平滑, 并用油门轴和物理空间指标证明连续控制更平滑且可视化。</a:t>
            </a:r>
          </a:p>
          <a:p>
            <a:pPr algn="l">
              <a:spcBef>
                <a:spcPts val="0"/>
              </a:spcBef>
              <a:spcAft>
                <a:spcPts val="600"/>
              </a:spcAft>
            </a:pPr>
            <a:endParaRPr sz="1600" b="0">
              <a:solidFill>
                <a:srgbClr val="222222"/>
              </a:solidFill>
              <a:latin typeface="微软雅黑"/>
              <a:ea typeface="微软雅黑"/>
            </a:endParaRPr>
          </a:p>
          <a:p>
            <a:pPr algn="l">
              <a:spcBef>
                <a:spcPts val="0"/>
              </a:spcBef>
              <a:spcAft>
                <a:spcPts val="600"/>
              </a:spcAft>
            </a:pPr>
            <a:r>
              <a:rPr sz="1600" b="1">
                <a:solidFill>
                  <a:srgbClr val="222222"/>
                </a:solidFill>
                <a:latin typeface="微软雅黑"/>
                <a:ea typeface="微软雅黑"/>
              </a:rPr>
              <a:t>四方对比大图</a:t>
            </a:r>
          </a:p>
          <a:p>
            <a:pPr algn="l">
              <a:spcBef>
                <a:spcPts val="0"/>
              </a:spcBef>
              <a:spcAft>
                <a:spcPts val="600"/>
              </a:spcAft>
            </a:pPr>
            <a:r>
              <a:rPr sz="1600" b="0">
                <a:solidFill>
                  <a:srgbClr val="222222"/>
                </a:solidFill>
                <a:latin typeface="微软雅黑"/>
                <a:ea typeface="微软雅黑"/>
              </a:rPr>
              <a:t>补齐无合规和软奖励两个基线, 完成完整对比。</a:t>
            </a:r>
          </a:p>
          <a:p>
            <a:pPr algn="l">
              <a:spcBef>
                <a:spcPts val="0"/>
              </a:spcBef>
              <a:spcAft>
                <a:spcPts val="600"/>
              </a:spcAft>
            </a:pPr>
            <a:endParaRPr sz="1600" b="0">
              <a:solidFill>
                <a:srgbClr val="222222"/>
              </a:solidFill>
              <a:latin typeface="微软雅黑"/>
              <a:ea typeface="微软雅黑"/>
            </a:endParaRPr>
          </a:p>
          <a:p>
            <a:pPr algn="l">
              <a:spcBef>
                <a:spcPts val="0"/>
              </a:spcBef>
              <a:spcAft>
                <a:spcPts val="600"/>
              </a:spcAft>
            </a:pPr>
            <a:r>
              <a:rPr sz="1600" b="1">
                <a:solidFill>
                  <a:srgbClr val="222222"/>
                </a:solidFill>
                <a:latin typeface="微软雅黑"/>
                <a:ea typeface="微软雅黑"/>
              </a:rPr>
              <a:t>攻克追越会遇</a:t>
            </a:r>
          </a:p>
          <a:p>
            <a:pPr algn="l">
              <a:spcBef>
                <a:spcPts val="0"/>
              </a:spcBef>
              <a:spcAft>
                <a:spcPts val="600"/>
              </a:spcAft>
            </a:pPr>
            <a:r>
              <a:rPr sz="1600" b="0">
                <a:solidFill>
                  <a:srgbClr val="222222"/>
                </a:solidFill>
                <a:latin typeface="微软雅黑"/>
                <a:ea typeface="微软雅黑"/>
              </a:rPr>
              <a:t>在已经构建的追越场景上训练连续策略。</a:t>
            </a:r>
          </a:p>
        </p:txBody>
      </p:sp>
    </p:spTree>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ISLIDE.GUIDESSETTING" val="{&quot;Id&quot;:&quot;177e98ad-1ab0-4991-b7e8-761cc9e9e2e8&quot;,&quot;Name&quot;:&quot;极简9&quot;,&quot;Kind&quot;:&quot;Custom&quot;,&quot;OldGuidesSetting&quot;:{&quot;HeaderHeight&quot;:11.0,&quot;FooterHeight&quot;:4.0,&quot;SideMargin&quot;:4.0,&quot;TopMargin&quot;:0.0,&quot;BottomMargin&quot;:0.0,&quot;IntervalMargin&quot;:0.0}}"/>
</p:tagLst>
</file>

<file path=ppt/theme/theme1.xml><?xml version="1.0" encoding="utf-8"?>
<a:theme xmlns:a="http://schemas.openxmlformats.org/drawingml/2006/main" name="Office 主题​​">
  <a:themeElements>
    <a:clrScheme name="SJTUB">
      <a:dk1>
        <a:srgbClr val="000000"/>
      </a:dk1>
      <a:lt1>
        <a:srgbClr val="FFFFFF"/>
      </a:lt1>
      <a:dk2>
        <a:srgbClr val="BD9F68"/>
      </a:dk2>
      <a:lt2>
        <a:srgbClr val="B5B5B6"/>
      </a:lt2>
      <a:accent1>
        <a:srgbClr val="004098"/>
      </a:accent1>
      <a:accent2>
        <a:srgbClr val="0086D1"/>
      </a:accent2>
      <a:accent3>
        <a:srgbClr val="F08300"/>
      </a:accent3>
      <a:accent4>
        <a:srgbClr val="FDD000"/>
      </a:accent4>
      <a:accent5>
        <a:srgbClr val="338D27"/>
      </a:accent5>
      <a:accent6>
        <a:srgbClr val="00514E"/>
      </a:accent6>
      <a:hlink>
        <a:srgbClr val="B5B5B6"/>
      </a:hlink>
      <a:folHlink>
        <a:srgbClr val="BD9F68"/>
      </a:folHlink>
    </a:clrScheme>
    <a:fontScheme name="雅黑">
      <a:majorFont>
        <a:latin typeface="Arial"/>
        <a:ea typeface="微软雅黑"/>
        <a:cs typeface=""/>
      </a:majorFont>
      <a:minorFont>
        <a:latin typeface="Arial"/>
        <a:ea typeface="微软雅黑"/>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等线 Light"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1673</TotalTime>
  <Words>813</Words>
  <Application>Microsoft Macintosh PowerPoint</Application>
  <PresentationFormat>宽屏</PresentationFormat>
  <Paragraphs>189</Paragraphs>
  <Slides>23</Slides>
  <Notes>0</Notes>
  <HiddenSlides>0</HiddenSlides>
  <MMClips>0</MMClips>
  <ScaleCrop>false</ScaleCrop>
  <HeadingPairs>
    <vt:vector size="6" baseType="variant">
      <vt:variant>
        <vt:lpstr>已用的字体</vt:lpstr>
      </vt:variant>
      <vt:variant>
        <vt:i4>3</vt:i4>
      </vt:variant>
      <vt:variant>
        <vt:lpstr>主题</vt:lpstr>
      </vt:variant>
      <vt:variant>
        <vt:i4>1</vt:i4>
      </vt:variant>
      <vt:variant>
        <vt:lpstr>幻灯片标题</vt:lpstr>
      </vt:variant>
      <vt:variant>
        <vt:i4>23</vt:i4>
      </vt:variant>
    </vt:vector>
  </HeadingPairs>
  <TitlesOfParts>
    <vt:vector size="27" baseType="lpstr">
      <vt:lpstr>等线</vt:lpstr>
      <vt:lpstr>微软雅黑</vt:lpstr>
      <vt:lpstr>Arial</vt:lpstr>
      <vt:lpstr>Office 主题​​</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SHEN Xiaodan</dc:creator>
  <cp:lastModifiedBy>Weiyu Tang</cp:lastModifiedBy>
  <cp:revision>198</cp:revision>
  <dcterms:created xsi:type="dcterms:W3CDTF">2021-12-04T09:40:10Z</dcterms:created>
  <dcterms:modified xsi:type="dcterms:W3CDTF">2026-07-01T06:41:44Z</dcterms:modified>
  <cp:contentStatus/>
</cp:coreProperties>
</file>