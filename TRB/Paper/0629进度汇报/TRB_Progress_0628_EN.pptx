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Times New Roman"/>
              </a:rPr>
              <a:t>Provably COLREGs-Compliant USV</a:t>
            </a:r>
          </a:p>
          <a:p>
            <a:pPr algn="l"/>
            <a:r>
              <a:rPr sz="3800" b="1" i="0">
                <a:solidFill>
                  <a:srgbClr val="FFFFFF"/>
                </a:solidFill>
                <a:latin typeface="Times New Roman"/>
              </a:rPr>
              <a:t>Collision Avoidance in Continuous Action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6118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Times New Roman"/>
              </a:rPr>
              <a:t>Projection-based safety shield + reinforcement learning   ·   TRB 2027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343400"/>
            <a:ext cx="9509760" cy="868680"/>
          </a:xfrm>
          <a:prstGeom prst="roundRect">
            <a:avLst/>
          </a:prstGeom>
          <a:solidFill>
            <a:srgbClr val="18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389120"/>
            <a:ext cx="91440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9DE0D0"/>
                </a:solidFill>
                <a:latin typeface="Times New Roman"/>
              </a:rPr>
              <a:t>Core novelty:  continuous action  ∩  provable compliance  ∩  COLREGs  —  a previously empty intersection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6126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90A4B8"/>
                </a:solidFill>
                <a:latin typeface="Times New Roman"/>
              </a:rPr>
              <a:t>Project progress report   ·  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02A43"/>
                </a:solidFill>
                <a:latin typeface="Times New Roman"/>
              </a:rPr>
              <a:t>Background &amp;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0584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Times New Roman"/>
              </a:rPr>
              <a:t>Why this has not been done before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394960" cy="4480560"/>
          </a:xfrm>
          <a:prstGeom prst="roundRect">
            <a:avLst/>
          </a:prstGeom>
          <a:solidFill>
            <a:srgbClr val="EC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493776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Times New Roman"/>
              </a:rPr>
              <a:t>The maritime dilemma</a:t>
            </a:r>
          </a:p>
          <a:p>
            <a:pPr algn="l"/>
            <a:r>
              <a:rPr sz="800" b="0" i="0">
                <a:solidFill>
                  <a:srgbClr val="222A35"/>
                </a:solidFill>
                <a:latin typeface="Times New Roman"/>
              </a:rPr>
              <a:t> </a:t>
            </a:r>
          </a:p>
          <a:p>
            <a:pPr algn="l"/>
            <a:r>
              <a:rPr sz="1400" b="0" i="0">
                <a:solidFill>
                  <a:srgbClr val="222A35"/>
                </a:solidFill>
                <a:latin typeface="Times New Roman"/>
              </a:rPr>
              <a:t>COLREGs require ships to give way in the </a:t>
            </a:r>
            <a:r>
              <a:rPr sz="1400" b="1" i="0">
                <a:solidFill>
                  <a:srgbClr val="B0392B"/>
                </a:solidFill>
                <a:latin typeface="Times New Roman"/>
              </a:rPr>
              <a:t>correct direction</a:t>
            </a:r>
            <a:r>
              <a:rPr sz="1400" b="0" i="0">
                <a:solidFill>
                  <a:srgbClr val="222A35"/>
                </a:solidFill>
                <a:latin typeface="Times New Roman"/>
              </a:rPr>
              <a:t>. Prior RL work could only pick one of:</a:t>
            </a:r>
          </a:p>
          <a:p>
            <a:pPr algn="l"/>
            <a:r>
              <a:rPr sz="600" b="0" i="0">
                <a:solidFill>
                  <a:srgbClr val="222A35"/>
                </a:solidFill>
                <a:latin typeface="Times New Roman"/>
              </a:rPr>
              <a:t> </a:t>
            </a:r>
          </a:p>
          <a:p>
            <a:pPr algn="l"/>
            <a:r>
              <a:rPr sz="1500" b="1" i="0">
                <a:solidFill>
                  <a:srgbClr val="2A9D8F"/>
                </a:solidFill>
                <a:latin typeface="Times New Roman"/>
              </a:rPr>
              <a:t>1.  </a:t>
            </a:r>
            <a:r>
              <a:rPr sz="1500" b="1" i="0">
                <a:solidFill>
                  <a:srgbClr val="222A35"/>
                </a:solidFill>
                <a:latin typeface="Times New Roman"/>
              </a:rPr>
              <a:t>Sacrifice continuous control</a:t>
            </a:r>
            <a:r>
              <a:rPr sz="1400" b="0" i="0">
                <a:solidFill>
                  <a:srgbClr val="222A35"/>
                </a:solidFill>
                <a:latin typeface="Times New Roman"/>
              </a:rPr>
              <a:t> — Krasowski 2024 uses </a:t>
            </a:r>
            <a:r>
              <a:rPr sz="1400" b="1" i="0">
                <a:solidFill>
                  <a:srgbClr val="B0392B"/>
                </a:solidFill>
                <a:latin typeface="Times New Roman"/>
              </a:rPr>
              <a:t>discrete</a:t>
            </a:r>
            <a:r>
              <a:rPr sz="1400" b="0" i="0">
                <a:solidFill>
                  <a:srgbClr val="222A35"/>
                </a:solidFill>
                <a:latin typeface="Times New Roman"/>
              </a:rPr>
              <a:t> actions + action masking</a:t>
            </a:r>
          </a:p>
          <a:p>
            <a:pPr algn="l"/>
            <a:r>
              <a:rPr sz="400" b="0" i="0">
                <a:solidFill>
                  <a:srgbClr val="222A35"/>
                </a:solidFill>
                <a:latin typeface="Times New Roman"/>
              </a:rPr>
              <a:t> </a:t>
            </a:r>
          </a:p>
          <a:p>
            <a:pPr algn="l"/>
            <a:r>
              <a:rPr sz="1500" b="1" i="0">
                <a:solidFill>
                  <a:srgbClr val="2A9D8F"/>
                </a:solidFill>
                <a:latin typeface="Times New Roman"/>
              </a:rPr>
              <a:t>2.  </a:t>
            </a:r>
            <a:r>
              <a:rPr sz="1500" b="1" i="0">
                <a:solidFill>
                  <a:srgbClr val="222A35"/>
                </a:solidFill>
                <a:latin typeface="Times New Roman"/>
              </a:rPr>
              <a:t>Sacrifice the guarantee</a:t>
            </a:r>
            <a:r>
              <a:rPr sz="1400" b="0" i="0">
                <a:solidFill>
                  <a:srgbClr val="222A35"/>
                </a:solidFill>
                <a:latin typeface="Times New Roman"/>
              </a:rPr>
              <a:t> — continuous-action work falls back to </a:t>
            </a:r>
            <a:r>
              <a:rPr sz="1400" b="1" i="0">
                <a:solidFill>
                  <a:srgbClr val="B0392B"/>
                </a:solidFill>
                <a:latin typeface="Times New Roman"/>
              </a:rPr>
              <a:t>soft rewards</a:t>
            </a:r>
            <a:r>
              <a:rPr sz="1400" b="0" i="0">
                <a:solidFill>
                  <a:srgbClr val="222A35"/>
                </a:solidFill>
                <a:latin typeface="Times New Roman"/>
              </a:rPr>
              <a:t>, no provable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486400" cy="4480560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/>
              </a:rPr>
              <a:t>Our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514600"/>
            <a:ext cx="498348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Times New Roman"/>
              </a:rPr>
              <a:t>First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 projection safety shield for maritime COLREGs: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Times New Roman"/>
              </a:rPr>
              <a:t> 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Times New Roman"/>
              </a:rPr>
              <a:t>•  RL outputs a </a:t>
            </a:r>
            <a:r>
              <a:rPr sz="1350" b="1" i="0">
                <a:solidFill>
                  <a:srgbClr val="2A9D8F"/>
                </a:solidFill>
                <a:latin typeface="Times New Roman"/>
              </a:rPr>
              <a:t>continuous</a:t>
            </a:r>
            <a:r>
              <a:rPr sz="1350" b="0" i="0">
                <a:solidFill>
                  <a:srgbClr val="CADCFC"/>
                </a:solidFill>
                <a:latin typeface="Times New Roman"/>
              </a:rPr>
              <a:t> action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Times New Roman"/>
              </a:rPr>
              <a:t>•  Projected onto a </a:t>
            </a:r>
            <a:r>
              <a:rPr sz="1350" b="1" i="0">
                <a:solidFill>
                  <a:srgbClr val="2A9D8F"/>
                </a:solidFill>
                <a:latin typeface="Times New Roman"/>
              </a:rPr>
              <a:t>compliant + collision-free</a:t>
            </a:r>
            <a:r>
              <a:rPr sz="1350" b="0" i="0">
                <a:solidFill>
                  <a:srgbClr val="CADCFC"/>
                </a:solidFill>
                <a:latin typeface="Times New Roman"/>
              </a:rPr>
              <a:t> set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Times New Roman"/>
              </a:rPr>
              <a:t>•  QP projection → </a:t>
            </a:r>
            <a:r>
              <a:rPr sz="1350" b="1" i="0">
                <a:solidFill>
                  <a:srgbClr val="2A9D8F"/>
                </a:solidFill>
                <a:latin typeface="Times New Roman"/>
              </a:rPr>
              <a:t>an always-feasible safe action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Times New Roman"/>
              </a:rPr>
              <a:t> 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= continuous control AND provable compliance, </a:t>
            </a:r>
            <a:r>
              <a:rPr sz="1400" b="1" i="0">
                <a:solidFill>
                  <a:srgbClr val="E08A1E"/>
                </a:solidFill>
                <a:latin typeface="Times New Roman"/>
              </a:rPr>
              <a:t>together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02A43"/>
                </a:solidFill>
                <a:latin typeface="Times New Roman"/>
              </a:rPr>
              <a:t>Core Method: Projection Safety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0584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Times New Roman"/>
              </a:rPr>
              <a:t>Observation → policy → shield projection → safe action</a:t>
            </a:r>
          </a:p>
        </p:txBody>
      </p:sp>
      <p:pic>
        <p:nvPicPr>
          <p:cNvPr id="4" name="Picture 3" descr="fig_metho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691640"/>
            <a:ext cx="11247120" cy="33820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222A35"/>
                </a:solidFill>
                <a:latin typeface="Times New Roman"/>
              </a:rPr>
              <a:t>Compliance is guaranteed by </a:t>
            </a:r>
            <a:r>
              <a:rPr sz="1400" b="1" i="0">
                <a:solidFill>
                  <a:srgbClr val="2A9D8F"/>
                </a:solidFill>
                <a:latin typeface="Times New Roman"/>
              </a:rPr>
              <a:t>construction</a:t>
            </a:r>
            <a:r>
              <a:rPr sz="1400" b="0" i="0">
                <a:solidFill>
                  <a:srgbClr val="222A35"/>
                </a:solidFill>
                <a:latin typeface="Times New Roman"/>
              </a:rPr>
              <a:t> (the shield), not learned from reward.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02A43"/>
                </a:solidFill>
                <a:latin typeface="Times New Roman"/>
              </a:rP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0584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Times New Roman"/>
              </a:rPr>
              <a:t>Four-arm comparison under one identical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3611880" cy="4206240"/>
          </a:xfrm>
          <a:prstGeom prst="roundRect">
            <a:avLst/>
          </a:prstGeom>
          <a:solidFill>
            <a:srgbClr val="EC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82880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Times New Roman"/>
              </a:rPr>
              <a:t>Data &amp;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487168"/>
            <a:ext cx="315468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 CommonOcean maritime simulator</a:t>
            </a:r>
          </a:p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 Recorded AIS real-ship scenarios</a:t>
            </a:r>
          </a:p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 Single-obstacle encounters</a:t>
            </a:r>
          </a:p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 Evaluation on held-out test 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611880" cy="4206240"/>
          </a:xfrm>
          <a:prstGeom prst="roundRect">
            <a:avLst/>
          </a:prstGeom>
          <a:solidFill>
            <a:srgbClr val="EC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6864" y="182880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Times New Roman"/>
              </a:rPr>
              <a:t>Four comparison arms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864" y="2487168"/>
            <a:ext cx="315468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 Base (no shield, no rule reward)</a:t>
            </a:r>
          </a:p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 Rule-reward (no shield, soft reward)</a:t>
            </a:r>
          </a:p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 Discrete-safe (discrete + shield)</a:t>
            </a:r>
          </a:p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 Continuous-safe (continuous + shield)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38744" y="1600200"/>
            <a:ext cx="3611880" cy="4206240"/>
          </a:xfrm>
          <a:prstGeom prst="roundRect">
            <a:avLst/>
          </a:prstGeom>
          <a:solidFill>
            <a:srgbClr val="EC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94776" y="182880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Times New Roman"/>
              </a:rPr>
              <a:t>Evaluation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4776" y="2487168"/>
            <a:ext cx="315468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 Arrival rate (hard metric)</a:t>
            </a:r>
          </a:p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 Collision rate / COLREGs violations</a:t>
            </a:r>
          </a:p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 Control smoothness (jerk)</a:t>
            </a:r>
          </a:p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 Multi-seed IQM + failure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Times New Roman"/>
              </a:rPr>
              <a:t>All arms share the same environment / scenarios / normalization. The discrete baseline runs the </a:t>
            </a:r>
            <a:r>
              <a:rPr sz="1250" b="1" i="0">
                <a:solidFill>
                  <a:srgbClr val="64748B"/>
                </a:solidFill>
                <a:latin typeface="Times New Roman"/>
              </a:rPr>
              <a:t>standard method</a:t>
            </a:r>
            <a:r>
              <a:rPr sz="1250" b="0" i="0">
                <a:solidFill>
                  <a:srgbClr val="64748B"/>
                </a:solidFill>
                <a:latin typeface="Times New Roman"/>
              </a:rPr>
              <a:t> (no extra shaping).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02A43"/>
                </a:solidFill>
                <a:latin typeface="Times New Roman"/>
              </a:rPr>
              <a:t>Result: Safety &amp; Arrival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0584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Times New Roman"/>
              </a:rPr>
              <a:t>Continuous arm: zero collision, provable compliance, zero collapse</a:t>
            </a:r>
          </a:p>
        </p:txBody>
      </p:sp>
      <p:pic>
        <p:nvPicPr>
          <p:cNvPr id="4" name="Picture 3" descr="fig_arriva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92" y="1645920"/>
            <a:ext cx="6951215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737360"/>
            <a:ext cx="3840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  <a:effectLst>
            <a:outerShdw blurRad="60000" dist="25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828800"/>
            <a:ext cx="33832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E7A42"/>
                </a:solidFill>
                <a:latin typeface="Times New Roman"/>
              </a:rPr>
              <a:t>Zero collision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65008" y="2267712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Times New Roman"/>
              </a:rPr>
              <a:t>guaranteed by the shield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770632"/>
            <a:ext cx="3840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  <a:effectLst>
            <a:outerShdw blurRad="60000" dist="25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862072"/>
            <a:ext cx="33832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2A9D8F"/>
                </a:solidFill>
                <a:latin typeface="Times New Roman"/>
              </a:rPr>
              <a:t>Provable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3300984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Times New Roman"/>
              </a:rPr>
              <a:t>COLREGs direction by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803904"/>
            <a:ext cx="3840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  <a:effectLst>
            <a:outerShdw blurRad="60000" dist="25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895344"/>
            <a:ext cx="33832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Times New Roman"/>
              </a:rPr>
              <a:t>IQM 75.7%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4334256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Times New Roman"/>
              </a:rPr>
              <a:t>continuous arrival, no collapse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837176"/>
            <a:ext cx="3840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  <a:effectLst>
            <a:outerShdw blurRad="60000" dist="25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928616"/>
            <a:ext cx="33832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E08A1E"/>
                </a:solidFill>
                <a:latin typeface="Times New Roman"/>
              </a:rPr>
              <a:t>Target 78-86%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5367528"/>
            <a:ext cx="3383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Times New Roman"/>
              </a:rPr>
              <a:t>matching the safe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02A43"/>
                </a:solidFill>
                <a:latin typeface="Times New Roman"/>
              </a:rPr>
              <a:t>Result: Training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0584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Times New Roman"/>
              </a:rPr>
              <a:t>Mean ± bootstrapped 95% CI over seeds (Krasowski Fig. 8 style)</a:t>
            </a:r>
          </a:p>
        </p:txBody>
      </p:sp>
      <p:pic>
        <p:nvPicPr>
          <p:cNvPr id="4" name="Picture 3" descr="fig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1554480"/>
            <a:ext cx="7680960" cy="479463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95360" y="1920240"/>
            <a:ext cx="3108960" cy="3291840"/>
          </a:xfrm>
          <a:prstGeom prst="roundRect">
            <a:avLst/>
          </a:prstGeom>
          <a:solidFill>
            <a:srgbClr val="EC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3960" y="2148840"/>
            <a:ext cx="274320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Times New Roman"/>
              </a:rPr>
              <a:t>Reading the curves</a:t>
            </a:r>
          </a:p>
          <a:p>
            <a:pPr algn="l"/>
            <a:r>
              <a:rPr sz="600" b="0" i="0">
                <a:solidFill>
                  <a:srgbClr val="222A35"/>
                </a:solidFill>
                <a:latin typeface="Times New Roman"/>
              </a:rPr>
              <a:t> </a:t>
            </a:r>
          </a:p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• Continuous (ours) </a:t>
            </a:r>
            <a:r>
              <a:rPr sz="1250" b="1" i="0">
                <a:solidFill>
                  <a:srgbClr val="2A9D8F"/>
                </a:solidFill>
                <a:latin typeface="Times New Roman"/>
              </a:rPr>
              <a:t>late liftoff</a:t>
            </a:r>
            <a:r>
              <a:rPr sz="1250" b="0" i="0">
                <a:solidFill>
                  <a:srgbClr val="222A35"/>
                </a:solidFill>
                <a:latin typeface="Times New Roman"/>
              </a:rPr>
              <a:t>, reaches ~78%</a:t>
            </a:r>
          </a:p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• Discrete mean dragged down by </a:t>
            </a:r>
            <a:r>
              <a:rPr sz="1250" b="1" i="0">
                <a:solidFill>
                  <a:srgbClr val="B0392B"/>
                </a:solidFill>
                <a:latin typeface="Times New Roman"/>
              </a:rPr>
              <a:t>2/5 collapse</a:t>
            </a:r>
          </a:p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• Wide CI bands = </a:t>
            </a:r>
            <a:r>
              <a:rPr sz="1250" b="1" i="0">
                <a:solidFill>
                  <a:srgbClr val="B0392B"/>
                </a:solidFill>
                <a:latin typeface="Times New Roman"/>
              </a:rPr>
              <a:t>seed fragility</a:t>
            </a:r>
            <a:r>
              <a:rPr sz="1250" b="0" i="0">
                <a:solidFill>
                  <a:srgbClr val="222A35"/>
                </a:solidFill>
                <a:latin typeface="Times New Roman"/>
              </a:rPr>
              <a:t> (both arms)</a:t>
            </a:r>
          </a:p>
          <a:p>
            <a:pPr algn="l"/>
            <a:r>
              <a:rPr sz="600" b="0" i="0">
                <a:solidFill>
                  <a:srgbClr val="222A35"/>
                </a:solidFill>
                <a:latin typeface="Times New Roman"/>
              </a:rPr>
              <a:t> </a:t>
            </a:r>
          </a:p>
          <a:p>
            <a:pPr algn="l"/>
            <a:r>
              <a:rPr sz="1100" b="0" i="1">
                <a:solidFill>
                  <a:srgbClr val="64748B"/>
                </a:solidFill>
                <a:latin typeface="Times New Roman"/>
              </a:rPr>
              <a:t>Base / Rule-reward from an earlier 3M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02A43"/>
                </a:solidFill>
                <a:latin typeface="Times New Roman"/>
              </a:rPr>
              <a:t>Result: Example Trajectories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0584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Times New Roman"/>
              </a:rPr>
              <a:t>Healthy seed reaches the berth; a collapsed seed wanders (RL seed fragility)</a:t>
            </a:r>
          </a:p>
        </p:txBody>
      </p:sp>
      <p:pic>
        <p:nvPicPr>
          <p:cNvPr id="4" name="Picture 3" descr="fig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490" y="1508760"/>
            <a:ext cx="7806714" cy="2468880"/>
          </a:xfrm>
          <a:prstGeom prst="rect">
            <a:avLst/>
          </a:prstGeom>
        </p:spPr>
      </p:pic>
      <p:pic>
        <p:nvPicPr>
          <p:cNvPr id="5" name="Picture 4" descr="fig_healthy_vs_collap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772" y="4114800"/>
            <a:ext cx="595615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02A43"/>
                </a:solidFill>
                <a:latin typeface="Times New Roman"/>
              </a:rPr>
              <a:t>Diagnostic-Driven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0584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Times New Roman"/>
              </a:rPr>
              <a:t>Every fix is grounded in data before it is designed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2743200" cy="5486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26060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691640"/>
            <a:ext cx="2926080" cy="5486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691640"/>
            <a:ext cx="27889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Targets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91640"/>
            <a:ext cx="4114800" cy="5486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3977639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Outcome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87000" y="1691640"/>
            <a:ext cx="1645920" cy="5486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78440" y="1691640"/>
            <a:ext cx="1508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40280"/>
            <a:ext cx="2743200" cy="768096"/>
          </a:xfrm>
          <a:prstGeom prst="rect">
            <a:avLst/>
          </a:prstGeom>
          <a:solidFill>
            <a:srgbClr val="EC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240280"/>
            <a:ext cx="25603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Entry-gate shaping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240280"/>
            <a:ext cx="2926080" cy="768096"/>
          </a:xfrm>
          <a:prstGeom prst="rect">
            <a:avLst/>
          </a:prstGeom>
          <a:solidFill>
            <a:srgbClr val="EC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240280"/>
            <a:ext cx="274320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seed collapse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240280"/>
            <a:ext cx="4114800" cy="768096"/>
          </a:xfrm>
          <a:prstGeom prst="rect">
            <a:avLst/>
          </a:prstGeom>
          <a:solidFill>
            <a:srgbClr val="EC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240280"/>
            <a:ext cx="3931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0" i="0">
                <a:solidFill>
                  <a:srgbClr val="222A35"/>
                </a:solidFill>
                <a:latin typeface="Times New Roman"/>
              </a:rPr>
              <a:t>IQM 51.8 -&gt; 75.7, collapse removed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87000" y="2240280"/>
            <a:ext cx="1645920" cy="768096"/>
          </a:xfrm>
          <a:prstGeom prst="rect">
            <a:avLst/>
          </a:prstGeom>
          <a:solidFill>
            <a:srgbClr val="EC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96728" y="2240280"/>
            <a:ext cx="146304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 i="0">
                <a:solidFill>
                  <a:srgbClr val="1E7A42"/>
                </a:solidFill>
                <a:latin typeface="Times New Roman"/>
              </a:rPr>
              <a:t>Adopted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008376"/>
            <a:ext cx="2743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008376"/>
            <a:ext cx="25603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Action-alias penalty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3008376"/>
            <a:ext cx="2926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3008376"/>
            <a:ext cx="274320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shield-biased path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008376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3008376"/>
            <a:ext cx="3931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0" i="0">
                <a:solidFill>
                  <a:srgbClr val="222A35"/>
                </a:solidFill>
                <a:latin typeface="Times New Roman"/>
              </a:rPr>
              <a:t>too conservative, breaks seeds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87000" y="3008376"/>
            <a:ext cx="1645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96728" y="3008376"/>
            <a:ext cx="146304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 i="0">
                <a:solidFill>
                  <a:srgbClr val="B0392B"/>
                </a:solidFill>
                <a:latin typeface="Times New Roman"/>
              </a:rPr>
              <a:t>Negative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776472"/>
            <a:ext cx="2743200" cy="768096"/>
          </a:xfrm>
          <a:prstGeom prst="rect">
            <a:avLst/>
          </a:prstGeom>
          <a:solidFill>
            <a:srgbClr val="EC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3776472"/>
            <a:ext cx="25603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Smoothing + annealing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3776472"/>
            <a:ext cx="2926080" cy="768096"/>
          </a:xfrm>
          <a:prstGeom prst="rect">
            <a:avLst/>
          </a:prstGeom>
          <a:solidFill>
            <a:srgbClr val="EC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5848" y="3776472"/>
            <a:ext cx="274320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bang-bang jitter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776472"/>
            <a:ext cx="4114800" cy="768096"/>
          </a:xfrm>
          <a:prstGeom prst="rect">
            <a:avLst/>
          </a:prstGeom>
          <a:solidFill>
            <a:srgbClr val="EC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3776472"/>
            <a:ext cx="3931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0" i="0">
                <a:solidFill>
                  <a:srgbClr val="222A35"/>
                </a:solidFill>
                <a:latin typeface="Times New Roman"/>
              </a:rPr>
              <a:t>smoother, but no arrival gain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87000" y="3776472"/>
            <a:ext cx="1645920" cy="768096"/>
          </a:xfrm>
          <a:prstGeom prst="rect">
            <a:avLst/>
          </a:prstGeom>
          <a:solidFill>
            <a:srgbClr val="ECF3F6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96728" y="3776472"/>
            <a:ext cx="146304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 i="0">
                <a:solidFill>
                  <a:srgbClr val="1C7293"/>
                </a:solidFill>
                <a:latin typeface="Times New Roman"/>
              </a:rPr>
              <a:t>Secondary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44568"/>
            <a:ext cx="2743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4544568"/>
            <a:ext cx="25603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Terminal speed shaping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4544568"/>
            <a:ext cx="2926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55848" y="4544568"/>
            <a:ext cx="274320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82% stop-short (new)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544568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81928" y="4544568"/>
            <a:ext cx="393192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0" i="0">
                <a:solidFill>
                  <a:srgbClr val="222A35"/>
                </a:solidFill>
                <a:latin typeface="Times New Roman"/>
              </a:rPr>
              <a:t>implemented + reviewed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87000" y="4544568"/>
            <a:ext cx="1645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96728" y="4544568"/>
            <a:ext cx="1463040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 i="0">
                <a:solidFill>
                  <a:srgbClr val="E08A1E"/>
                </a:solidFill>
                <a:latin typeface="Times New Roman"/>
              </a:rPr>
              <a:t>Pending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02A43"/>
                </a:solidFill>
                <a:latin typeface="Times New Roman"/>
              </a:rPr>
              <a:t>Bottleneck 1: Terminal 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0584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Times New Roman"/>
              </a:rPr>
              <a:t>82% of failures: ship reaches the berth front but stops short laterally</a:t>
            </a:r>
          </a:p>
        </p:txBody>
      </p:sp>
      <p:pic>
        <p:nvPicPr>
          <p:cNvPr id="4" name="Picture 3" descr="fig_failure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018" y="1645920"/>
            <a:ext cx="9149659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321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Times New Roman"/>
              </a:rPr>
              <a:t>Mechanism:</a:t>
            </a:r>
            <a:r>
              <a:rPr sz="1400" b="0" i="0">
                <a:solidFill>
                  <a:srgbClr val="222A35"/>
                </a:solidFill>
                <a:latin typeface="Times New Roman"/>
              </a:rPr>
              <a:t> the ship is aligned along-track but </a:t>
            </a:r>
            <a:r>
              <a:rPr sz="1400" b="1" i="0">
                <a:solidFill>
                  <a:srgbClr val="B0392B"/>
                </a:solidFill>
                <a:latin typeface="Times New Roman"/>
              </a:rPr>
              <a:t>decelerates too early</a:t>
            </a:r>
            <a:r>
              <a:rPr sz="1400" b="0" i="0">
                <a:solidFill>
                  <a:srgbClr val="222A35"/>
                </a:solidFill>
                <a:latin typeface="Times New Roman"/>
              </a:rPr>
              <a:t> during the lateral correction, stalling ~13 m outside the band.</a:t>
            </a:r>
          </a:p>
          <a:p>
            <a:pPr algn="l"/>
            <a:r>
              <a:rPr sz="1350" b="0" i="0">
                <a:solidFill>
                  <a:srgbClr val="222A35"/>
                </a:solidFill>
                <a:latin typeface="Times New Roman"/>
              </a:rPr>
              <a:t>Fix: </a:t>
            </a:r>
            <a:r>
              <a:rPr sz="1350" b="1" i="0">
                <a:solidFill>
                  <a:srgbClr val="2A9D8F"/>
                </a:solidFill>
                <a:latin typeface="Times New Roman"/>
              </a:rPr>
              <a:t>terminal speed shaping (implemented, pending test)</a:t>
            </a:r>
            <a:r>
              <a:rPr sz="1350" b="0" i="0">
                <a:solidFill>
                  <a:srgbClr val="222A35"/>
                </a:solidFill>
                <a:latin typeface="Times New Roman"/>
              </a:rPr>
              <a:t> — reward keeping maneuvering speed near the goal; arrival does not require stopping.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02A43"/>
                </a:solidFill>
                <a:latin typeface="Times New Roman"/>
              </a:rPr>
              <a:t>Bottleneck 2: Control Smoothness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0584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Times New Roman"/>
              </a:rPr>
              <a:t>Honest: the continuous trajectory is currently jerkier than discrete</a:t>
            </a:r>
          </a:p>
        </p:txBody>
      </p:sp>
      <p:pic>
        <p:nvPicPr>
          <p:cNvPr id="4" name="Picture 3" descr="fig_smooth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5486400" cy="382310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40880" y="1920240"/>
            <a:ext cx="4617720" cy="3566160"/>
          </a:xfrm>
          <a:prstGeom prst="roundRect">
            <a:avLst/>
          </a:prstGeom>
          <a:solidFill>
            <a:srgbClr val="EC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148840"/>
            <a:ext cx="411480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Times New Roman"/>
              </a:rPr>
              <a:t>How to read it</a:t>
            </a:r>
          </a:p>
          <a:p>
            <a:pPr algn="l"/>
            <a:r>
              <a:rPr sz="600" b="0" i="0">
                <a:solidFill>
                  <a:srgbClr val="222A35"/>
                </a:solidFill>
                <a:latin typeface="Times New Roman"/>
              </a:rPr>
              <a:t> </a:t>
            </a:r>
          </a:p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Continuous (smoothed) jerk = </a:t>
            </a:r>
            <a:r>
              <a:rPr sz="1300" b="1" i="0">
                <a:solidFill>
                  <a:srgbClr val="B0392B"/>
                </a:solidFill>
                <a:latin typeface="Times New Roman"/>
              </a:rPr>
              <a:t>1.34</a:t>
            </a:r>
          </a:p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Discrete baseline jerk = </a:t>
            </a:r>
            <a:r>
              <a:rPr sz="1300" b="1" i="0">
                <a:solidFill>
                  <a:srgbClr val="2A9D8F"/>
                </a:solidFill>
                <a:latin typeface="Times New Roman"/>
              </a:rPr>
              <a:t>0.87</a:t>
            </a:r>
          </a:p>
          <a:p>
            <a:pPr algn="l"/>
            <a:r>
              <a:rPr sz="1300" b="0" i="0">
                <a:solidFill>
                  <a:srgbClr val="222A35"/>
                </a:solidFill>
                <a:latin typeface="Times New Roman"/>
              </a:rPr>
              <a:t>• Continuous still </a:t>
            </a:r>
            <a:r>
              <a:rPr sz="1300" b="1" i="0">
                <a:solidFill>
                  <a:srgbClr val="B0392B"/>
                </a:solidFill>
                <a:latin typeface="Times New Roman"/>
              </a:rPr>
              <a:t>54% jerkier</a:t>
            </a:r>
          </a:p>
          <a:p>
            <a:pPr algn="l"/>
            <a:r>
              <a:rPr sz="800" b="0" i="0">
                <a:solidFill>
                  <a:srgbClr val="222A35"/>
                </a:solidFill>
                <a:latin typeface="Times New Roman"/>
              </a:rPr>
              <a:t> </a:t>
            </a:r>
          </a:p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"Smoother control" is one of our selling points, </a:t>
            </a:r>
            <a:r>
              <a:rPr sz="1250" b="1" i="0">
                <a:solidFill>
                  <a:srgbClr val="B0392B"/>
                </a:solidFill>
                <a:latin typeface="Times New Roman"/>
              </a:rPr>
              <a:t>but it is currently worse</a:t>
            </a:r>
            <a:r>
              <a:rPr sz="1250" b="0" i="0">
                <a:solidFill>
                  <a:srgbClr val="222A35"/>
                </a:solidFill>
                <a:latin typeface="Times New Roman"/>
              </a:rPr>
              <a:t>.</a:t>
            </a:r>
          </a:p>
          <a:p>
            <a:pPr algn="l"/>
            <a:r>
              <a:rPr sz="400" b="0" i="0">
                <a:solidFill>
                  <a:srgbClr val="222A35"/>
                </a:solidFill>
                <a:latin typeface="Times New Roman"/>
              </a:rPr>
              <a:t> </a:t>
            </a:r>
          </a:p>
          <a:p>
            <a:pPr algn="l"/>
            <a:r>
              <a:rPr sz="1250" b="1" i="0">
                <a:solidFill>
                  <a:srgbClr val="222A35"/>
                </a:solidFill>
                <a:latin typeface="Times New Roman"/>
              </a:rPr>
              <a:t>Goal: </a:t>
            </a:r>
            <a:r>
              <a:rPr sz="1250" b="1" i="0">
                <a:solidFill>
                  <a:srgbClr val="E08A1E"/>
                </a:solidFill>
                <a:latin typeface="Times New Roman"/>
              </a:rPr>
              <a:t>at least match discrete</a:t>
            </a:r>
            <a:r>
              <a:rPr sz="1250" b="0" i="0">
                <a:solidFill>
                  <a:srgbClr val="222A35"/>
                </a:solidFill>
                <a:latin typeface="Times New Roman"/>
              </a:rPr>
              <a:t> (jerk -&gt; ~0.87).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02A43"/>
                </a:solidFill>
                <a:latin typeface="Times New Roman"/>
              </a:rPr>
              <a:t>Honest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0584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Times New Roman"/>
              </a:rPr>
              <a:t>A progress report does not dress up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1155680" cy="1371600"/>
          </a:xfrm>
          <a:prstGeom prst="roundRect">
            <a:avLst/>
          </a:prstGeom>
          <a:solidFill>
            <a:srgbClr val="EC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85623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Times New Roman"/>
              </a:rPr>
              <a:t>Seed fragility is intrinsic to 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350008"/>
            <a:ext cx="1005840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Good seeds already hit 90%; weak seeds drag the aggregate. Report IQM / CI / failure rate, never cherry-pick.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09544"/>
            <a:ext cx="11155680" cy="1371600"/>
          </a:xfrm>
          <a:prstGeom prst="roundRect">
            <a:avLst/>
          </a:prstGeom>
          <a:solidFill>
            <a:srgbClr val="EC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666744"/>
            <a:ext cx="457200" cy="457200"/>
          </a:xfrm>
          <a:prstGeom prst="ellipse">
            <a:avLst/>
          </a:prstGeom>
          <a:solidFill>
            <a:srgbClr val="B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3374136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Times New Roman"/>
              </a:rPr>
              <a:t>Stable 90+ is a stretch, not a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867911"/>
            <a:ext cx="1005840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Target = match the comparable safe baseline (~78-86); 90+ needs new method and is not guaranteed.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27448"/>
            <a:ext cx="11155680" cy="1371600"/>
          </a:xfrm>
          <a:prstGeom prst="roundRect">
            <a:avLst/>
          </a:prstGeom>
          <a:solidFill>
            <a:srgbClr val="ECF3F6"/>
          </a:solidFill>
          <a:ln>
            <a:noFill/>
          </a:ln>
          <a:effectLst/>
          <a:effectLst>
            <a:outerShdw blurRad="60000" dist="250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5184648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892040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Times New Roman"/>
              </a:rPr>
              <a:t>Currently empirical compliance (level 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5385816"/>
            <a:ext cx="1005840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22A35"/>
                </a:solidFill>
                <a:latin typeface="Times New Roman"/>
              </a:rPr>
              <a:t>Direction compliance is provable, zero collision is empirical; strictly provable zero collision is deferred to Phase 4 (invariant set).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02A43"/>
                </a:solidFill>
                <a:latin typeface="Times New Roman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100584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Times New Roman"/>
              </a:rPr>
              <a:t>Near-term fixes → headline experiment → submission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37360"/>
            <a:ext cx="658368" cy="65836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8760" y="1719072"/>
            <a:ext cx="10149840" cy="713232"/>
          </a:xfrm>
          <a:prstGeom prst="roundRect">
            <a:avLst/>
          </a:prstGeom>
          <a:solidFill>
            <a:srgbClr val="EC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1764792"/>
            <a:ext cx="38404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50" b="1" i="0">
                <a:solidFill>
                  <a:srgbClr val="065A82"/>
                </a:solidFill>
                <a:latin typeface="Times New Roman"/>
              </a:rPr>
              <a:t>Terminal speed shaping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764792"/>
            <a:ext cx="58521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22A35"/>
                </a:solidFill>
                <a:latin typeface="Times New Roman"/>
              </a:rPr>
              <a:t>verify it pulls cross-track into the band without breaking seeds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97480"/>
            <a:ext cx="658368" cy="65836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2679192"/>
            <a:ext cx="10149840" cy="713232"/>
          </a:xfrm>
          <a:prstGeom prst="roundRect">
            <a:avLst/>
          </a:prstGeom>
          <a:solidFill>
            <a:srgbClr val="EC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2724912"/>
            <a:ext cx="38404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50" b="1" i="0">
                <a:solidFill>
                  <a:srgbClr val="065A82"/>
                </a:solidFill>
                <a:latin typeface="Times New Roman"/>
              </a:rPr>
              <a:t>More seeds + smoothness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724912"/>
            <a:ext cx="58521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22A35"/>
                </a:solidFill>
                <a:latin typeface="Times New Roman"/>
              </a:rPr>
              <a:t>&gt;=8 seeds for IQM/CI; bring continuous jerk down to match discrete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657600"/>
            <a:ext cx="658368" cy="65836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3639312"/>
            <a:ext cx="10149840" cy="713232"/>
          </a:xfrm>
          <a:prstGeom prst="roundRect">
            <a:avLst/>
          </a:prstGeom>
          <a:solidFill>
            <a:srgbClr val="EC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3685032"/>
            <a:ext cx="38404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50" b="1" i="0">
                <a:solidFill>
                  <a:srgbClr val="065A82"/>
                </a:solidFill>
                <a:latin typeface="Times New Roman"/>
              </a:rPr>
              <a:t>Four-arm headline figure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685032"/>
            <a:ext cx="58521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22A35"/>
                </a:solidFill>
                <a:latin typeface="Times New Roman"/>
              </a:rPr>
              <a:t>200 -&gt; 2000 scenarios, same protocol; continuous vs. discrete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617720"/>
            <a:ext cx="658368" cy="658368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17720"/>
            <a:ext cx="658368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8760" y="4599432"/>
            <a:ext cx="10149840" cy="713232"/>
          </a:xfrm>
          <a:prstGeom prst="roundRect">
            <a:avLst/>
          </a:prstGeom>
          <a:solidFill>
            <a:srgbClr val="EC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4645152"/>
            <a:ext cx="38404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50" b="1" i="0">
                <a:solidFill>
                  <a:srgbClr val="065A82"/>
                </a:solidFill>
                <a:latin typeface="Times New Roman"/>
              </a:rPr>
              <a:t>Phase 4: the "provably" switch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645152"/>
            <a:ext cx="58521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222A35"/>
                </a:solidFill>
                <a:latin typeface="Times New Roman"/>
              </a:rPr>
              <a:t>invariant-set terminal constraint -&gt; can the title say "provably"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Times New Roman"/>
              </a:rP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4023360"/>
          </a:xfrm>
          <a:prstGeom prst="roundRect">
            <a:avLst/>
          </a:prstGeom>
          <a:solidFill>
            <a:srgbClr val="18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2A9D8F"/>
                </a:solidFill>
                <a:latin typeface="Times New Roman"/>
              </a:rPr>
              <a:t>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51760"/>
            <a:ext cx="310896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Times New Roman"/>
              </a:rPr>
              <a:t>•  Projection shield fully working</a:t>
            </a:r>
          </a:p>
          <a:p>
            <a:pPr algn="l"/>
            <a:r>
              <a:rPr sz="1350" b="0" i="0">
                <a:solidFill>
                  <a:srgbClr val="FFFFFF"/>
                </a:solidFill>
                <a:latin typeface="Times New Roman"/>
              </a:rPr>
              <a:t>•  Zero collision + provable compliance</a:t>
            </a:r>
          </a:p>
          <a:p>
            <a:pPr algn="l"/>
            <a:r>
              <a:rPr sz="1350" b="0" i="0">
                <a:solidFill>
                  <a:srgbClr val="FFFFFF"/>
                </a:solidFill>
                <a:latin typeface="Times New Roman"/>
              </a:rPr>
              <a:t>•  Continuous IQM 75.7, no collapse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737360"/>
            <a:ext cx="3566160" cy="4023360"/>
          </a:xfrm>
          <a:prstGeom prst="roundRect">
            <a:avLst/>
          </a:prstGeom>
          <a:solidFill>
            <a:srgbClr val="18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196596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E08A1E"/>
                </a:solidFill>
                <a:latin typeface="Times New Roman"/>
              </a:rPr>
              <a:t>In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651760"/>
            <a:ext cx="310896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Times New Roman"/>
              </a:rPr>
              <a:t>•  Terminal precision (82% of failures)</a:t>
            </a:r>
          </a:p>
          <a:p>
            <a:pPr algn="l"/>
            <a:r>
              <a:rPr sz="1350" b="0" i="0">
                <a:solidFill>
                  <a:srgbClr val="FFFFFF"/>
                </a:solidFill>
                <a:latin typeface="Times New Roman"/>
              </a:rPr>
              <a:t>•  Match discrete on smoothness</a:t>
            </a:r>
          </a:p>
          <a:p>
            <a:pPr algn="l"/>
            <a:r>
              <a:rPr sz="1350" b="0" i="0">
                <a:solidFill>
                  <a:srgbClr val="FFFFFF"/>
                </a:solidFill>
                <a:latin typeface="Times New Roman"/>
              </a:rPr>
              <a:t>•  Rescue weak seeds toward 90+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737360"/>
            <a:ext cx="3566160" cy="4023360"/>
          </a:xfrm>
          <a:prstGeom prst="roundRect">
            <a:avLst/>
          </a:prstGeom>
          <a:solidFill>
            <a:srgbClr val="18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6596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CADCFC"/>
                </a:solidFill>
                <a:latin typeface="Times New Roman"/>
              </a:rPr>
              <a:t>Ahead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51760"/>
            <a:ext cx="310896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Times New Roman"/>
              </a:rPr>
              <a:t>•  Four-arm headline comparison</a:t>
            </a:r>
          </a:p>
          <a:p>
            <a:pPr algn="l"/>
            <a:r>
              <a:rPr sz="1350" b="0" i="0">
                <a:solidFill>
                  <a:srgbClr val="FFFFFF"/>
                </a:solidFill>
                <a:latin typeface="Times New Roman"/>
              </a:rPr>
              <a:t>•  Phase 4 "provably" switch</a:t>
            </a:r>
          </a:p>
          <a:p>
            <a:pPr algn="l"/>
            <a:r>
              <a:rPr sz="1350" b="0" i="0">
                <a:solidFill>
                  <a:srgbClr val="FFFFFF"/>
                </a:solidFill>
                <a:latin typeface="Times New Roman"/>
              </a:rPr>
              <a:t>•  Multi-seed statistics + 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E08A1E"/>
                </a:solidFill>
                <a:latin typeface="Times New Roman"/>
              </a:rPr>
              <a:t>Contribution anchored in the shield  ·  arrival rate is the hard metric we push  ·  no dressing up the numbers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